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7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0:00–0:20 (20 seconds)</a:t>
            </a:r>
          </a:p>
          <a:p>
            <a:endParaRPr/>
          </a:p>
          <a:p>
            <a:r>
              <a:t>Good morning. Our project is DevMatch AI, a developer portfolio and hiring platform. It brings developer profiles, job requirements and application decisions into one relational MySQL database. I will explain the workflows, ER model, relational schema, normalization and SQL demonstrations, then show how database changes appear in the website.</a:t>
            </a:r>
          </a:p>
          <a:p>
            <a:endParaRPr/>
          </a:p>
          <a:p>
            <a:r>
              <a:t>Sources: D:/DBMS_DevApp/DevMatch_AI_DBMS_Mini_Project/devmatch-ai/app.py, mysql_demo.sql, README.md, DBMS_PROJECT_DOCUMENTATION.md.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0:20–1:00 (40 seconds)</a:t>
            </a:r>
          </a:p>
          <a:p>
            <a:endParaRPr/>
          </a:p>
          <a:p>
            <a:r>
              <a:t>The problem is that hiring information is spread across resumes, portfolios and job listings. Recruiters need a consistent way to compare a candidate's skills with a vacancy. Developers need one place to maintain their evidence and track applications. Our solution connects these records using keys and relationships. The database is central because the same developer can have multiple skills, projects and applications, while each recruiter can post multiple jobs. Keeping these facts related makes updates and searches easier to explain and verify.</a:t>
            </a:r>
          </a:p>
          <a:p>
            <a:endParaRPr/>
          </a:p>
          <a:p>
            <a:r>
              <a:t>Sources: D:/DBMS_DevApp/DevMatch_AI_DBMS_Mini_Project/devmatch-ai/app.py, mysql_demo.sql, README.md, DBMS_PROJECT_DOCUMENTATION.md.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1:00–1:40 (40 seconds)</a:t>
            </a:r>
          </a:p>
          <a:p>
            <a:endParaRPr/>
          </a:p>
          <a:p>
            <a:r>
              <a:t>The system has two main roles. A developer maintains a profile, adds skills and projects, uploads a PDF resume, searches jobs and applies. A recruiter maintains company information, posts vacancies, reviews candidate evidence and changes application status. We prevent repeat applications to the same job. The database objective is to demonstrate real CRUD operations, relational joins and integrity constraints. Resume analysis supports the workflow, while the recruiter still reviews the evidence before making a final decision.</a:t>
            </a:r>
          </a:p>
          <a:p>
            <a:endParaRPr/>
          </a:p>
          <a:p>
            <a:r>
              <a:t>Sources: D:/DBMS_DevApp/DevMatch_AI_DBMS_Mini_Project/devmatch-ai/app.py, mysql_demo.sql, README.md, DBMS_PROJECT_DOCUMENTATION.md.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1:40–2:20 (40 seconds)</a:t>
            </a:r>
          </a:p>
          <a:p>
            <a:endParaRPr/>
          </a:p>
          <a:p>
            <a:r>
              <a:t>The user interacts through a browser. HTML, CSS and JavaScript form the interface, and Flask handles routes, sessions and validation. SQLAlchemy models map Python objects to MySQL tables, with PyMySQL as the connection driver. All application records live in MySQL. PyMuPDF extracts text from resume PDFs. Gemini analysis is optional and local skill extraction provides a fallback. Supabase, when configured, stores private PDF files only. Its PostgreSQL database does not hold this project's application tables.</a:t>
            </a:r>
          </a:p>
          <a:p>
            <a:endParaRPr/>
          </a:p>
          <a:p>
            <a:r>
              <a:t>Sources: D:/DBMS_DevApp/DevMatch_AI_DBMS_Mini_Project/devmatch-ai/app.py, mysql_demo.sql, README.md, DBMS_PROJECT_DOCUMENTATION.md.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2:20–3:40 (80 seconds)</a:t>
            </a:r>
          </a:p>
          <a:p>
            <a:endParaRPr/>
          </a:p>
          <a:p>
            <a:r>
              <a:t>This is the ER model. Users are the account entity. A user can have an optional developer profile or recruiter profile. The profile's unique user foreign key gives an optional one-to-one relationship. A developer has many skills, projects, resume analyses and applications. Each project has multiple technology records. A recruiter posts multiple jobs, and a job has multiple required-skill rows. The key relationship is developers and jobs: many developers can apply to many jobs. We resolve that many-to-many relationship through the Application entity. Each application belongs to exactly one developer and one job. Status history adds multiple audit records for an application. This audit entity is installed by the SQL demonstration script, while the ten core entities come from the application models. Read the diagram's remaining parent-child links as one to zero or many.</a:t>
            </a:r>
          </a:p>
          <a:p>
            <a:endParaRPr/>
          </a:p>
          <a:p>
            <a:r>
              <a:t>Sources: D:/DBMS_DevApp/DevMatch_AI_DBMS_Mini_Project/devmatch-ai/app.py, mysql_demo.sql, README.md, DBMS_PROJECT_DOCUMENTATION.md.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3:40–4:35 (55 seconds)</a:t>
            </a:r>
          </a:p>
          <a:p>
            <a:endParaRPr/>
          </a:p>
          <a:p>
            <a:r>
              <a:t>This slide maps account and portfolio entities into relations. Every table uses an integer id as its primary key. Users stores identity, a unique email and a password hash. Developer profiles stores profile-specific details and references users through a unique user_id. Recruiter profiles does the same for company information. Skills references a developer and stores the skill name, level and years. Projects references its developer and stores project evidence. Project technologies references its project. Unique parent-and-name pairs prevent repeated skill or technology records within the same parent. PK identifies a row, FK points to another relation, and UK indicates uniqueness.</a:t>
            </a:r>
          </a:p>
          <a:p>
            <a:endParaRPr/>
          </a:p>
          <a:p>
            <a:r>
              <a:t>Sources: D:/DBMS_DevApp/DevMatch_AI_DBMS_Mini_Project/devmatch-ai/app.py, mysql_demo.sql, README.md, DBMS_PROJECT_DOCUMENTATION.md.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11:30–12:30 (60 seconds)</a:t>
            </a:r>
          </a:p>
          <a:p>
            <a:endParaRPr/>
          </a:p>
          <a:p>
            <a:r>
              <a:t>The ATS calculation is deterministic skill matching. The application normalizes skill names with casefold and compares job requirements against the union of profile skills and skills extracted from the latest resume analysis. The percentage is the number of matched required names divided by the total required names, multiplied by 100. Matching two of Python, Flask and MySQL gives 66.7 percent, displayed as 67 percent. The initial status is Rejected because the exact ratio is at or below 70 percent. Above 70 percent gives Shortlisted. Exactly 70 percent does not pass. With no requirements, the score is zero and the application is rejected. The stored importance and minimum_years fields do not weight this score. Recruiters can review evidence and override the initial decision.</a:t>
            </a:r>
          </a:p>
          <a:p>
            <a:endParaRPr/>
          </a:p>
          <a:p>
            <a:r>
              <a:t>Sources: D:/DBMS_DevApp/DevMatch_AI_DBMS_Mini_Project/devmatch-ai/app.py, mysql_demo.sql, README.md, DBMS_PROJECT_DOCUMENTATION.md.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9955A33-9D76-4AA7-B8BB-2EFA3427E57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DC974510-04D4-4B9F-BADD-C6B59F6B28F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A34820C-25AD-4F5F-9FAE-D9C79E47B75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7309E53-DE21-4594-AA1D-4C61F3BAC6E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0B2DBA26-D6D6-4782-9952-54D538AEFFB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FC749B6-4267-4492-8E6E-0E0700298C5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133C233-7034-4573-86DB-E18E15FDA40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B64CCA96-3BBF-4286-A34A-7F6A507AB36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B486102-9EC6-4A48-8A6B-BAB47152506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C8E9945-BD98-48F3-98B8-496D8771196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13A"/>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CEB1FA-62FC-4AE6-B7A0-41314D284EED}"/>
              </a:ext>
            </a:extLst>
          </p:cNvPr>
          <p:cNvSpPr>
            <a:spLocks noGrp="1"/>
          </p:cNvSpPr>
          <p:nvPr/>
        </p:nvSpPr>
        <p:spPr>
          <a:xfrm>
            <a:off x="609600" y="304800"/>
            <a:ext cx="10477500" cy="238125"/>
          </a:xfrm>
          <a:prstGeom prst="rect">
            <a:avLst/>
          </a:prstGeom>
          <a:noFill/>
          <a:ln w="0">
            <a:noFill/>
          </a:ln>
        </p:spPr>
        <p:txBody>
          <a:bodyPr lIns="0" tIns="0" rIns="0" bIns="0" anchor="t">
            <a:noAutofit/>
          </a:bodyPr>
          <a:lstStyle>
            <a:defPPr>
              <a:defRPr sz="1200" b="1">
                <a:solidFill>
                  <a:srgbClr val="C8F36A"/>
                </a:solidFill>
                <a:latin typeface="Arial"/>
                <a:ea typeface="Arial"/>
                <a:cs typeface="Arial"/>
              </a:defRPr>
            </a:defPPr>
          </a:lstStyle>
          <a:p>
            <a:pPr>
              <a:defRPr sz="1200" b="1">
                <a:solidFill>
                  <a:srgbClr val="C8F36A"/>
                </a:solidFill>
                <a:latin typeface="Arial"/>
                <a:ea typeface="Arial"/>
                <a:cs typeface="Arial"/>
              </a:defRPr>
            </a:pPr>
            <a:r>
              <a:rPr sz="1200" b="1">
                <a:solidFill>
                  <a:srgbClr val="C8F36A"/>
                </a:solidFill>
                <a:latin typeface="Arial"/>
                <a:ea typeface="Arial"/>
                <a:cs typeface="Arial"/>
              </a:rPr>
              <a:t>DBMS MINI PROJECT</a:t>
            </a:r>
          </a:p>
        </p:txBody>
      </p:sp>
      <p:sp>
        <p:nvSpPr>
          <p:cNvPr id="2" name="Rectangle 1">
            <a:extLst>
              <a:ext uri="{FF2B5EF4-FFF2-40B4-BE49-F238E27FC236}">
                <a16:creationId xmlns:a16="http://schemas.microsoft.com/office/drawing/2014/main" id="{10307A6D-89F4-4EB2-8FAD-A2F1BBB05153}"/>
              </a:ext>
            </a:extLst>
          </p:cNvPr>
          <p:cNvSpPr>
            <a:spLocks noGrp="1"/>
          </p:cNvSpPr>
          <p:nvPr/>
        </p:nvSpPr>
        <p:spPr>
          <a:xfrm>
            <a:off x="609600" y="742950"/>
            <a:ext cx="10972800" cy="762000"/>
          </a:xfrm>
          <a:prstGeom prst="rect">
            <a:avLst/>
          </a:prstGeom>
          <a:noFill/>
          <a:ln w="0">
            <a:noFill/>
          </a:ln>
        </p:spPr>
        <p:txBody>
          <a:bodyPr lIns="0" tIns="0" rIns="0" bIns="0" anchor="t">
            <a:noAutofit/>
          </a:bodyPr>
          <a:lstStyle>
            <a:defPPr>
              <a:defRPr sz="3150" b="1">
                <a:solidFill>
                  <a:srgbClr val="FFFFFF"/>
                </a:solidFill>
                <a:latin typeface="Arial"/>
                <a:ea typeface="Arial"/>
                <a:cs typeface="Arial"/>
              </a:defRPr>
            </a:defPPr>
          </a:lstStyle>
          <a:p>
            <a:pPr>
              <a:defRPr sz="3150" b="1">
                <a:solidFill>
                  <a:srgbClr val="FFFFFF"/>
                </a:solidFill>
                <a:latin typeface="Arial"/>
                <a:ea typeface="Arial"/>
                <a:cs typeface="Arial"/>
              </a:defRPr>
            </a:pPr>
            <a:r>
              <a:rPr sz="3150" b="1">
                <a:solidFill>
                  <a:srgbClr val="FFFFFF"/>
                </a:solidFill>
                <a:latin typeface="Arial"/>
                <a:ea typeface="Arial"/>
                <a:cs typeface="Arial"/>
              </a:rPr>
              <a:t>DevMatch AI</a:t>
            </a:r>
          </a:p>
        </p:txBody>
      </p:sp>
      <p:sp>
        <p:nvSpPr>
          <p:cNvPr id="3" name="Rectangle 2">
            <a:extLst>
              <a:ext uri="{FF2B5EF4-FFF2-40B4-BE49-F238E27FC236}">
                <a16:creationId xmlns:a16="http://schemas.microsoft.com/office/drawing/2014/main" id="{C68AED30-17E9-4E4A-A4DA-A616DFF2E7C7}"/>
              </a:ext>
            </a:extLst>
          </p:cNvPr>
          <p:cNvSpPr>
            <a:spLocks noGrp="1"/>
          </p:cNvSpPr>
          <p:nvPr/>
        </p:nvSpPr>
        <p:spPr>
          <a:xfrm>
            <a:off x="609600" y="6486525"/>
            <a:ext cx="5715000" cy="228600"/>
          </a:xfrm>
          <a:prstGeom prst="rect">
            <a:avLst/>
          </a:prstGeom>
          <a:noFill/>
          <a:ln w="0">
            <a:noFill/>
          </a:ln>
        </p:spPr>
        <p:txBody>
          <a:bodyPr lIns="0" tIns="0" rIns="0" bIns="0" anchor="t">
            <a:noAutofit/>
          </a:bodyPr>
          <a:lstStyle>
            <a:defPPr>
              <a:defRPr sz="1050" b="0">
                <a:solidFill>
                  <a:srgbClr val="A9BDD6"/>
                </a:solidFill>
                <a:latin typeface="Arial"/>
                <a:ea typeface="Arial"/>
                <a:cs typeface="Arial"/>
              </a:defRPr>
            </a:defPPr>
          </a:lstStyle>
          <a:p>
            <a:pPr>
              <a:defRPr sz="1050" b="0">
                <a:solidFill>
                  <a:srgbClr val="A9BDD6"/>
                </a:solidFill>
                <a:latin typeface="Arial"/>
                <a:ea typeface="Arial"/>
                <a:cs typeface="Arial"/>
              </a:defRPr>
            </a:pPr>
            <a:r>
              <a:rPr sz="1050" b="0">
                <a:solidFill>
                  <a:srgbClr val="A9BDD6"/>
                </a:solidFill>
                <a:latin typeface="Arial"/>
                <a:ea typeface="Arial"/>
                <a:cs typeface="Arial"/>
              </a:rPr>
              <a:t>DevMatch AI</a:t>
            </a:r>
          </a:p>
        </p:txBody>
      </p:sp>
      <p:sp>
        <p:nvSpPr>
          <p:cNvPr id="4" name="Rectangle 3">
            <a:extLst>
              <a:ext uri="{FF2B5EF4-FFF2-40B4-BE49-F238E27FC236}">
                <a16:creationId xmlns:a16="http://schemas.microsoft.com/office/drawing/2014/main" id="{E4C734EC-B6E8-4169-866F-33B1E7045E65}"/>
              </a:ext>
            </a:extLst>
          </p:cNvPr>
          <p:cNvSpPr>
            <a:spLocks noGrp="1"/>
          </p:cNvSpPr>
          <p:nvPr/>
        </p:nvSpPr>
        <p:spPr>
          <a:xfrm>
            <a:off x="10953750" y="6457950"/>
            <a:ext cx="628650" cy="247650"/>
          </a:xfrm>
          <a:prstGeom prst="rect">
            <a:avLst/>
          </a:prstGeom>
          <a:noFill/>
          <a:ln w="0">
            <a:noFill/>
          </a:ln>
        </p:spPr>
        <p:txBody>
          <a:bodyPr lIns="0" tIns="0" rIns="0" bIns="0" anchor="t">
            <a:noAutofit/>
          </a:bodyPr>
          <a:lstStyle>
            <a:defPPr>
              <a:defRPr sz="1200" b="0">
                <a:solidFill>
                  <a:srgbClr val="C8F36A"/>
                </a:solidFill>
                <a:latin typeface="Arial"/>
                <a:ea typeface="Arial"/>
                <a:cs typeface="Arial"/>
              </a:defRPr>
            </a:defPPr>
          </a:lstStyle>
          <a:p>
            <a:pPr>
              <a:defRPr sz="1200" b="0">
                <a:solidFill>
                  <a:srgbClr val="C8F36A"/>
                </a:solidFill>
                <a:latin typeface="Arial"/>
                <a:ea typeface="Arial"/>
                <a:cs typeface="Arial"/>
              </a:defRPr>
            </a:pPr>
            <a:r>
              <a:rPr sz="1200" b="0">
                <a:solidFill>
                  <a:srgbClr val="C8F36A"/>
                </a:solidFill>
                <a:latin typeface="Arial"/>
                <a:ea typeface="Arial"/>
                <a:cs typeface="Arial"/>
              </a:rPr>
              <a:t>01</a:t>
            </a:r>
          </a:p>
        </p:txBody>
      </p:sp>
      <p:sp>
        <p:nvSpPr>
          <p:cNvPr id="5" name="Rectangle 4">
            <a:extLst>
              <a:ext uri="{FF2B5EF4-FFF2-40B4-BE49-F238E27FC236}">
                <a16:creationId xmlns:a16="http://schemas.microsoft.com/office/drawing/2014/main" id="{81692622-C37E-42C3-B205-EF8DC5198780}"/>
              </a:ext>
            </a:extLst>
          </p:cNvPr>
          <p:cNvSpPr>
            <a:spLocks noGrp="1"/>
          </p:cNvSpPr>
          <p:nvPr/>
        </p:nvSpPr>
        <p:spPr>
          <a:xfrm>
            <a:off x="609600" y="2238375"/>
            <a:ext cx="10477500" cy="1143000"/>
          </a:xfrm>
          <a:prstGeom prst="rect">
            <a:avLst/>
          </a:prstGeom>
          <a:noFill/>
          <a:ln w="0">
            <a:noFill/>
          </a:ln>
        </p:spPr>
        <p:txBody>
          <a:bodyPr lIns="0" tIns="0" rIns="0" bIns="0" anchor="t">
            <a:noAutofit/>
          </a:bodyPr>
          <a:lstStyle>
            <a:defPPr>
              <a:defRPr sz="3450" b="0">
                <a:solidFill>
                  <a:srgbClr val="FFFFFF"/>
                </a:solidFill>
                <a:latin typeface="Arial"/>
                <a:ea typeface="Arial"/>
                <a:cs typeface="Arial"/>
              </a:defRPr>
            </a:defPPr>
          </a:lstStyle>
          <a:p>
            <a:pPr>
              <a:defRPr sz="3450" b="0">
                <a:solidFill>
                  <a:srgbClr val="FFFFFF"/>
                </a:solidFill>
                <a:latin typeface="Arial"/>
                <a:ea typeface="Arial"/>
                <a:cs typeface="Arial"/>
              </a:defRPr>
            </a:pPr>
            <a:r>
              <a:rPr sz="3450" b="0">
                <a:solidFill>
                  <a:srgbClr val="FFFFFF"/>
                </a:solidFill>
                <a:latin typeface="Arial"/>
                <a:ea typeface="Arial"/>
                <a:cs typeface="Arial"/>
              </a:rPr>
              <a:t>Developer Portfolio &amp; Hiring Platform</a:t>
            </a:r>
          </a:p>
        </p:txBody>
      </p:sp>
      <p:sp>
        <p:nvSpPr>
          <p:cNvPr id="6" name="Rectangle 5">
            <a:extLst>
              <a:ext uri="{FF2B5EF4-FFF2-40B4-BE49-F238E27FC236}">
                <a16:creationId xmlns:a16="http://schemas.microsoft.com/office/drawing/2014/main" id="{FE1886F4-902E-44AF-A4A0-2251B940A2E3}"/>
              </a:ext>
            </a:extLst>
          </p:cNvPr>
          <p:cNvSpPr>
            <a:spLocks noGrp="1"/>
          </p:cNvSpPr>
          <p:nvPr/>
        </p:nvSpPr>
        <p:spPr>
          <a:xfrm>
            <a:off x="609600" y="3905250"/>
            <a:ext cx="10477500" cy="762000"/>
          </a:xfrm>
          <a:prstGeom prst="rect">
            <a:avLst/>
          </a:prstGeom>
          <a:noFill/>
          <a:ln w="0">
            <a:noFill/>
          </a:ln>
        </p:spPr>
        <p:txBody>
          <a:bodyPr lIns="0" tIns="0" rIns="0" bIns="0" anchor="t">
            <a:noAutofit/>
          </a:bodyPr>
          <a:lstStyle>
            <a:defPPr>
              <a:defRPr sz="2250" b="0">
                <a:solidFill>
                  <a:srgbClr val="A9BDD6"/>
                </a:solidFill>
                <a:latin typeface="Arial"/>
                <a:ea typeface="Arial"/>
                <a:cs typeface="Arial"/>
              </a:defRPr>
            </a:defPPr>
          </a:lstStyle>
          <a:p>
            <a:pPr>
              <a:defRPr sz="2250" b="0">
                <a:solidFill>
                  <a:srgbClr val="A9BDD6"/>
                </a:solidFill>
                <a:latin typeface="Arial"/>
                <a:ea typeface="Arial"/>
                <a:cs typeface="Arial"/>
              </a:defRPr>
            </a:pPr>
            <a:r>
              <a:rPr sz="2250" b="0">
                <a:solidFill>
                  <a:srgbClr val="A9BDD6"/>
                </a:solidFill>
                <a:latin typeface="Arial"/>
                <a:ea typeface="Arial"/>
                <a:cs typeface="Arial"/>
              </a:rPr>
              <a:t>A relational database project using Flask and MySQL</a:t>
            </a:r>
          </a:p>
        </p:txBody>
      </p:sp>
    </p:spTree>
    <p:extLst>
      <p:ext uri="{BB962C8B-B14F-4D97-AF65-F5344CB8AC3E}">
        <p14:creationId xmlns:p14="http://schemas.microsoft.com/office/powerpoint/2010/main" val="1921027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E05579-F6AC-4DDC-B4D8-EC5E7CAE88A0}"/>
              </a:ext>
            </a:extLst>
          </p:cNvPr>
          <p:cNvSpPr>
            <a:spLocks noGrp="1"/>
          </p:cNvSpPr>
          <p:nvPr/>
        </p:nvSpPr>
        <p:spPr>
          <a:xfrm>
            <a:off x="609600" y="742950"/>
            <a:ext cx="10972800" cy="762000"/>
          </a:xfrm>
          <a:prstGeom prst="rect">
            <a:avLst/>
          </a:prstGeom>
          <a:noFill/>
          <a:ln w="0">
            <a:noFill/>
          </a:ln>
        </p:spPr>
        <p:txBody>
          <a:bodyPr lIns="0" tIns="0" rIns="0" bIns="0" anchor="t">
            <a:noAutofit/>
          </a:bodyPr>
          <a:lstStyle>
            <a:defPPr>
              <a:defRPr sz="3150" b="1">
                <a:solidFill>
                  <a:srgbClr val="15283F"/>
                </a:solidFill>
                <a:latin typeface="Arial"/>
                <a:ea typeface="Arial"/>
                <a:cs typeface="Arial"/>
              </a:defRPr>
            </a:defPPr>
          </a:lstStyle>
          <a:p>
            <a:pPr>
              <a:defRPr sz="3150" b="1">
                <a:solidFill>
                  <a:srgbClr val="15283F"/>
                </a:solidFill>
                <a:latin typeface="Arial"/>
                <a:ea typeface="Arial"/>
                <a:cs typeface="Arial"/>
              </a:defRPr>
            </a:pPr>
            <a:r>
              <a:rPr sz="3150" b="1">
                <a:solidFill>
                  <a:srgbClr val="15283F"/>
                </a:solidFill>
                <a:latin typeface="Arial"/>
                <a:ea typeface="Arial"/>
                <a:cs typeface="Arial"/>
              </a:rPr>
              <a:t>Problem statement</a:t>
            </a:r>
          </a:p>
        </p:txBody>
      </p:sp>
      <p:sp>
        <p:nvSpPr>
          <p:cNvPr id="3" name="Rectangle 2">
            <a:extLst>
              <a:ext uri="{FF2B5EF4-FFF2-40B4-BE49-F238E27FC236}">
                <a16:creationId xmlns:a16="http://schemas.microsoft.com/office/drawing/2014/main" id="{30AFAEDA-B57C-488A-9C02-60DA5A9D8474}"/>
              </a:ext>
            </a:extLst>
          </p:cNvPr>
          <p:cNvSpPr>
            <a:spLocks noGrp="1"/>
          </p:cNvSpPr>
          <p:nvPr/>
        </p:nvSpPr>
        <p:spPr>
          <a:xfrm>
            <a:off x="609600" y="6486525"/>
            <a:ext cx="5715000" cy="228600"/>
          </a:xfrm>
          <a:prstGeom prst="rect">
            <a:avLst/>
          </a:prstGeom>
          <a:noFill/>
          <a:ln w="0">
            <a:noFill/>
          </a:ln>
        </p:spPr>
        <p:txBody>
          <a:bodyPr lIns="0" tIns="0" rIns="0" bIns="0" anchor="t">
            <a:noAutofit/>
          </a:bodyPr>
          <a:lstStyle>
            <a:defPPr>
              <a:defRPr sz="1050" b="0">
                <a:solidFill>
                  <a:srgbClr val="576980"/>
                </a:solidFill>
                <a:latin typeface="Arial"/>
                <a:ea typeface="Arial"/>
                <a:cs typeface="Arial"/>
              </a:defRPr>
            </a:defPPr>
          </a:lstStyle>
          <a:p>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Rectangle 3">
            <a:extLst>
              <a:ext uri="{FF2B5EF4-FFF2-40B4-BE49-F238E27FC236}">
                <a16:creationId xmlns:a16="http://schemas.microsoft.com/office/drawing/2014/main" id="{301A2005-65FE-4910-BE13-32C9781946D4}"/>
              </a:ext>
            </a:extLst>
          </p:cNvPr>
          <p:cNvSpPr>
            <a:spLocks noGrp="1"/>
          </p:cNvSpPr>
          <p:nvPr/>
        </p:nvSpPr>
        <p:spPr>
          <a:xfrm>
            <a:off x="10953750" y="6457950"/>
            <a:ext cx="628650" cy="247650"/>
          </a:xfrm>
          <a:prstGeom prst="rect">
            <a:avLst/>
          </a:prstGeom>
          <a:noFill/>
          <a:ln w="0">
            <a:noFill/>
          </a:ln>
        </p:spPr>
        <p:txBody>
          <a:bodyPr lIns="0" tIns="0" rIns="0" bIns="0" anchor="t">
            <a:noAutofit/>
          </a:bodyPr>
          <a:lstStyle>
            <a:defPPr>
              <a:defRPr sz="1200" b="0">
                <a:solidFill>
                  <a:srgbClr val="576980"/>
                </a:solidFill>
                <a:latin typeface="Arial"/>
                <a:ea typeface="Arial"/>
                <a:cs typeface="Arial"/>
              </a:defRPr>
            </a:defPPr>
          </a:lstStyle>
          <a:p>
            <a:pPr>
              <a:defRPr sz="1200" b="0">
                <a:solidFill>
                  <a:srgbClr val="576980"/>
                </a:solidFill>
                <a:latin typeface="Arial"/>
                <a:ea typeface="Arial"/>
                <a:cs typeface="Arial"/>
              </a:defRPr>
            </a:pPr>
            <a:r>
              <a:rPr sz="1200" b="0">
                <a:solidFill>
                  <a:srgbClr val="576980"/>
                </a:solidFill>
                <a:latin typeface="Arial"/>
                <a:ea typeface="Arial"/>
                <a:cs typeface="Arial"/>
              </a:rPr>
              <a:t>02</a:t>
            </a:r>
          </a:p>
        </p:txBody>
      </p:sp>
      <p:sp>
        <p:nvSpPr>
          <p:cNvPr id="5" name="Rectangle 4">
            <a:extLst>
              <a:ext uri="{FF2B5EF4-FFF2-40B4-BE49-F238E27FC236}">
                <a16:creationId xmlns:a16="http://schemas.microsoft.com/office/drawing/2014/main" id="{6DB44BC7-67A0-44F4-B1CA-701D923772FE}"/>
              </a:ext>
            </a:extLst>
          </p:cNvPr>
          <p:cNvSpPr>
            <a:spLocks noGrp="1"/>
          </p:cNvSpPr>
          <p:nvPr/>
        </p:nvSpPr>
        <p:spPr>
          <a:xfrm>
            <a:off x="609600" y="1752600"/>
            <a:ext cx="10001250" cy="381000"/>
          </a:xfrm>
          <a:prstGeom prst="rect">
            <a:avLst/>
          </a:prstGeom>
          <a:noFill/>
          <a:ln w="0">
            <a:noFill/>
          </a:ln>
        </p:spPr>
        <p:txBody>
          <a:bodyPr lIns="0" tIns="0" rIns="0" bIns="0" anchor="t">
            <a:noAutofit/>
          </a:bodyPr>
          <a:lstStyle>
            <a:defPPr>
              <a:defRPr sz="2100" b="1">
                <a:solidFill>
                  <a:srgbClr val="315BDF"/>
                </a:solidFill>
                <a:latin typeface="Arial"/>
                <a:ea typeface="Arial"/>
                <a:cs typeface="Arial"/>
              </a:defRPr>
            </a:defPPr>
          </a:lstStyle>
          <a:p>
            <a:pPr>
              <a:defRPr sz="2100" b="1">
                <a:solidFill>
                  <a:srgbClr val="315BDF"/>
                </a:solidFill>
                <a:latin typeface="Arial"/>
                <a:ea typeface="Arial"/>
                <a:cs typeface="Arial"/>
              </a:defRPr>
            </a:pPr>
            <a:r>
              <a:rPr sz="2100" b="1">
                <a:solidFill>
                  <a:srgbClr val="315BDF"/>
                </a:solidFill>
                <a:latin typeface="Arial"/>
                <a:ea typeface="Arial"/>
                <a:cs typeface="Arial"/>
              </a:rPr>
              <a:t>Hiring information is scattered</a:t>
            </a:r>
          </a:p>
        </p:txBody>
      </p:sp>
      <p:sp>
        <p:nvSpPr>
          <p:cNvPr id="6" name="Rectangle 5">
            <a:extLst>
              <a:ext uri="{FF2B5EF4-FFF2-40B4-BE49-F238E27FC236}">
                <a16:creationId xmlns:a16="http://schemas.microsoft.com/office/drawing/2014/main" id="{CD57E931-9F94-4613-A9B7-52B18B604CF4}"/>
              </a:ext>
            </a:extLst>
          </p:cNvPr>
          <p:cNvSpPr>
            <a:spLocks noGrp="1"/>
          </p:cNvSpPr>
          <p:nvPr/>
        </p:nvSpPr>
        <p:spPr>
          <a:xfrm>
            <a:off x="609600" y="2209800"/>
            <a:ext cx="10001250" cy="857250"/>
          </a:xfrm>
          <a:prstGeom prst="rect">
            <a:avLst/>
          </a:prstGeom>
          <a:noFill/>
          <a:ln w="0">
            <a:noFill/>
          </a:ln>
        </p:spPr>
        <p:txBody>
          <a:bodyPr lIns="0" tIns="0" rIns="0" bIns="0" anchor="t">
            <a:noAutofit/>
          </a:bodyPr>
          <a:lstStyle>
            <a:defPPr>
              <a:defRPr sz="1950" b="0">
                <a:solidFill>
                  <a:srgbClr val="15283F"/>
                </a:solidFill>
                <a:latin typeface="Arial"/>
                <a:ea typeface="Arial"/>
                <a:cs typeface="Arial"/>
              </a:defRPr>
            </a:defPPr>
          </a:lstStyle>
          <a:p>
            <a:pPr>
              <a:defRPr sz="1950" b="0">
                <a:solidFill>
                  <a:srgbClr val="15283F"/>
                </a:solidFill>
                <a:latin typeface="Arial"/>
                <a:ea typeface="Arial"/>
                <a:cs typeface="Arial"/>
              </a:defRPr>
            </a:pPr>
            <a:r>
              <a:rPr sz="1950" b="0">
                <a:solidFill>
                  <a:srgbClr val="15283F"/>
                </a:solidFill>
                <a:latin typeface="Arial"/>
                <a:ea typeface="Arial"/>
                <a:cs typeface="Arial"/>
              </a:rPr>
              <a:t>Profiles, portfolios, resumes and job requirements often exist in separate places.</a:t>
            </a:r>
          </a:p>
        </p:txBody>
      </p:sp>
      <p:sp>
        <p:nvSpPr>
          <p:cNvPr id="7" name="Rectangle 6">
            <a:extLst>
              <a:ext uri="{FF2B5EF4-FFF2-40B4-BE49-F238E27FC236}">
                <a16:creationId xmlns:a16="http://schemas.microsoft.com/office/drawing/2014/main" id="{EE05C466-2274-4474-86AD-9FCD03537A21}"/>
              </a:ext>
            </a:extLst>
          </p:cNvPr>
          <p:cNvSpPr>
            <a:spLocks noGrp="1"/>
          </p:cNvSpPr>
          <p:nvPr/>
        </p:nvSpPr>
        <p:spPr>
          <a:xfrm>
            <a:off x="609600" y="3209925"/>
            <a:ext cx="10001250" cy="381000"/>
          </a:xfrm>
          <a:prstGeom prst="rect">
            <a:avLst/>
          </a:prstGeom>
          <a:noFill/>
          <a:ln w="0">
            <a:noFill/>
          </a:ln>
        </p:spPr>
        <p:txBody>
          <a:bodyPr lIns="0" tIns="0" rIns="0" bIns="0" anchor="t">
            <a:noAutofit/>
          </a:bodyPr>
          <a:lstStyle>
            <a:defPPr>
              <a:defRPr sz="2100" b="1">
                <a:solidFill>
                  <a:srgbClr val="315BDF"/>
                </a:solidFill>
                <a:latin typeface="Arial"/>
                <a:ea typeface="Arial"/>
                <a:cs typeface="Arial"/>
              </a:defRPr>
            </a:defPPr>
          </a:lstStyle>
          <a:p>
            <a:pPr>
              <a:defRPr sz="2100" b="1">
                <a:solidFill>
                  <a:srgbClr val="315BDF"/>
                </a:solidFill>
                <a:latin typeface="Arial"/>
                <a:ea typeface="Arial"/>
                <a:cs typeface="Arial"/>
              </a:defRPr>
            </a:pPr>
            <a:r>
              <a:rPr sz="2100" b="1">
                <a:solidFill>
                  <a:srgbClr val="315BDF"/>
                </a:solidFill>
                <a:latin typeface="Arial"/>
                <a:ea typeface="Arial"/>
                <a:cs typeface="Arial"/>
              </a:rPr>
              <a:t>Unstructured skill lists make comparison difficult</a:t>
            </a:r>
          </a:p>
        </p:txBody>
      </p:sp>
      <p:sp>
        <p:nvSpPr>
          <p:cNvPr id="8" name="Rectangle 7">
            <a:extLst>
              <a:ext uri="{FF2B5EF4-FFF2-40B4-BE49-F238E27FC236}">
                <a16:creationId xmlns:a16="http://schemas.microsoft.com/office/drawing/2014/main" id="{9E084E16-3A3C-4D51-A4DD-5CE507E049AE}"/>
              </a:ext>
            </a:extLst>
          </p:cNvPr>
          <p:cNvSpPr>
            <a:spLocks noGrp="1"/>
          </p:cNvSpPr>
          <p:nvPr/>
        </p:nvSpPr>
        <p:spPr>
          <a:xfrm>
            <a:off x="609600" y="3667125"/>
            <a:ext cx="10001250" cy="857250"/>
          </a:xfrm>
          <a:prstGeom prst="rect">
            <a:avLst/>
          </a:prstGeom>
          <a:noFill/>
          <a:ln w="0">
            <a:noFill/>
          </a:ln>
        </p:spPr>
        <p:txBody>
          <a:bodyPr lIns="0" tIns="0" rIns="0" bIns="0" anchor="t">
            <a:noAutofit/>
          </a:bodyPr>
          <a:lstStyle>
            <a:defPPr>
              <a:defRPr sz="1950" b="0">
                <a:solidFill>
                  <a:srgbClr val="15283F"/>
                </a:solidFill>
                <a:latin typeface="Arial"/>
                <a:ea typeface="Arial"/>
                <a:cs typeface="Arial"/>
              </a:defRPr>
            </a:defPPr>
          </a:lstStyle>
          <a:p>
            <a:pPr>
              <a:defRPr sz="1950" b="0">
                <a:solidFill>
                  <a:srgbClr val="15283F"/>
                </a:solidFill>
                <a:latin typeface="Arial"/>
                <a:ea typeface="Arial"/>
                <a:cs typeface="Arial"/>
              </a:defRPr>
            </a:pPr>
            <a:r>
              <a:rPr sz="1950" b="0">
                <a:solidFill>
                  <a:srgbClr val="15283F"/>
                </a:solidFill>
                <a:latin typeface="Arial"/>
                <a:ea typeface="Arial"/>
                <a:cs typeface="Arial"/>
              </a:rPr>
              <a:t>Repeated details and comma-separated values complicate search and updates.</a:t>
            </a:r>
          </a:p>
        </p:txBody>
      </p:sp>
      <p:sp>
        <p:nvSpPr>
          <p:cNvPr id="9" name="Rectangle 8">
            <a:extLst>
              <a:ext uri="{FF2B5EF4-FFF2-40B4-BE49-F238E27FC236}">
                <a16:creationId xmlns:a16="http://schemas.microsoft.com/office/drawing/2014/main" id="{431FE94C-9815-4705-9A7B-BB145F6FD5AC}"/>
              </a:ext>
            </a:extLst>
          </p:cNvPr>
          <p:cNvSpPr>
            <a:spLocks noGrp="1"/>
          </p:cNvSpPr>
          <p:nvPr/>
        </p:nvSpPr>
        <p:spPr>
          <a:xfrm>
            <a:off x="609600" y="4667250"/>
            <a:ext cx="10001250" cy="381000"/>
          </a:xfrm>
          <a:prstGeom prst="rect">
            <a:avLst/>
          </a:prstGeom>
          <a:noFill/>
          <a:ln w="0">
            <a:noFill/>
          </a:ln>
        </p:spPr>
        <p:txBody>
          <a:bodyPr lIns="0" tIns="0" rIns="0" bIns="0" anchor="t">
            <a:noAutofit/>
          </a:bodyPr>
          <a:lstStyle>
            <a:defPPr>
              <a:defRPr sz="2100" b="1">
                <a:solidFill>
                  <a:srgbClr val="315BDF"/>
                </a:solidFill>
                <a:latin typeface="Arial"/>
                <a:ea typeface="Arial"/>
                <a:cs typeface="Arial"/>
              </a:defRPr>
            </a:defPPr>
          </a:lstStyle>
          <a:p>
            <a:pPr>
              <a:defRPr sz="2100" b="1">
                <a:solidFill>
                  <a:srgbClr val="315BDF"/>
                </a:solidFill>
                <a:latin typeface="Arial"/>
                <a:ea typeface="Arial"/>
                <a:cs typeface="Arial"/>
              </a:defRPr>
            </a:pPr>
            <a:r>
              <a:rPr sz="2100" b="1">
                <a:solidFill>
                  <a:srgbClr val="315BDF"/>
                </a:solidFill>
                <a:latin typeface="Arial"/>
                <a:ea typeface="Arial"/>
                <a:cs typeface="Arial"/>
              </a:rPr>
              <a:t>Proposed solution</a:t>
            </a:r>
          </a:p>
        </p:txBody>
      </p:sp>
      <p:sp>
        <p:nvSpPr>
          <p:cNvPr id="10" name="Rectangle 9">
            <a:extLst>
              <a:ext uri="{FF2B5EF4-FFF2-40B4-BE49-F238E27FC236}">
                <a16:creationId xmlns:a16="http://schemas.microsoft.com/office/drawing/2014/main" id="{0370611A-A518-40C7-B203-EE9EB632441A}"/>
              </a:ext>
            </a:extLst>
          </p:cNvPr>
          <p:cNvSpPr>
            <a:spLocks noGrp="1"/>
          </p:cNvSpPr>
          <p:nvPr/>
        </p:nvSpPr>
        <p:spPr>
          <a:xfrm>
            <a:off x="609600" y="5124450"/>
            <a:ext cx="10001250" cy="857250"/>
          </a:xfrm>
          <a:prstGeom prst="rect">
            <a:avLst/>
          </a:prstGeom>
          <a:noFill/>
          <a:ln w="0">
            <a:noFill/>
          </a:ln>
        </p:spPr>
        <p:txBody>
          <a:bodyPr lIns="0" tIns="0" rIns="0" bIns="0" anchor="t">
            <a:noAutofit/>
          </a:bodyPr>
          <a:lstStyle>
            <a:defPPr>
              <a:defRPr sz="1950" b="0">
                <a:solidFill>
                  <a:srgbClr val="15283F"/>
                </a:solidFill>
                <a:latin typeface="Arial"/>
                <a:ea typeface="Arial"/>
                <a:cs typeface="Arial"/>
              </a:defRPr>
            </a:defPPr>
          </a:lstStyle>
          <a:p>
            <a:pPr>
              <a:defRPr sz="1950" b="0">
                <a:solidFill>
                  <a:srgbClr val="15283F"/>
                </a:solidFill>
                <a:latin typeface="Arial"/>
                <a:ea typeface="Arial"/>
                <a:cs typeface="Arial"/>
              </a:defRPr>
            </a:pPr>
            <a:r>
              <a:rPr sz="1950" b="0">
                <a:solidFill>
                  <a:srgbClr val="15283F"/>
                </a:solidFill>
                <a:latin typeface="Arial"/>
                <a:ea typeface="Arial"/>
                <a:cs typeface="Arial"/>
              </a:rPr>
              <a:t>A web application that connects developer evidence, job requirements and application decisions through related MySQL tables.</a:t>
            </a:r>
          </a:p>
        </p:txBody>
      </p:sp>
    </p:spTree>
    <p:extLst>
      <p:ext uri="{BB962C8B-B14F-4D97-AF65-F5344CB8AC3E}">
        <p14:creationId xmlns:p14="http://schemas.microsoft.com/office/powerpoint/2010/main" val="184271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38365F-9774-4A05-847A-4C41EC933A6E}"/>
              </a:ext>
            </a:extLst>
          </p:cNvPr>
          <p:cNvSpPr>
            <a:spLocks noGrp="1"/>
          </p:cNvSpPr>
          <p:nvPr/>
        </p:nvSpPr>
        <p:spPr>
          <a:xfrm>
            <a:off x="609600" y="742950"/>
            <a:ext cx="10972800" cy="762000"/>
          </a:xfrm>
          <a:prstGeom prst="rect">
            <a:avLst/>
          </a:prstGeom>
          <a:noFill/>
          <a:ln w="0">
            <a:noFill/>
          </a:ln>
        </p:spPr>
        <p:txBody>
          <a:bodyPr lIns="0" tIns="0" rIns="0" bIns="0" anchor="t">
            <a:noAutofit/>
          </a:bodyPr>
          <a:lstStyle>
            <a:defPPr>
              <a:defRPr sz="3150" b="1">
                <a:solidFill>
                  <a:srgbClr val="15283F"/>
                </a:solidFill>
                <a:latin typeface="Arial"/>
                <a:ea typeface="Arial"/>
                <a:cs typeface="Arial"/>
              </a:defRPr>
            </a:defPPr>
          </a:lstStyle>
          <a:p>
            <a:pPr>
              <a:defRPr sz="3150" b="1">
                <a:solidFill>
                  <a:srgbClr val="15283F"/>
                </a:solidFill>
                <a:latin typeface="Arial"/>
                <a:ea typeface="Arial"/>
                <a:cs typeface="Arial"/>
              </a:defRPr>
            </a:pPr>
            <a:r>
              <a:rPr sz="3150" b="1">
                <a:solidFill>
                  <a:srgbClr val="15283F"/>
                </a:solidFill>
                <a:latin typeface="Arial"/>
                <a:ea typeface="Arial"/>
                <a:cs typeface="Arial"/>
              </a:rPr>
              <a:t>Objectives and application modules</a:t>
            </a:r>
          </a:p>
        </p:txBody>
      </p:sp>
      <p:sp>
        <p:nvSpPr>
          <p:cNvPr id="3" name="Rectangle 2">
            <a:extLst>
              <a:ext uri="{FF2B5EF4-FFF2-40B4-BE49-F238E27FC236}">
                <a16:creationId xmlns:a16="http://schemas.microsoft.com/office/drawing/2014/main" id="{490F6CFF-95EA-44B3-BD1B-FBC647C8B17C}"/>
              </a:ext>
            </a:extLst>
          </p:cNvPr>
          <p:cNvSpPr>
            <a:spLocks noGrp="1"/>
          </p:cNvSpPr>
          <p:nvPr/>
        </p:nvSpPr>
        <p:spPr>
          <a:xfrm>
            <a:off x="609600" y="6486525"/>
            <a:ext cx="5715000" cy="228600"/>
          </a:xfrm>
          <a:prstGeom prst="rect">
            <a:avLst/>
          </a:prstGeom>
          <a:noFill/>
          <a:ln w="0">
            <a:noFill/>
          </a:ln>
        </p:spPr>
        <p:txBody>
          <a:bodyPr lIns="0" tIns="0" rIns="0" bIns="0" anchor="t">
            <a:noAutofit/>
          </a:bodyPr>
          <a:lstStyle>
            <a:defPPr>
              <a:defRPr sz="1050" b="0">
                <a:solidFill>
                  <a:srgbClr val="576980"/>
                </a:solidFill>
                <a:latin typeface="Arial"/>
                <a:ea typeface="Arial"/>
                <a:cs typeface="Arial"/>
              </a:defRPr>
            </a:defPPr>
          </a:lstStyle>
          <a:p>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Rectangle 3">
            <a:extLst>
              <a:ext uri="{FF2B5EF4-FFF2-40B4-BE49-F238E27FC236}">
                <a16:creationId xmlns:a16="http://schemas.microsoft.com/office/drawing/2014/main" id="{E1964CE8-7B37-41BF-BB1F-841E3AFE4DA0}"/>
              </a:ext>
            </a:extLst>
          </p:cNvPr>
          <p:cNvSpPr>
            <a:spLocks noGrp="1"/>
          </p:cNvSpPr>
          <p:nvPr/>
        </p:nvSpPr>
        <p:spPr>
          <a:xfrm>
            <a:off x="10953750" y="6457950"/>
            <a:ext cx="628650" cy="247650"/>
          </a:xfrm>
          <a:prstGeom prst="rect">
            <a:avLst/>
          </a:prstGeom>
          <a:noFill/>
          <a:ln w="0">
            <a:noFill/>
          </a:ln>
        </p:spPr>
        <p:txBody>
          <a:bodyPr lIns="0" tIns="0" rIns="0" bIns="0" anchor="t">
            <a:noAutofit/>
          </a:bodyPr>
          <a:lstStyle>
            <a:defPPr>
              <a:defRPr sz="1200" b="0">
                <a:solidFill>
                  <a:srgbClr val="576980"/>
                </a:solidFill>
                <a:latin typeface="Arial"/>
                <a:ea typeface="Arial"/>
                <a:cs typeface="Arial"/>
              </a:defRPr>
            </a:defPPr>
          </a:lstStyle>
          <a:p>
            <a:pPr>
              <a:defRPr sz="1200" b="0">
                <a:solidFill>
                  <a:srgbClr val="576980"/>
                </a:solidFill>
                <a:latin typeface="Arial"/>
                <a:ea typeface="Arial"/>
                <a:cs typeface="Arial"/>
              </a:defRPr>
            </a:pPr>
            <a:r>
              <a:rPr sz="1200" b="0">
                <a:solidFill>
                  <a:srgbClr val="576980"/>
                </a:solidFill>
                <a:latin typeface="Arial"/>
                <a:ea typeface="Arial"/>
                <a:cs typeface="Arial"/>
              </a:rPr>
              <a:t>03</a:t>
            </a:r>
          </a:p>
        </p:txBody>
      </p:sp>
      <p:graphicFrame>
        <p:nvGraphicFramePr>
          <p:cNvPr id="5" name="Table 4">
            <a:extLst>
              <a:ext uri="{FF2B5EF4-FFF2-40B4-BE49-F238E27FC236}">
                <a16:creationId xmlns:a16="http://schemas.microsoft.com/office/drawing/2014/main" id="{1074530D-51FB-4E3B-B205-9BE9A63B0DDC}"/>
              </a:ext>
            </a:extLst>
          </p:cNvPr>
          <p:cNvGraphicFramePr/>
          <p:nvPr/>
        </p:nvGraphicFramePr>
        <p:xfrm>
          <a:off x="609600" y="1781175"/>
          <a:ext cx="10972800" cy="3429000"/>
        </p:xfrm>
        <a:graphic>
          <a:graphicData uri="http://schemas.openxmlformats.org/drawingml/2006/table">
            <a:tbl>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685800">
                <a:tc>
                  <a:txBody>
                    <a:bodyPr/>
                    <a:lstStyle/>
                    <a:p>
                      <a:r>
                        <a:rPr sz="1650" b="1">
                          <a:solidFill>
                            <a:srgbClr val="FFFFFF"/>
                          </a:solidFill>
                          <a:latin typeface="Arial"/>
                          <a:ea typeface="Arial"/>
                          <a:cs typeface="Arial"/>
                        </a:rPr>
                        <a:t>Developer</a:t>
                      </a:r>
                    </a:p>
                  </a:txBody>
                  <a:tcPr anchor="ctr">
                    <a:lnL w="9525">
                      <a:solidFill>
                        <a:srgbClr val="D5DDE8"/>
                      </a:solidFill>
                    </a:lnL>
                    <a:lnR w="9525">
                      <a:solidFill>
                        <a:srgbClr val="D5DDE8"/>
                      </a:solidFill>
                    </a:lnR>
                    <a:lnT w="9525">
                      <a:solidFill>
                        <a:srgbClr val="D5DDE8"/>
                      </a:solidFill>
                    </a:lnT>
                    <a:lnB w="9525">
                      <a:solidFill>
                        <a:srgbClr val="D5DDE8"/>
                      </a:solidFill>
                    </a:lnB>
                    <a:solidFill>
                      <a:srgbClr val="10213A"/>
                    </a:solidFill>
                  </a:tcPr>
                </a:tc>
                <a:tc>
                  <a:txBody>
                    <a:bodyPr/>
                    <a:lstStyle/>
                    <a:p>
                      <a:r>
                        <a:rPr sz="1650" b="1">
                          <a:solidFill>
                            <a:srgbClr val="FFFFFF"/>
                          </a:solidFill>
                          <a:latin typeface="Arial"/>
                          <a:ea typeface="Arial"/>
                          <a:cs typeface="Arial"/>
                        </a:rPr>
                        <a:t>Recruiter</a:t>
                      </a:r>
                    </a:p>
                  </a:txBody>
                  <a:tcPr anchor="ctr">
                    <a:lnL w="9525" cap="flat" cmpd="sng" algn="ctr">
                      <a:solidFill>
                        <a:srgbClr val="D5DDE8"/>
                      </a:solidFill>
                      <a:prstDash val="solid"/>
                      <a:round/>
                      <a:headEnd type="none" w="med" len="med"/>
                      <a:tailEnd type="none" w="med" len="med"/>
                    </a:lnL>
                    <a:lnR w="9525">
                      <a:solidFill>
                        <a:srgbClr val="D5DDE8"/>
                      </a:solidFill>
                    </a:lnR>
                    <a:lnT w="9525">
                      <a:solidFill>
                        <a:srgbClr val="D5DDE8"/>
                      </a:solidFill>
                    </a:lnT>
                    <a:lnB w="9525">
                      <a:solidFill>
                        <a:srgbClr val="D5DDE8"/>
                      </a:solidFill>
                    </a:lnB>
                    <a:solidFill>
                      <a:srgbClr val="10213A"/>
                    </a:solidFill>
                  </a:tcPr>
                </a:tc>
                <a:extLst>
                  <a:ext uri="{0D108BD9-81ED-4DB2-BD59-A6C34878D82A}">
                    <a16:rowId xmlns:a16="http://schemas.microsoft.com/office/drawing/2014/main" val="10000"/>
                  </a:ext>
                </a:extLst>
              </a:tr>
              <a:tr h="685800">
                <a:tc>
                  <a:txBody>
                    <a:bodyPr/>
                    <a:lstStyle/>
                    <a:p>
                      <a:r>
                        <a:rPr sz="1650" b="0">
                          <a:solidFill>
                            <a:srgbClr val="15283F"/>
                          </a:solidFill>
                          <a:latin typeface="Arial"/>
                          <a:ea typeface="Arial"/>
                          <a:cs typeface="Arial"/>
                        </a:rPr>
                        <a:t>Maintain profile, skills and projects</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tc>
                  <a:txBody>
                    <a:bodyPr/>
                    <a:lstStyle/>
                    <a:p>
                      <a:r>
                        <a:rPr sz="1650" b="0">
                          <a:solidFill>
                            <a:srgbClr val="15283F"/>
                          </a:solidFill>
                          <a:latin typeface="Arial"/>
                          <a:ea typeface="Arial"/>
                          <a:cs typeface="Arial"/>
                        </a:rPr>
                        <a:t>Maintain company profile and vacancies</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extLst>
                  <a:ext uri="{0D108BD9-81ED-4DB2-BD59-A6C34878D82A}">
                    <a16:rowId xmlns:a16="http://schemas.microsoft.com/office/drawing/2014/main" val="10001"/>
                  </a:ext>
                </a:extLst>
              </a:tr>
              <a:tr h="685800">
                <a:tc>
                  <a:txBody>
                    <a:bodyPr/>
                    <a:lstStyle/>
                    <a:p>
                      <a:r>
                        <a:rPr sz="1650" b="0">
                          <a:solidFill>
                            <a:srgbClr val="15283F"/>
                          </a:solidFill>
                          <a:latin typeface="Arial"/>
                          <a:ea typeface="Arial"/>
                          <a:cs typeface="Arial"/>
                        </a:rPr>
                        <a:t>Upload PDF and view resume analysis</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tc>
                  <a:txBody>
                    <a:bodyPr/>
                    <a:lstStyle/>
                    <a:p>
                      <a:r>
                        <a:rPr sz="1650" b="0">
                          <a:solidFill>
                            <a:srgbClr val="15283F"/>
                          </a:solidFill>
                          <a:latin typeface="Arial"/>
                          <a:ea typeface="Arial"/>
                          <a:cs typeface="Arial"/>
                        </a:rPr>
                        <a:t>Review applicant profiles and resumes</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extLst>
                  <a:ext uri="{0D108BD9-81ED-4DB2-BD59-A6C34878D82A}">
                    <a16:rowId xmlns:a16="http://schemas.microsoft.com/office/drawing/2014/main" val="10002"/>
                  </a:ext>
                </a:extLst>
              </a:tr>
              <a:tr h="685800">
                <a:tc>
                  <a:txBody>
                    <a:bodyPr/>
                    <a:lstStyle/>
                    <a:p>
                      <a:r>
                        <a:rPr sz="1650" b="0">
                          <a:solidFill>
                            <a:srgbClr val="15283F"/>
                          </a:solidFill>
                          <a:latin typeface="Arial"/>
                          <a:ea typeface="Arial"/>
                          <a:cs typeface="Arial"/>
                        </a:rPr>
                        <a:t>Search jobs and apply once per job</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tc>
                  <a:txBody>
                    <a:bodyPr/>
                    <a:lstStyle/>
                    <a:p>
                      <a:r>
                        <a:rPr sz="1650" b="0">
                          <a:solidFill>
                            <a:srgbClr val="15283F"/>
                          </a:solidFill>
                          <a:latin typeface="Arial"/>
                          <a:ea typeface="Arial"/>
                          <a:cs typeface="Arial"/>
                        </a:rPr>
                        <a:t>Inspect matched and missing skills</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extLst>
                  <a:ext uri="{0D108BD9-81ED-4DB2-BD59-A6C34878D82A}">
                    <a16:rowId xmlns:a16="http://schemas.microsoft.com/office/drawing/2014/main" val="10003"/>
                  </a:ext>
                </a:extLst>
              </a:tr>
              <a:tr h="685800">
                <a:tc>
                  <a:txBody>
                    <a:bodyPr/>
                    <a:lstStyle/>
                    <a:p>
                      <a:r>
                        <a:rPr sz="1650" b="0">
                          <a:solidFill>
                            <a:srgbClr val="15283F"/>
                          </a:solidFill>
                          <a:latin typeface="Arial"/>
                          <a:ea typeface="Arial"/>
                          <a:cs typeface="Arial"/>
                        </a:rPr>
                        <a:t>Track application status</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tc>
                  <a:txBody>
                    <a:bodyPr/>
                    <a:lstStyle/>
                    <a:p>
                      <a:r>
                        <a:rPr sz="1650" b="0">
                          <a:solidFill>
                            <a:srgbClr val="15283F"/>
                          </a:solidFill>
                          <a:latin typeface="Arial"/>
                          <a:ea typeface="Arial"/>
                          <a:cs typeface="Arial"/>
                        </a:rPr>
                        <a:t>Change application status after review</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0A2271D2-1413-4608-AA80-ABDA26D7BEDF}"/>
              </a:ext>
            </a:extLst>
          </p:cNvPr>
          <p:cNvSpPr>
            <a:spLocks noGrp="1"/>
          </p:cNvSpPr>
          <p:nvPr/>
        </p:nvSpPr>
        <p:spPr>
          <a:xfrm>
            <a:off x="609600" y="5553075"/>
            <a:ext cx="10972800" cy="666750"/>
          </a:xfrm>
          <a:prstGeom prst="rect">
            <a:avLst/>
          </a:prstGeom>
          <a:noFill/>
          <a:ln w="0">
            <a:noFill/>
          </a:ln>
        </p:spPr>
        <p:txBody>
          <a:bodyPr lIns="0" tIns="0" rIns="0" bIns="0" anchor="t">
            <a:noAutofit/>
          </a:bodyPr>
          <a:lstStyle>
            <a:defPPr>
              <a:defRPr sz="2025" b="1">
                <a:solidFill>
                  <a:srgbClr val="315BDF"/>
                </a:solidFill>
                <a:latin typeface="Arial"/>
                <a:ea typeface="Arial"/>
                <a:cs typeface="Arial"/>
              </a:defRPr>
            </a:defPPr>
          </a:lstStyle>
          <a:p>
            <a:pPr>
              <a:defRPr sz="2025" b="1">
                <a:solidFill>
                  <a:srgbClr val="315BDF"/>
                </a:solidFill>
                <a:latin typeface="Arial"/>
                <a:ea typeface="Arial"/>
                <a:cs typeface="Arial"/>
              </a:defRPr>
            </a:pPr>
            <a:r>
              <a:rPr sz="2025" b="1">
                <a:solidFill>
                  <a:srgbClr val="315BDF"/>
                </a:solidFill>
                <a:latin typeface="Arial"/>
                <a:ea typeface="Arial"/>
                <a:cs typeface="Arial"/>
              </a:rPr>
              <a:t>DBMS objective: related tables, normalized data, integrity constraints and SQL demonstrations</a:t>
            </a:r>
          </a:p>
        </p:txBody>
      </p:sp>
    </p:spTree>
    <p:extLst>
      <p:ext uri="{BB962C8B-B14F-4D97-AF65-F5344CB8AC3E}">
        <p14:creationId xmlns:p14="http://schemas.microsoft.com/office/powerpoint/2010/main" val="395542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123F8C40-F59C-4056-AE2D-0B76DE42EDBB}"/>
              </a:ext>
            </a:extLst>
          </p:cNvPr>
          <p:cNvCxnSpPr>
            <a:stCxn id="6" idx="3"/>
            <a:endCxn id="7" idx="1"/>
          </p:cNvCxnSpPr>
          <p:nvPr/>
        </p:nvCxnSpPr>
        <p:spPr>
          <a:xfrm>
            <a:off x="7562850" y="2514600"/>
            <a:ext cx="1047750" cy="0"/>
          </a:xfrm>
          <a:prstGeom prst="straightConnector1">
            <a:avLst/>
          </a:prstGeom>
          <a:ln w="19050">
            <a:solidFill>
              <a:srgbClr val="315BDF"/>
            </a:solidFill>
            <a:headEnd type="none" w="med" len="med"/>
            <a:tailEnd type="none" w="med" len="med"/>
          </a:ln>
        </p:spPr>
      </p:cxnSp>
      <p:cxnSp>
        <p:nvCxnSpPr>
          <p:cNvPr id="8" name="Straight Arrow Connector 7">
            <a:extLst>
              <a:ext uri="{FF2B5EF4-FFF2-40B4-BE49-F238E27FC236}">
                <a16:creationId xmlns:a16="http://schemas.microsoft.com/office/drawing/2014/main" id="{AAD80C32-856E-494F-80E9-94CFF19E2167}"/>
              </a:ext>
            </a:extLst>
          </p:cNvPr>
          <p:cNvCxnSpPr>
            <a:stCxn id="5" idx="3"/>
            <a:endCxn id="6" idx="1"/>
          </p:cNvCxnSpPr>
          <p:nvPr/>
        </p:nvCxnSpPr>
        <p:spPr>
          <a:xfrm>
            <a:off x="3562350" y="2514600"/>
            <a:ext cx="1047750" cy="0"/>
          </a:xfrm>
          <a:prstGeom prst="straightConnector1">
            <a:avLst/>
          </a:prstGeom>
          <a:ln w="19050">
            <a:solidFill>
              <a:srgbClr val="315BDF"/>
            </a:solidFill>
            <a:headEnd type="none" w="med" len="med"/>
            <a:tailEnd type="none" w="med" len="med"/>
          </a:ln>
        </p:spPr>
      </p:cxnSp>
      <p:sp>
        <p:nvSpPr>
          <p:cNvPr id="2" name="Rectangle 1">
            <a:extLst>
              <a:ext uri="{FF2B5EF4-FFF2-40B4-BE49-F238E27FC236}">
                <a16:creationId xmlns:a16="http://schemas.microsoft.com/office/drawing/2014/main" id="{2A7F0256-D119-410D-9BAB-14315D47DAB7}"/>
              </a:ext>
            </a:extLst>
          </p:cNvPr>
          <p:cNvSpPr>
            <a:spLocks noGrp="1"/>
          </p:cNvSpPr>
          <p:nvPr/>
        </p:nvSpPr>
        <p:spPr>
          <a:xfrm>
            <a:off x="609600" y="742950"/>
            <a:ext cx="10972800" cy="762000"/>
          </a:xfrm>
          <a:prstGeom prst="rect">
            <a:avLst/>
          </a:prstGeom>
          <a:noFill/>
          <a:ln w="0">
            <a:noFill/>
          </a:ln>
        </p:spPr>
        <p:txBody>
          <a:bodyPr lIns="0" tIns="0" rIns="0" bIns="0" anchor="t">
            <a:noAutofit/>
          </a:bodyPr>
          <a:lstStyle>
            <a:defPPr>
              <a:defRPr sz="3150" b="1">
                <a:solidFill>
                  <a:srgbClr val="15283F"/>
                </a:solidFill>
                <a:latin typeface="Arial"/>
                <a:ea typeface="Arial"/>
                <a:cs typeface="Arial"/>
              </a:defRPr>
            </a:defPPr>
          </a:lstStyle>
          <a:p>
            <a:pPr>
              <a:defRPr sz="3150" b="1">
                <a:solidFill>
                  <a:srgbClr val="15283F"/>
                </a:solidFill>
                <a:latin typeface="Arial"/>
                <a:ea typeface="Arial"/>
                <a:cs typeface="Arial"/>
              </a:defRPr>
            </a:pPr>
            <a:r>
              <a:rPr sz="3150" b="1">
                <a:solidFill>
                  <a:srgbClr val="15283F"/>
                </a:solidFill>
                <a:latin typeface="Arial"/>
                <a:ea typeface="Arial"/>
                <a:cs typeface="Arial"/>
              </a:rPr>
              <a:t>System architecture</a:t>
            </a:r>
          </a:p>
        </p:txBody>
      </p:sp>
      <p:sp>
        <p:nvSpPr>
          <p:cNvPr id="3" name="Rectangle 2">
            <a:extLst>
              <a:ext uri="{FF2B5EF4-FFF2-40B4-BE49-F238E27FC236}">
                <a16:creationId xmlns:a16="http://schemas.microsoft.com/office/drawing/2014/main" id="{4E748175-5B49-41A5-B6BB-CBD500C88068}"/>
              </a:ext>
            </a:extLst>
          </p:cNvPr>
          <p:cNvSpPr>
            <a:spLocks noGrp="1"/>
          </p:cNvSpPr>
          <p:nvPr/>
        </p:nvSpPr>
        <p:spPr>
          <a:xfrm>
            <a:off x="609600" y="6486525"/>
            <a:ext cx="5715000" cy="228600"/>
          </a:xfrm>
          <a:prstGeom prst="rect">
            <a:avLst/>
          </a:prstGeom>
          <a:noFill/>
          <a:ln w="0">
            <a:noFill/>
          </a:ln>
        </p:spPr>
        <p:txBody>
          <a:bodyPr lIns="0" tIns="0" rIns="0" bIns="0" anchor="t">
            <a:noAutofit/>
          </a:bodyPr>
          <a:lstStyle>
            <a:defPPr>
              <a:defRPr sz="1050" b="0">
                <a:solidFill>
                  <a:srgbClr val="576980"/>
                </a:solidFill>
                <a:latin typeface="Arial"/>
                <a:ea typeface="Arial"/>
                <a:cs typeface="Arial"/>
              </a:defRPr>
            </a:defPPr>
          </a:lstStyle>
          <a:p>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Rectangle 3">
            <a:extLst>
              <a:ext uri="{FF2B5EF4-FFF2-40B4-BE49-F238E27FC236}">
                <a16:creationId xmlns:a16="http://schemas.microsoft.com/office/drawing/2014/main" id="{2072ACFF-587E-4D3E-A426-795C6B5D9570}"/>
              </a:ext>
            </a:extLst>
          </p:cNvPr>
          <p:cNvSpPr>
            <a:spLocks noGrp="1"/>
          </p:cNvSpPr>
          <p:nvPr/>
        </p:nvSpPr>
        <p:spPr>
          <a:xfrm>
            <a:off x="10953750" y="6457950"/>
            <a:ext cx="628650" cy="247650"/>
          </a:xfrm>
          <a:prstGeom prst="rect">
            <a:avLst/>
          </a:prstGeom>
          <a:noFill/>
          <a:ln w="0">
            <a:noFill/>
          </a:ln>
        </p:spPr>
        <p:txBody>
          <a:bodyPr lIns="0" tIns="0" rIns="0" bIns="0" anchor="t">
            <a:noAutofit/>
          </a:bodyPr>
          <a:lstStyle>
            <a:defPPr>
              <a:defRPr sz="1200" b="0">
                <a:solidFill>
                  <a:srgbClr val="576980"/>
                </a:solidFill>
                <a:latin typeface="Arial"/>
                <a:ea typeface="Arial"/>
                <a:cs typeface="Arial"/>
              </a:defRPr>
            </a:defPPr>
          </a:lstStyle>
          <a:p>
            <a:pPr>
              <a:defRPr sz="1200" b="0">
                <a:solidFill>
                  <a:srgbClr val="576980"/>
                </a:solidFill>
                <a:latin typeface="Arial"/>
                <a:ea typeface="Arial"/>
                <a:cs typeface="Arial"/>
              </a:defRPr>
            </a:pPr>
            <a:r>
              <a:rPr sz="1200" b="0">
                <a:solidFill>
                  <a:srgbClr val="576980"/>
                </a:solidFill>
                <a:latin typeface="Arial"/>
                <a:ea typeface="Arial"/>
                <a:cs typeface="Arial"/>
              </a:rPr>
              <a:t>04</a:t>
            </a:r>
          </a:p>
        </p:txBody>
      </p:sp>
      <p:sp>
        <p:nvSpPr>
          <p:cNvPr id="5" name="Rectangle 4">
            <a:extLst>
              <a:ext uri="{FF2B5EF4-FFF2-40B4-BE49-F238E27FC236}">
                <a16:creationId xmlns:a16="http://schemas.microsoft.com/office/drawing/2014/main" id="{DF637D66-9346-47B9-A83D-AA77F90F1DE0}"/>
              </a:ext>
            </a:extLst>
          </p:cNvPr>
          <p:cNvSpPr>
            <a:spLocks noGrp="1"/>
          </p:cNvSpPr>
          <p:nvPr/>
        </p:nvSpPr>
        <p:spPr>
          <a:xfrm>
            <a:off x="609600" y="1895475"/>
            <a:ext cx="2952750" cy="12382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dirty="0">
                <a:solidFill>
                  <a:srgbClr val="15283F"/>
                </a:solidFill>
                <a:latin typeface="Arial"/>
                <a:ea typeface="Arial"/>
                <a:cs typeface="Arial"/>
              </a:rPr>
              <a:t>Desktop / laptop browser</a:t>
            </a:r>
          </a:p>
          <a:p>
            <a:pPr>
              <a:defRPr sz="1725">
                <a:solidFill>
                  <a:srgbClr val="15283F"/>
                </a:solidFill>
                <a:latin typeface="Arial"/>
                <a:ea typeface="Arial"/>
                <a:cs typeface="Arial"/>
              </a:defRPr>
            </a:pPr>
            <a:r>
              <a:rPr sz="1725" dirty="0">
                <a:solidFill>
                  <a:srgbClr val="15283F"/>
                </a:solidFill>
                <a:latin typeface="Arial"/>
                <a:ea typeface="Arial"/>
                <a:cs typeface="Arial"/>
              </a:rPr>
              <a:t>HTML, CSS, JavaScript</a:t>
            </a:r>
          </a:p>
        </p:txBody>
      </p:sp>
      <p:sp>
        <p:nvSpPr>
          <p:cNvPr id="6" name="Rectangle 5">
            <a:extLst>
              <a:ext uri="{FF2B5EF4-FFF2-40B4-BE49-F238E27FC236}">
                <a16:creationId xmlns:a16="http://schemas.microsoft.com/office/drawing/2014/main" id="{5E29C8DA-CD70-4175-B334-205088008B05}"/>
              </a:ext>
            </a:extLst>
          </p:cNvPr>
          <p:cNvSpPr>
            <a:spLocks noGrp="1"/>
          </p:cNvSpPr>
          <p:nvPr/>
        </p:nvSpPr>
        <p:spPr>
          <a:xfrm>
            <a:off x="4610100" y="1895475"/>
            <a:ext cx="2952750" cy="12382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Python + Flask</a:t>
            </a:r>
          </a:p>
          <a:p>
            <a:pPr>
              <a:defRPr sz="1725">
                <a:solidFill>
                  <a:srgbClr val="15283F"/>
                </a:solidFill>
                <a:latin typeface="Arial"/>
                <a:ea typeface="Arial"/>
                <a:cs typeface="Arial"/>
              </a:defRPr>
            </a:pPr>
            <a:r>
              <a:rPr sz="1725">
                <a:solidFill>
                  <a:srgbClr val="15283F"/>
                </a:solidFill>
                <a:latin typeface="Arial"/>
                <a:ea typeface="Arial"/>
                <a:cs typeface="Arial"/>
              </a:rPr>
              <a:t>Routes, sessions and validation</a:t>
            </a:r>
          </a:p>
        </p:txBody>
      </p:sp>
      <p:sp>
        <p:nvSpPr>
          <p:cNvPr id="7" name="Rectangle 6">
            <a:extLst>
              <a:ext uri="{FF2B5EF4-FFF2-40B4-BE49-F238E27FC236}">
                <a16:creationId xmlns:a16="http://schemas.microsoft.com/office/drawing/2014/main" id="{B0E5CA94-0C73-41F7-8E11-6735CF53212D}"/>
              </a:ext>
            </a:extLst>
          </p:cNvPr>
          <p:cNvSpPr>
            <a:spLocks noGrp="1"/>
          </p:cNvSpPr>
          <p:nvPr/>
        </p:nvSpPr>
        <p:spPr>
          <a:xfrm>
            <a:off x="8610600" y="1895475"/>
            <a:ext cx="2952750" cy="12382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MySQL 8</a:t>
            </a:r>
          </a:p>
          <a:p>
            <a:pPr>
              <a:defRPr sz="1725">
                <a:solidFill>
                  <a:srgbClr val="15283F"/>
                </a:solidFill>
                <a:latin typeface="Arial"/>
                <a:ea typeface="Arial"/>
                <a:cs typeface="Arial"/>
              </a:defRPr>
            </a:pPr>
            <a:r>
              <a:rPr sz="1725">
                <a:solidFill>
                  <a:srgbClr val="15283F"/>
                </a:solidFill>
                <a:latin typeface="Arial"/>
                <a:ea typeface="Arial"/>
                <a:cs typeface="Arial"/>
              </a:rPr>
              <a:t>SQLAlchemy + PyMySQL</a:t>
            </a:r>
          </a:p>
        </p:txBody>
      </p:sp>
      <p:sp>
        <p:nvSpPr>
          <p:cNvPr id="10" name="Rectangle 9">
            <a:extLst>
              <a:ext uri="{FF2B5EF4-FFF2-40B4-BE49-F238E27FC236}">
                <a16:creationId xmlns:a16="http://schemas.microsoft.com/office/drawing/2014/main" id="{EC76FD70-C062-45E8-ACE7-408CE313D1FB}"/>
              </a:ext>
            </a:extLst>
          </p:cNvPr>
          <p:cNvSpPr>
            <a:spLocks noGrp="1"/>
          </p:cNvSpPr>
          <p:nvPr/>
        </p:nvSpPr>
        <p:spPr>
          <a:xfrm>
            <a:off x="609600" y="3790950"/>
            <a:ext cx="10972800" cy="428625"/>
          </a:xfrm>
          <a:prstGeom prst="rect">
            <a:avLst/>
          </a:prstGeom>
          <a:noFill/>
          <a:ln w="0">
            <a:noFill/>
          </a:ln>
        </p:spPr>
        <p:txBody>
          <a:bodyPr lIns="0" tIns="0" rIns="0" bIns="0" anchor="t">
            <a:noAutofit/>
          </a:bodyPr>
          <a:lstStyle>
            <a:defPPr>
              <a:defRPr sz="2100" b="1">
                <a:solidFill>
                  <a:srgbClr val="315BDF"/>
                </a:solidFill>
                <a:latin typeface="Arial"/>
                <a:ea typeface="Arial"/>
                <a:cs typeface="Arial"/>
              </a:defRPr>
            </a:defPPr>
          </a:lstStyle>
          <a:p>
            <a:pPr>
              <a:defRPr sz="2100" b="1">
                <a:solidFill>
                  <a:srgbClr val="315BDF"/>
                </a:solidFill>
                <a:latin typeface="Arial"/>
                <a:ea typeface="Arial"/>
                <a:cs typeface="Arial"/>
              </a:defRPr>
            </a:pPr>
            <a:r>
              <a:rPr sz="2100" b="1">
                <a:solidFill>
                  <a:srgbClr val="315BDF"/>
                </a:solidFill>
                <a:latin typeface="Arial"/>
                <a:ea typeface="Arial"/>
                <a:cs typeface="Arial"/>
              </a:rPr>
              <a:t>Resume workflow</a:t>
            </a:r>
          </a:p>
        </p:txBody>
      </p:sp>
      <p:sp>
        <p:nvSpPr>
          <p:cNvPr id="11" name="Rectangle 10">
            <a:extLst>
              <a:ext uri="{FF2B5EF4-FFF2-40B4-BE49-F238E27FC236}">
                <a16:creationId xmlns:a16="http://schemas.microsoft.com/office/drawing/2014/main" id="{E3C21A7C-5DAC-4337-BE11-884288D0F3B8}"/>
              </a:ext>
            </a:extLst>
          </p:cNvPr>
          <p:cNvSpPr>
            <a:spLocks noGrp="1"/>
          </p:cNvSpPr>
          <p:nvPr/>
        </p:nvSpPr>
        <p:spPr>
          <a:xfrm>
            <a:off x="609600" y="4305300"/>
            <a:ext cx="10972800" cy="857250"/>
          </a:xfrm>
          <a:prstGeom prst="rect">
            <a:avLst/>
          </a:prstGeom>
          <a:noFill/>
          <a:ln w="0">
            <a:noFill/>
          </a:ln>
        </p:spPr>
        <p:txBody>
          <a:bodyPr lIns="0" tIns="0" rIns="0" bIns="0" anchor="t">
            <a:noAutofit/>
          </a:bodyPr>
          <a:lstStyle>
            <a:defPPr>
              <a:defRPr sz="2025" b="0">
                <a:solidFill>
                  <a:srgbClr val="15283F"/>
                </a:solidFill>
                <a:latin typeface="Arial"/>
                <a:ea typeface="Arial"/>
                <a:cs typeface="Arial"/>
              </a:defRPr>
            </a:defPPr>
          </a:lstStyle>
          <a:p>
            <a:pPr>
              <a:defRPr sz="2025" b="0">
                <a:solidFill>
                  <a:srgbClr val="15283F"/>
                </a:solidFill>
                <a:latin typeface="Arial"/>
                <a:ea typeface="Arial"/>
                <a:cs typeface="Arial"/>
              </a:defRPr>
            </a:pPr>
            <a:r>
              <a:rPr sz="2025" b="0">
                <a:solidFill>
                  <a:srgbClr val="15283F"/>
                </a:solidFill>
                <a:latin typeface="Arial"/>
                <a:ea typeface="Arial"/>
                <a:cs typeface="Arial"/>
              </a:rPr>
              <a:t>PDF text extraction with PyMuPDF</a:t>
            </a:r>
          </a:p>
          <a:p>
            <a:pPr>
              <a:defRPr sz="2025" b="0">
                <a:solidFill>
                  <a:srgbClr val="15283F"/>
                </a:solidFill>
                <a:latin typeface="Arial"/>
                <a:ea typeface="Arial"/>
                <a:cs typeface="Arial"/>
              </a:defRPr>
            </a:pPr>
            <a:r>
              <a:rPr sz="2025" b="0">
                <a:solidFill>
                  <a:srgbClr val="15283F"/>
                </a:solidFill>
                <a:latin typeface="Arial"/>
                <a:ea typeface="Arial"/>
                <a:cs typeface="Arial"/>
              </a:rPr>
              <a:t>Optional Gemini analysis, with local extraction fallback</a:t>
            </a:r>
          </a:p>
        </p:txBody>
      </p:sp>
      <p:sp>
        <p:nvSpPr>
          <p:cNvPr id="12" name="Rectangle 11">
            <a:extLst>
              <a:ext uri="{FF2B5EF4-FFF2-40B4-BE49-F238E27FC236}">
                <a16:creationId xmlns:a16="http://schemas.microsoft.com/office/drawing/2014/main" id="{D4841986-094A-4027-B572-598C5033B3BC}"/>
              </a:ext>
            </a:extLst>
          </p:cNvPr>
          <p:cNvSpPr>
            <a:spLocks noGrp="1"/>
          </p:cNvSpPr>
          <p:nvPr/>
        </p:nvSpPr>
        <p:spPr>
          <a:xfrm>
            <a:off x="609600" y="5514975"/>
            <a:ext cx="10972800" cy="552450"/>
          </a:xfrm>
          <a:prstGeom prst="rect">
            <a:avLst/>
          </a:prstGeom>
          <a:noFill/>
          <a:ln w="0">
            <a:noFill/>
          </a:ln>
        </p:spPr>
        <p:txBody>
          <a:bodyPr lIns="0" tIns="0" rIns="0" bIns="0" anchor="t">
            <a:noAutofit/>
          </a:bodyPr>
          <a:lstStyle>
            <a:defPPr>
              <a:defRPr sz="1800" b="0">
                <a:solidFill>
                  <a:srgbClr val="576980"/>
                </a:solidFill>
                <a:latin typeface="Arial"/>
                <a:ea typeface="Arial"/>
                <a:cs typeface="Arial"/>
              </a:defRPr>
            </a:defPPr>
          </a:lstStyle>
          <a:p>
            <a:pPr>
              <a:defRPr sz="1800" b="0">
                <a:solidFill>
                  <a:srgbClr val="576980"/>
                </a:solidFill>
                <a:latin typeface="Arial"/>
                <a:ea typeface="Arial"/>
                <a:cs typeface="Arial"/>
              </a:defRPr>
            </a:pPr>
            <a:r>
              <a:rPr sz="1800" b="0">
                <a:solidFill>
                  <a:srgbClr val="576980"/>
                </a:solidFill>
                <a:latin typeface="Arial"/>
                <a:ea typeface="Arial"/>
                <a:cs typeface="Arial"/>
              </a:rPr>
              <a:t>Optional Supabase Storage stores private resume PDFs. MySQL stores application records.</a:t>
            </a:r>
          </a:p>
        </p:txBody>
      </p:sp>
    </p:spTree>
    <p:extLst>
      <p:ext uri="{BB962C8B-B14F-4D97-AF65-F5344CB8AC3E}">
        <p14:creationId xmlns:p14="http://schemas.microsoft.com/office/powerpoint/2010/main" val="231724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31492B05-5764-4354-8BBC-5006BC811AC7}"/>
              </a:ext>
            </a:extLst>
          </p:cNvPr>
          <p:cNvCxnSpPr>
            <a:stCxn id="18" idx="2"/>
            <a:endCxn id="19" idx="0"/>
          </p:cNvCxnSpPr>
          <p:nvPr/>
        </p:nvCxnSpPr>
        <p:spPr>
          <a:xfrm>
            <a:off x="6962775" y="4552950"/>
            <a:ext cx="0" cy="838200"/>
          </a:xfrm>
          <a:prstGeom prst="straightConnector1">
            <a:avLst/>
          </a:prstGeom>
          <a:ln w="19050">
            <a:solidFill>
              <a:srgbClr val="315BDF"/>
            </a:solidFill>
            <a:headEnd type="none" w="med" len="med"/>
            <a:tailEnd type="none" w="med" len="med"/>
          </a:ln>
        </p:spPr>
      </p:cxnSp>
      <p:cxnSp>
        <p:nvCxnSpPr>
          <p:cNvPr id="27" name="Straight Arrow Connector 26">
            <a:extLst>
              <a:ext uri="{FF2B5EF4-FFF2-40B4-BE49-F238E27FC236}">
                <a16:creationId xmlns:a16="http://schemas.microsoft.com/office/drawing/2014/main" id="{4A751C4A-E2D7-4697-8733-92AB4526DA13}"/>
              </a:ext>
            </a:extLst>
          </p:cNvPr>
          <p:cNvCxnSpPr>
            <a:stCxn id="16" idx="1"/>
            <a:endCxn id="18" idx="3"/>
          </p:cNvCxnSpPr>
          <p:nvPr/>
        </p:nvCxnSpPr>
        <p:spPr>
          <a:xfrm flipH="1">
            <a:off x="8058150" y="4276725"/>
            <a:ext cx="1181100" cy="0"/>
          </a:xfrm>
          <a:prstGeom prst="straightConnector1">
            <a:avLst/>
          </a:prstGeom>
          <a:ln w="19050">
            <a:solidFill>
              <a:srgbClr val="315BDF"/>
            </a:solidFill>
            <a:headEnd type="none" w="med" len="med"/>
            <a:tailEnd type="none" w="med" len="med"/>
          </a:ln>
        </p:spPr>
      </p:cxnSp>
      <p:cxnSp>
        <p:nvCxnSpPr>
          <p:cNvPr id="26" name="Connector: Elbow 25">
            <a:extLst>
              <a:ext uri="{FF2B5EF4-FFF2-40B4-BE49-F238E27FC236}">
                <a16:creationId xmlns:a16="http://schemas.microsoft.com/office/drawing/2014/main" id="{32FF5346-0E8F-4BF7-AF3C-6553E74AE66A}"/>
              </a:ext>
            </a:extLst>
          </p:cNvPr>
          <p:cNvCxnSpPr>
            <a:stCxn id="6" idx="3"/>
            <a:endCxn id="18" idx="0"/>
          </p:cNvCxnSpPr>
          <p:nvPr/>
        </p:nvCxnSpPr>
        <p:spPr>
          <a:xfrm>
            <a:off x="2990850" y="2895600"/>
            <a:ext cx="3971925" cy="1104900"/>
          </a:xfrm>
          <a:prstGeom prst="bentConnector4">
            <a:avLst>
              <a:gd name="adj1" fmla="val 5755"/>
              <a:gd name="adj2" fmla="val 79310"/>
            </a:avLst>
          </a:prstGeom>
          <a:ln w="19050">
            <a:solidFill>
              <a:srgbClr val="315BDF"/>
            </a:solidFill>
            <a:headEnd type="none" w="med" len="med"/>
            <a:tailEnd type="none" w="med" len="med"/>
          </a:ln>
        </p:spPr>
      </p:cxnSp>
      <p:cxnSp>
        <p:nvCxnSpPr>
          <p:cNvPr id="25" name="Straight Arrow Connector 24">
            <a:extLst>
              <a:ext uri="{FF2B5EF4-FFF2-40B4-BE49-F238E27FC236}">
                <a16:creationId xmlns:a16="http://schemas.microsoft.com/office/drawing/2014/main" id="{76475434-72EA-46DC-B91A-388156836FE3}"/>
              </a:ext>
            </a:extLst>
          </p:cNvPr>
          <p:cNvCxnSpPr>
            <a:stCxn id="16" idx="2"/>
            <a:endCxn id="17" idx="0"/>
          </p:cNvCxnSpPr>
          <p:nvPr/>
        </p:nvCxnSpPr>
        <p:spPr>
          <a:xfrm>
            <a:off x="10334625" y="4552950"/>
            <a:ext cx="0" cy="838200"/>
          </a:xfrm>
          <a:prstGeom prst="straightConnector1">
            <a:avLst/>
          </a:prstGeom>
          <a:ln w="19050">
            <a:solidFill>
              <a:srgbClr val="315BDF"/>
            </a:solidFill>
            <a:headEnd type="none" w="med" len="med"/>
            <a:tailEnd type="none" w="med" len="med"/>
          </a:ln>
        </p:spPr>
      </p:cxnSp>
      <p:cxnSp>
        <p:nvCxnSpPr>
          <p:cNvPr id="24" name="Connector: Elbow 23">
            <a:extLst>
              <a:ext uri="{FF2B5EF4-FFF2-40B4-BE49-F238E27FC236}">
                <a16:creationId xmlns:a16="http://schemas.microsoft.com/office/drawing/2014/main" id="{903C1E6D-B99E-4251-8BBE-622017704BEE}"/>
              </a:ext>
            </a:extLst>
          </p:cNvPr>
          <p:cNvCxnSpPr>
            <a:stCxn id="7" idx="2"/>
            <a:endCxn id="16" idx="0"/>
          </p:cNvCxnSpPr>
          <p:nvPr/>
        </p:nvCxnSpPr>
        <p:spPr>
          <a:xfrm flipH="1">
            <a:off x="10334625" y="3181350"/>
            <a:ext cx="9525" cy="819150"/>
          </a:xfrm>
          <a:prstGeom prst="bentConnector4">
            <a:avLst>
              <a:gd name="adj1" fmla="val 0"/>
              <a:gd name="adj2" fmla="val 50000"/>
            </a:avLst>
          </a:prstGeom>
          <a:ln w="19050">
            <a:solidFill>
              <a:srgbClr val="315BDF"/>
            </a:solidFill>
            <a:headEnd type="none" w="med" len="med"/>
            <a:tailEnd type="none" w="med" len="med"/>
          </a:ln>
        </p:spPr>
      </p:cxnSp>
      <p:cxnSp>
        <p:nvCxnSpPr>
          <p:cNvPr id="23" name="Connector: Elbow 22">
            <a:extLst>
              <a:ext uri="{FF2B5EF4-FFF2-40B4-BE49-F238E27FC236}">
                <a16:creationId xmlns:a16="http://schemas.microsoft.com/office/drawing/2014/main" id="{196569F1-B3B2-46BA-A178-E957C045DC45}"/>
              </a:ext>
            </a:extLst>
          </p:cNvPr>
          <p:cNvCxnSpPr>
            <a:stCxn id="13" idx="2"/>
            <a:endCxn id="15" idx="0"/>
          </p:cNvCxnSpPr>
          <p:nvPr/>
        </p:nvCxnSpPr>
        <p:spPr>
          <a:xfrm>
            <a:off x="3476625" y="4552950"/>
            <a:ext cx="571500" cy="838200"/>
          </a:xfrm>
          <a:prstGeom prst="bentConnector4">
            <a:avLst>
              <a:gd name="adj1" fmla="val 0"/>
              <a:gd name="adj2" fmla="val 50000"/>
            </a:avLst>
          </a:prstGeom>
          <a:ln w="19050">
            <a:solidFill>
              <a:srgbClr val="315BDF"/>
            </a:solidFill>
            <a:headEnd type="none" w="med" len="med"/>
            <a:tailEnd type="none" w="med" len="med"/>
          </a:ln>
        </p:spPr>
      </p:cxnSp>
      <p:cxnSp>
        <p:nvCxnSpPr>
          <p:cNvPr id="22" name="Connector: Elbow 21">
            <a:extLst>
              <a:ext uri="{FF2B5EF4-FFF2-40B4-BE49-F238E27FC236}">
                <a16:creationId xmlns:a16="http://schemas.microsoft.com/office/drawing/2014/main" id="{C73FDE0E-2476-4E5B-B416-B2BCD0995CFB}"/>
              </a:ext>
            </a:extLst>
          </p:cNvPr>
          <p:cNvCxnSpPr>
            <a:stCxn id="6" idx="1"/>
            <a:endCxn id="14" idx="1"/>
          </p:cNvCxnSpPr>
          <p:nvPr/>
        </p:nvCxnSpPr>
        <p:spPr>
          <a:xfrm>
            <a:off x="381000" y="2895600"/>
            <a:ext cx="228600" cy="2771775"/>
          </a:xfrm>
          <a:prstGeom prst="bentConnector4">
            <a:avLst/>
          </a:prstGeom>
          <a:ln w="19050">
            <a:solidFill>
              <a:srgbClr val="315BDF"/>
            </a:solidFill>
            <a:headEnd type="none" w="med" len="med"/>
            <a:tailEnd type="none" w="med" len="med"/>
          </a:ln>
        </p:spPr>
      </p:cxnSp>
      <p:cxnSp>
        <p:nvCxnSpPr>
          <p:cNvPr id="21" name="Connector: Elbow 20">
            <a:extLst>
              <a:ext uri="{FF2B5EF4-FFF2-40B4-BE49-F238E27FC236}">
                <a16:creationId xmlns:a16="http://schemas.microsoft.com/office/drawing/2014/main" id="{A2B2D53C-4F63-4216-8D5A-5FB05CE29F8D}"/>
              </a:ext>
            </a:extLst>
          </p:cNvPr>
          <p:cNvCxnSpPr>
            <a:stCxn id="6" idx="2"/>
            <a:endCxn id="13" idx="0"/>
          </p:cNvCxnSpPr>
          <p:nvPr/>
        </p:nvCxnSpPr>
        <p:spPr>
          <a:xfrm>
            <a:off x="1800225" y="3181350"/>
            <a:ext cx="1676400" cy="819150"/>
          </a:xfrm>
          <a:prstGeom prst="bentConnector4">
            <a:avLst>
              <a:gd name="adj1" fmla="val 0"/>
              <a:gd name="adj2" fmla="val 50000"/>
            </a:avLst>
          </a:prstGeom>
          <a:ln w="19050">
            <a:solidFill>
              <a:srgbClr val="315BDF"/>
            </a:solidFill>
            <a:headEnd type="none" w="med" len="med"/>
            <a:tailEnd type="none" w="med" len="med"/>
          </a:ln>
        </p:spPr>
      </p:cxnSp>
      <p:cxnSp>
        <p:nvCxnSpPr>
          <p:cNvPr id="20" name="Connector: Elbow 19">
            <a:extLst>
              <a:ext uri="{FF2B5EF4-FFF2-40B4-BE49-F238E27FC236}">
                <a16:creationId xmlns:a16="http://schemas.microsoft.com/office/drawing/2014/main" id="{8B2CAD05-45E7-475A-A468-7884C1C27537}"/>
              </a:ext>
            </a:extLst>
          </p:cNvPr>
          <p:cNvCxnSpPr>
            <a:stCxn id="6" idx="2"/>
            <a:endCxn id="12" idx="0"/>
          </p:cNvCxnSpPr>
          <p:nvPr/>
        </p:nvCxnSpPr>
        <p:spPr>
          <a:xfrm flipH="1">
            <a:off x="1466850" y="3181350"/>
            <a:ext cx="333375" cy="819150"/>
          </a:xfrm>
          <a:prstGeom prst="bentConnector4">
            <a:avLst>
              <a:gd name="adj1" fmla="val 0"/>
              <a:gd name="adj2" fmla="val 50000"/>
            </a:avLst>
          </a:prstGeom>
          <a:ln w="19050">
            <a:solidFill>
              <a:srgbClr val="315BDF"/>
            </a:solidFill>
            <a:headEnd type="none" w="med" len="med"/>
            <a:tailEnd type="none" w="med" len="med"/>
          </a:ln>
        </p:spPr>
      </p:cxnSp>
      <p:cxnSp>
        <p:nvCxnSpPr>
          <p:cNvPr id="9" name="Connector: Elbow 8">
            <a:extLst>
              <a:ext uri="{FF2B5EF4-FFF2-40B4-BE49-F238E27FC236}">
                <a16:creationId xmlns:a16="http://schemas.microsoft.com/office/drawing/2014/main" id="{902DDCC5-EB20-406E-8189-5428F25B7C22}"/>
              </a:ext>
            </a:extLst>
          </p:cNvPr>
          <p:cNvCxnSpPr>
            <a:stCxn id="5" idx="3"/>
            <a:endCxn id="7" idx="0"/>
          </p:cNvCxnSpPr>
          <p:nvPr/>
        </p:nvCxnSpPr>
        <p:spPr>
          <a:xfrm>
            <a:off x="7143750" y="1828800"/>
            <a:ext cx="3200400" cy="781050"/>
          </a:xfrm>
          <a:prstGeom prst="bentConnector2">
            <a:avLst/>
          </a:prstGeom>
          <a:ln w="19050">
            <a:solidFill>
              <a:srgbClr val="315BDF"/>
            </a:solidFill>
            <a:headEnd type="none" w="med" len="med"/>
            <a:tailEnd type="none" w="med" len="med"/>
          </a:ln>
        </p:spPr>
      </p:cxnSp>
      <p:cxnSp>
        <p:nvCxnSpPr>
          <p:cNvPr id="8" name="Connector: Elbow 7">
            <a:extLst>
              <a:ext uri="{FF2B5EF4-FFF2-40B4-BE49-F238E27FC236}">
                <a16:creationId xmlns:a16="http://schemas.microsoft.com/office/drawing/2014/main" id="{42DECAF6-45E5-4647-9724-1144BF4EC2AF}"/>
              </a:ext>
            </a:extLst>
          </p:cNvPr>
          <p:cNvCxnSpPr>
            <a:stCxn id="5" idx="1"/>
            <a:endCxn id="6" idx="0"/>
          </p:cNvCxnSpPr>
          <p:nvPr/>
        </p:nvCxnSpPr>
        <p:spPr>
          <a:xfrm flipH="1">
            <a:off x="1800225" y="1828800"/>
            <a:ext cx="3057525" cy="781050"/>
          </a:xfrm>
          <a:prstGeom prst="bentConnector2">
            <a:avLst/>
          </a:prstGeom>
          <a:ln w="19050">
            <a:solidFill>
              <a:srgbClr val="315BDF"/>
            </a:solidFill>
            <a:headEnd type="none" w="med" len="med"/>
            <a:tailEnd type="none" w="med" len="med"/>
          </a:ln>
        </p:spPr>
      </p:cxnSp>
      <p:sp>
        <p:nvSpPr>
          <p:cNvPr id="30" name="Rectangle 29">
            <a:extLst>
              <a:ext uri="{FF2B5EF4-FFF2-40B4-BE49-F238E27FC236}">
                <a16:creationId xmlns:a16="http://schemas.microsoft.com/office/drawing/2014/main" id="{E6C6096F-87C1-4C49-993D-85215C16FD75}"/>
              </a:ext>
            </a:extLst>
          </p:cNvPr>
          <p:cNvSpPr>
            <a:spLocks noGrp="1"/>
          </p:cNvSpPr>
          <p:nvPr/>
        </p:nvSpPr>
        <p:spPr>
          <a:xfrm>
            <a:off x="609600" y="304800"/>
            <a:ext cx="10477500" cy="238125"/>
          </a:xfrm>
          <a:prstGeom prst="rect">
            <a:avLst/>
          </a:prstGeom>
          <a:noFill/>
          <a:ln w="0">
            <a:noFill/>
          </a:ln>
        </p:spPr>
        <p:txBody>
          <a:bodyPr lIns="0" tIns="0" rIns="0" bIns="0" anchor="t">
            <a:noAutofit/>
          </a:bodyPr>
          <a:lstStyle>
            <a:defPPr>
              <a:defRPr sz="1200" b="1">
                <a:solidFill>
                  <a:srgbClr val="315BDF"/>
                </a:solidFill>
                <a:latin typeface="Arial"/>
                <a:ea typeface="Arial"/>
                <a:cs typeface="Arial"/>
              </a:defRPr>
            </a:defPPr>
          </a:lstStyle>
          <a:p>
            <a:pPr>
              <a:defRPr sz="1200" b="1">
                <a:solidFill>
                  <a:srgbClr val="315BDF"/>
                </a:solidFill>
                <a:latin typeface="Arial"/>
                <a:ea typeface="Arial"/>
                <a:cs typeface="Arial"/>
              </a:defRPr>
            </a:pPr>
            <a:r>
              <a:rPr sz="1200" b="1" dirty="0">
                <a:solidFill>
                  <a:srgbClr val="315BDF"/>
                </a:solidFill>
                <a:latin typeface="Arial"/>
                <a:ea typeface="Arial"/>
                <a:cs typeface="Arial"/>
              </a:rPr>
              <a:t>03 / DATABASE DESIGN</a:t>
            </a:r>
          </a:p>
        </p:txBody>
      </p:sp>
      <p:sp>
        <p:nvSpPr>
          <p:cNvPr id="2" name="Rectangle 1">
            <a:extLst>
              <a:ext uri="{FF2B5EF4-FFF2-40B4-BE49-F238E27FC236}">
                <a16:creationId xmlns:a16="http://schemas.microsoft.com/office/drawing/2014/main" id="{243F78C3-3209-4CB3-839D-5E96D088FDAE}"/>
              </a:ext>
            </a:extLst>
          </p:cNvPr>
          <p:cNvSpPr>
            <a:spLocks noGrp="1"/>
          </p:cNvSpPr>
          <p:nvPr/>
        </p:nvSpPr>
        <p:spPr>
          <a:xfrm>
            <a:off x="609600" y="742950"/>
            <a:ext cx="10972800" cy="762000"/>
          </a:xfrm>
          <a:prstGeom prst="rect">
            <a:avLst/>
          </a:prstGeom>
          <a:noFill/>
          <a:ln w="0">
            <a:noFill/>
          </a:ln>
        </p:spPr>
        <p:txBody>
          <a:bodyPr lIns="0" tIns="0" rIns="0" bIns="0" anchor="t">
            <a:noAutofit/>
          </a:bodyPr>
          <a:lstStyle>
            <a:defPPr>
              <a:defRPr sz="3150" b="1">
                <a:solidFill>
                  <a:srgbClr val="15283F"/>
                </a:solidFill>
                <a:latin typeface="Arial"/>
                <a:ea typeface="Arial"/>
                <a:cs typeface="Arial"/>
              </a:defRPr>
            </a:defPPr>
          </a:lstStyle>
          <a:p>
            <a:pPr>
              <a:defRPr sz="3150" b="1">
                <a:solidFill>
                  <a:srgbClr val="15283F"/>
                </a:solidFill>
                <a:latin typeface="Arial"/>
                <a:ea typeface="Arial"/>
                <a:cs typeface="Arial"/>
              </a:defRPr>
            </a:pPr>
            <a:r>
              <a:rPr sz="3150" b="1">
                <a:solidFill>
                  <a:srgbClr val="15283F"/>
                </a:solidFill>
                <a:latin typeface="Arial"/>
                <a:ea typeface="Arial"/>
                <a:cs typeface="Arial"/>
              </a:rPr>
              <a:t>ER diagram and cardinalities</a:t>
            </a:r>
          </a:p>
        </p:txBody>
      </p:sp>
      <p:sp>
        <p:nvSpPr>
          <p:cNvPr id="3" name="Rectangle 2">
            <a:extLst>
              <a:ext uri="{FF2B5EF4-FFF2-40B4-BE49-F238E27FC236}">
                <a16:creationId xmlns:a16="http://schemas.microsoft.com/office/drawing/2014/main" id="{32F44EB1-FC2F-49B1-8685-6B6FFEC27B2F}"/>
              </a:ext>
            </a:extLst>
          </p:cNvPr>
          <p:cNvSpPr>
            <a:spLocks noGrp="1"/>
          </p:cNvSpPr>
          <p:nvPr/>
        </p:nvSpPr>
        <p:spPr>
          <a:xfrm>
            <a:off x="609600" y="6486525"/>
            <a:ext cx="5715000" cy="228600"/>
          </a:xfrm>
          <a:prstGeom prst="rect">
            <a:avLst/>
          </a:prstGeom>
          <a:noFill/>
          <a:ln w="0">
            <a:noFill/>
          </a:ln>
        </p:spPr>
        <p:txBody>
          <a:bodyPr lIns="0" tIns="0" rIns="0" bIns="0" anchor="t">
            <a:noAutofit/>
          </a:bodyPr>
          <a:lstStyle>
            <a:defPPr>
              <a:defRPr sz="1050" b="0">
                <a:solidFill>
                  <a:srgbClr val="576980"/>
                </a:solidFill>
                <a:latin typeface="Arial"/>
                <a:ea typeface="Arial"/>
                <a:cs typeface="Arial"/>
              </a:defRPr>
            </a:defPPr>
          </a:lstStyle>
          <a:p>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Rectangle 3">
            <a:extLst>
              <a:ext uri="{FF2B5EF4-FFF2-40B4-BE49-F238E27FC236}">
                <a16:creationId xmlns:a16="http://schemas.microsoft.com/office/drawing/2014/main" id="{8372600E-E186-4E2B-9C94-0C3D126A1EFF}"/>
              </a:ext>
            </a:extLst>
          </p:cNvPr>
          <p:cNvSpPr>
            <a:spLocks noGrp="1"/>
          </p:cNvSpPr>
          <p:nvPr/>
        </p:nvSpPr>
        <p:spPr>
          <a:xfrm>
            <a:off x="10953750" y="6457950"/>
            <a:ext cx="628650" cy="247650"/>
          </a:xfrm>
          <a:prstGeom prst="rect">
            <a:avLst/>
          </a:prstGeom>
          <a:noFill/>
          <a:ln w="0">
            <a:noFill/>
          </a:ln>
        </p:spPr>
        <p:txBody>
          <a:bodyPr lIns="0" tIns="0" rIns="0" bIns="0" anchor="t">
            <a:noAutofit/>
          </a:bodyPr>
          <a:lstStyle>
            <a:defPPr>
              <a:defRPr sz="1200" b="0">
                <a:solidFill>
                  <a:srgbClr val="576980"/>
                </a:solidFill>
                <a:latin typeface="Arial"/>
                <a:ea typeface="Arial"/>
                <a:cs typeface="Arial"/>
              </a:defRPr>
            </a:defPPr>
          </a:lstStyle>
          <a:p>
            <a:pPr>
              <a:defRPr sz="1200" b="0">
                <a:solidFill>
                  <a:srgbClr val="576980"/>
                </a:solidFill>
                <a:latin typeface="Arial"/>
                <a:ea typeface="Arial"/>
                <a:cs typeface="Arial"/>
              </a:defRPr>
            </a:pPr>
            <a:r>
              <a:rPr sz="1200" b="0">
                <a:solidFill>
                  <a:srgbClr val="576980"/>
                </a:solidFill>
                <a:latin typeface="Arial"/>
                <a:ea typeface="Arial"/>
                <a:cs typeface="Arial"/>
              </a:rPr>
              <a:t>05</a:t>
            </a:r>
          </a:p>
        </p:txBody>
      </p:sp>
      <p:sp>
        <p:nvSpPr>
          <p:cNvPr id="5" name="Rectangle 4">
            <a:extLst>
              <a:ext uri="{FF2B5EF4-FFF2-40B4-BE49-F238E27FC236}">
                <a16:creationId xmlns:a16="http://schemas.microsoft.com/office/drawing/2014/main" id="{B69A77B4-F5DA-409D-A3AF-6EE3E662C9AB}"/>
              </a:ext>
            </a:extLst>
          </p:cNvPr>
          <p:cNvSpPr>
            <a:spLocks noGrp="1"/>
          </p:cNvSpPr>
          <p:nvPr/>
        </p:nvSpPr>
        <p:spPr>
          <a:xfrm>
            <a:off x="4857750" y="1552575"/>
            <a:ext cx="228600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User</a:t>
            </a:r>
          </a:p>
        </p:txBody>
      </p:sp>
      <p:sp>
        <p:nvSpPr>
          <p:cNvPr id="6" name="Rectangle 5">
            <a:extLst>
              <a:ext uri="{FF2B5EF4-FFF2-40B4-BE49-F238E27FC236}">
                <a16:creationId xmlns:a16="http://schemas.microsoft.com/office/drawing/2014/main" id="{8B12008D-0235-43E3-96D8-70B8D131B161}"/>
              </a:ext>
            </a:extLst>
          </p:cNvPr>
          <p:cNvSpPr>
            <a:spLocks noGrp="1"/>
          </p:cNvSpPr>
          <p:nvPr/>
        </p:nvSpPr>
        <p:spPr>
          <a:xfrm>
            <a:off x="609600" y="2609850"/>
            <a:ext cx="2381250" cy="57150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Developer profile</a:t>
            </a:r>
          </a:p>
        </p:txBody>
      </p:sp>
      <p:sp>
        <p:nvSpPr>
          <p:cNvPr id="7" name="Rectangle 6">
            <a:extLst>
              <a:ext uri="{FF2B5EF4-FFF2-40B4-BE49-F238E27FC236}">
                <a16:creationId xmlns:a16="http://schemas.microsoft.com/office/drawing/2014/main" id="{EC231138-7995-40A2-846B-A21835DF5B84}"/>
              </a:ext>
            </a:extLst>
          </p:cNvPr>
          <p:cNvSpPr>
            <a:spLocks noGrp="1"/>
          </p:cNvSpPr>
          <p:nvPr/>
        </p:nvSpPr>
        <p:spPr>
          <a:xfrm>
            <a:off x="9105900" y="2609850"/>
            <a:ext cx="2476500" cy="57150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Recruiter profile</a:t>
            </a:r>
          </a:p>
        </p:txBody>
      </p:sp>
      <p:sp>
        <p:nvSpPr>
          <p:cNvPr id="10" name="Rectangle 9">
            <a:extLst>
              <a:ext uri="{FF2B5EF4-FFF2-40B4-BE49-F238E27FC236}">
                <a16:creationId xmlns:a16="http://schemas.microsoft.com/office/drawing/2014/main" id="{B0664094-9C45-4F0C-88B4-35AA08967B20}"/>
              </a:ext>
            </a:extLst>
          </p:cNvPr>
          <p:cNvSpPr>
            <a:spLocks noGrp="1"/>
          </p:cNvSpPr>
          <p:nvPr/>
        </p:nvSpPr>
        <p:spPr>
          <a:xfrm>
            <a:off x="2952750" y="2333625"/>
            <a:ext cx="1524000" cy="247650"/>
          </a:xfrm>
          <a:prstGeom prst="rect">
            <a:avLst/>
          </a:prstGeom>
          <a:noFill/>
          <a:ln w="0">
            <a:noFill/>
          </a:ln>
        </p:spPr>
        <p:txBody>
          <a:bodyPr lIns="0" tIns="0" rIns="0" bIns="0" anchor="t">
            <a:noAutofit/>
          </a:bodyPr>
          <a:lstStyle>
            <a:defPPr>
              <a:defRPr sz="1500" b="0">
                <a:solidFill>
                  <a:srgbClr val="315BDF"/>
                </a:solidFill>
                <a:latin typeface="Arial"/>
                <a:ea typeface="Arial"/>
                <a:cs typeface="Arial"/>
              </a:defRPr>
            </a:defPPr>
          </a:lstStyle>
          <a:p>
            <a:pPr>
              <a:defRPr sz="1500" b="0">
                <a:solidFill>
                  <a:srgbClr val="315BDF"/>
                </a:solidFill>
                <a:latin typeface="Arial"/>
                <a:ea typeface="Arial"/>
                <a:cs typeface="Arial"/>
              </a:defRPr>
            </a:pPr>
            <a:r>
              <a:rPr sz="1500" b="0">
                <a:solidFill>
                  <a:srgbClr val="315BDF"/>
                </a:solidFill>
                <a:latin typeface="Arial"/>
                <a:ea typeface="Arial"/>
                <a:cs typeface="Arial"/>
              </a:rPr>
              <a:t>1 : 0..1</a:t>
            </a:r>
          </a:p>
        </p:txBody>
      </p:sp>
      <p:sp>
        <p:nvSpPr>
          <p:cNvPr id="11" name="Rectangle 10">
            <a:extLst>
              <a:ext uri="{FF2B5EF4-FFF2-40B4-BE49-F238E27FC236}">
                <a16:creationId xmlns:a16="http://schemas.microsoft.com/office/drawing/2014/main" id="{582BF535-B1E9-42CC-9A48-54D2BA9EA77A}"/>
              </a:ext>
            </a:extLst>
          </p:cNvPr>
          <p:cNvSpPr>
            <a:spLocks noGrp="1"/>
          </p:cNvSpPr>
          <p:nvPr/>
        </p:nvSpPr>
        <p:spPr>
          <a:xfrm>
            <a:off x="7715250" y="2333625"/>
            <a:ext cx="1524000" cy="247650"/>
          </a:xfrm>
          <a:prstGeom prst="rect">
            <a:avLst/>
          </a:prstGeom>
          <a:noFill/>
          <a:ln w="0">
            <a:noFill/>
          </a:ln>
        </p:spPr>
        <p:txBody>
          <a:bodyPr lIns="0" tIns="0" rIns="0" bIns="0" anchor="t">
            <a:noAutofit/>
          </a:bodyPr>
          <a:lstStyle>
            <a:defPPr>
              <a:defRPr sz="1500" b="0">
                <a:solidFill>
                  <a:srgbClr val="315BDF"/>
                </a:solidFill>
                <a:latin typeface="Arial"/>
                <a:ea typeface="Arial"/>
                <a:cs typeface="Arial"/>
              </a:defRPr>
            </a:defPPr>
          </a:lstStyle>
          <a:p>
            <a:pPr>
              <a:defRPr sz="1500" b="0">
                <a:solidFill>
                  <a:srgbClr val="315BDF"/>
                </a:solidFill>
                <a:latin typeface="Arial"/>
                <a:ea typeface="Arial"/>
                <a:cs typeface="Arial"/>
              </a:defRPr>
            </a:pPr>
            <a:r>
              <a:rPr sz="1500" b="0">
                <a:solidFill>
                  <a:srgbClr val="315BDF"/>
                </a:solidFill>
                <a:latin typeface="Arial"/>
                <a:ea typeface="Arial"/>
                <a:cs typeface="Arial"/>
              </a:rPr>
              <a:t>1 : 0..1</a:t>
            </a:r>
          </a:p>
        </p:txBody>
      </p:sp>
      <p:sp>
        <p:nvSpPr>
          <p:cNvPr id="12" name="Rectangle 11">
            <a:extLst>
              <a:ext uri="{FF2B5EF4-FFF2-40B4-BE49-F238E27FC236}">
                <a16:creationId xmlns:a16="http://schemas.microsoft.com/office/drawing/2014/main" id="{75EB6A19-B920-485F-AB5C-3DACFDA34879}"/>
              </a:ext>
            </a:extLst>
          </p:cNvPr>
          <p:cNvSpPr>
            <a:spLocks noGrp="1"/>
          </p:cNvSpPr>
          <p:nvPr/>
        </p:nvSpPr>
        <p:spPr>
          <a:xfrm>
            <a:off x="609600" y="4000500"/>
            <a:ext cx="171450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Skill</a:t>
            </a:r>
          </a:p>
        </p:txBody>
      </p:sp>
      <p:sp>
        <p:nvSpPr>
          <p:cNvPr id="13" name="Rectangle 12">
            <a:extLst>
              <a:ext uri="{FF2B5EF4-FFF2-40B4-BE49-F238E27FC236}">
                <a16:creationId xmlns:a16="http://schemas.microsoft.com/office/drawing/2014/main" id="{3630E9E9-AC6C-4056-9D48-C411C6A39B9D}"/>
              </a:ext>
            </a:extLst>
          </p:cNvPr>
          <p:cNvSpPr>
            <a:spLocks noGrp="1"/>
          </p:cNvSpPr>
          <p:nvPr/>
        </p:nvSpPr>
        <p:spPr>
          <a:xfrm>
            <a:off x="2619375" y="4000500"/>
            <a:ext cx="171450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Project</a:t>
            </a:r>
          </a:p>
        </p:txBody>
      </p:sp>
      <p:sp>
        <p:nvSpPr>
          <p:cNvPr id="14" name="Rectangle 13">
            <a:extLst>
              <a:ext uri="{FF2B5EF4-FFF2-40B4-BE49-F238E27FC236}">
                <a16:creationId xmlns:a16="http://schemas.microsoft.com/office/drawing/2014/main" id="{1DB7631A-0828-4FEF-AE4B-2389C57A617C}"/>
              </a:ext>
            </a:extLst>
          </p:cNvPr>
          <p:cNvSpPr>
            <a:spLocks noGrp="1"/>
          </p:cNvSpPr>
          <p:nvPr/>
        </p:nvSpPr>
        <p:spPr>
          <a:xfrm>
            <a:off x="609600" y="5391150"/>
            <a:ext cx="2143125"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Resume analysis</a:t>
            </a:r>
          </a:p>
        </p:txBody>
      </p:sp>
      <p:sp>
        <p:nvSpPr>
          <p:cNvPr id="15" name="Rectangle 14">
            <a:extLst>
              <a:ext uri="{FF2B5EF4-FFF2-40B4-BE49-F238E27FC236}">
                <a16:creationId xmlns:a16="http://schemas.microsoft.com/office/drawing/2014/main" id="{7A00170B-1757-468F-B817-FF2B8036EA16}"/>
              </a:ext>
            </a:extLst>
          </p:cNvPr>
          <p:cNvSpPr>
            <a:spLocks noGrp="1"/>
          </p:cNvSpPr>
          <p:nvPr/>
        </p:nvSpPr>
        <p:spPr>
          <a:xfrm>
            <a:off x="2952750" y="5391150"/>
            <a:ext cx="219075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Project technology</a:t>
            </a:r>
          </a:p>
        </p:txBody>
      </p:sp>
      <p:sp>
        <p:nvSpPr>
          <p:cNvPr id="16" name="Rectangle 15">
            <a:extLst>
              <a:ext uri="{FF2B5EF4-FFF2-40B4-BE49-F238E27FC236}">
                <a16:creationId xmlns:a16="http://schemas.microsoft.com/office/drawing/2014/main" id="{0B15B8C5-450D-4BBF-8037-FD321EF1E85F}"/>
              </a:ext>
            </a:extLst>
          </p:cNvPr>
          <p:cNvSpPr>
            <a:spLocks noGrp="1"/>
          </p:cNvSpPr>
          <p:nvPr/>
        </p:nvSpPr>
        <p:spPr>
          <a:xfrm>
            <a:off x="9239250" y="4000500"/>
            <a:ext cx="219075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Job</a:t>
            </a:r>
          </a:p>
        </p:txBody>
      </p:sp>
      <p:sp>
        <p:nvSpPr>
          <p:cNvPr id="17" name="Rectangle 16">
            <a:extLst>
              <a:ext uri="{FF2B5EF4-FFF2-40B4-BE49-F238E27FC236}">
                <a16:creationId xmlns:a16="http://schemas.microsoft.com/office/drawing/2014/main" id="{7A3863DB-1E37-4ACE-8AE9-C2C00917AE2F}"/>
              </a:ext>
            </a:extLst>
          </p:cNvPr>
          <p:cNvSpPr>
            <a:spLocks noGrp="1"/>
          </p:cNvSpPr>
          <p:nvPr/>
        </p:nvSpPr>
        <p:spPr>
          <a:xfrm>
            <a:off x="9239250" y="5391150"/>
            <a:ext cx="219075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Job skill</a:t>
            </a:r>
          </a:p>
        </p:txBody>
      </p:sp>
      <p:sp>
        <p:nvSpPr>
          <p:cNvPr id="18" name="Rectangle 17">
            <a:extLst>
              <a:ext uri="{FF2B5EF4-FFF2-40B4-BE49-F238E27FC236}">
                <a16:creationId xmlns:a16="http://schemas.microsoft.com/office/drawing/2014/main" id="{09873169-45FB-4281-8F59-A9546A3EAF3B}"/>
              </a:ext>
            </a:extLst>
          </p:cNvPr>
          <p:cNvSpPr>
            <a:spLocks noGrp="1"/>
          </p:cNvSpPr>
          <p:nvPr/>
        </p:nvSpPr>
        <p:spPr>
          <a:xfrm>
            <a:off x="5867400" y="4000500"/>
            <a:ext cx="219075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Application</a:t>
            </a:r>
          </a:p>
        </p:txBody>
      </p:sp>
      <p:sp>
        <p:nvSpPr>
          <p:cNvPr id="19" name="Rectangle 18">
            <a:extLst>
              <a:ext uri="{FF2B5EF4-FFF2-40B4-BE49-F238E27FC236}">
                <a16:creationId xmlns:a16="http://schemas.microsoft.com/office/drawing/2014/main" id="{CB29F990-7DCB-49F3-9970-EFAA2CA0A3BD}"/>
              </a:ext>
            </a:extLst>
          </p:cNvPr>
          <p:cNvSpPr>
            <a:spLocks noGrp="1"/>
          </p:cNvSpPr>
          <p:nvPr/>
        </p:nvSpPr>
        <p:spPr>
          <a:xfrm>
            <a:off x="5867400" y="5391150"/>
            <a:ext cx="2190750" cy="552450"/>
          </a:xfrm>
          <a:prstGeom prst="rect">
            <a:avLst/>
          </a:prstGeom>
          <a:solidFill>
            <a:srgbClr val="FFFFFF"/>
          </a:solidFill>
          <a:ln w="14288">
            <a:solidFill>
              <a:srgbClr val="D5DDE8"/>
            </a:solidFill>
          </a:ln>
        </p:spPr>
        <p:txBody>
          <a:bodyPr lIns="133350" tIns="133350" rIns="133350" bIns="133350" anchor="ctr">
            <a:noAutofit/>
          </a:bodyPr>
          <a:lstStyle>
            <a:defPPr>
              <a:defRPr sz="1725">
                <a:solidFill>
                  <a:srgbClr val="15283F"/>
                </a:solidFill>
                <a:latin typeface="Arial"/>
                <a:ea typeface="Arial"/>
                <a:cs typeface="Arial"/>
              </a:defRPr>
            </a:defPPr>
          </a:lstStyle>
          <a:p>
            <a:pPr>
              <a:defRPr sz="1725">
                <a:solidFill>
                  <a:srgbClr val="15283F"/>
                </a:solidFill>
                <a:latin typeface="Arial"/>
                <a:ea typeface="Arial"/>
                <a:cs typeface="Arial"/>
              </a:defRPr>
            </a:pPr>
            <a:r>
              <a:rPr sz="1725">
                <a:solidFill>
                  <a:srgbClr val="15283F"/>
                </a:solidFill>
                <a:latin typeface="Arial"/>
                <a:ea typeface="Arial"/>
                <a:cs typeface="Arial"/>
              </a:rPr>
              <a:t>Status history</a:t>
            </a:r>
          </a:p>
        </p:txBody>
      </p:sp>
      <p:sp>
        <p:nvSpPr>
          <p:cNvPr id="29" name="Rectangle 28">
            <a:extLst>
              <a:ext uri="{FF2B5EF4-FFF2-40B4-BE49-F238E27FC236}">
                <a16:creationId xmlns:a16="http://schemas.microsoft.com/office/drawing/2014/main" id="{74D3C724-E1F0-431F-A6EF-038AB861FB0C}"/>
              </a:ext>
            </a:extLst>
          </p:cNvPr>
          <p:cNvSpPr>
            <a:spLocks noGrp="1"/>
          </p:cNvSpPr>
          <p:nvPr/>
        </p:nvSpPr>
        <p:spPr>
          <a:xfrm>
            <a:off x="4648200" y="2743200"/>
            <a:ext cx="3981450" cy="714375"/>
          </a:xfrm>
          <a:prstGeom prst="rect">
            <a:avLst/>
          </a:prstGeom>
          <a:noFill/>
          <a:ln w="0">
            <a:noFill/>
          </a:ln>
        </p:spPr>
        <p:txBody>
          <a:bodyPr lIns="0" tIns="0" rIns="0" bIns="0" anchor="t">
            <a:noAutofit/>
          </a:bodyPr>
          <a:lstStyle>
            <a:defPPr>
              <a:defRPr sz="1650" b="1">
                <a:solidFill>
                  <a:srgbClr val="315BDF"/>
                </a:solidFill>
                <a:latin typeface="Arial"/>
                <a:ea typeface="Arial"/>
                <a:cs typeface="Arial"/>
              </a:defRPr>
            </a:defPPr>
          </a:lstStyle>
          <a:p>
            <a:pPr>
              <a:defRPr sz="1650" b="1">
                <a:solidFill>
                  <a:srgbClr val="315BDF"/>
                </a:solidFill>
                <a:latin typeface="Arial"/>
                <a:ea typeface="Arial"/>
                <a:cs typeface="Arial"/>
              </a:defRPr>
            </a:pPr>
            <a:r>
              <a:rPr sz="1650" b="1">
                <a:solidFill>
                  <a:srgbClr val="315BDF"/>
                </a:solidFill>
                <a:latin typeface="Arial"/>
                <a:ea typeface="Arial"/>
                <a:cs typeface="Arial"/>
              </a:rPr>
              <a:t>Other links: 1 : 0..N</a:t>
            </a:r>
          </a:p>
          <a:p>
            <a:pPr>
              <a:defRPr sz="1650" b="1">
                <a:solidFill>
                  <a:srgbClr val="315BDF"/>
                </a:solidFill>
                <a:latin typeface="Arial"/>
                <a:ea typeface="Arial"/>
                <a:cs typeface="Arial"/>
              </a:defRPr>
            </a:pPr>
            <a:r>
              <a:rPr sz="1650" b="1">
                <a:solidFill>
                  <a:srgbClr val="315BDF"/>
                </a:solidFill>
                <a:latin typeface="Arial"/>
                <a:ea typeface="Arial"/>
                <a:cs typeface="Arial"/>
              </a:rPr>
              <a:t>Developer and Job: M : N via Application</a:t>
            </a:r>
          </a:p>
        </p:txBody>
      </p:sp>
      <p:pic>
        <p:nvPicPr>
          <p:cNvPr id="33" name="Picture 32">
            <a:extLst>
              <a:ext uri="{FF2B5EF4-FFF2-40B4-BE49-F238E27FC236}">
                <a16:creationId xmlns:a16="http://schemas.microsoft.com/office/drawing/2014/main" id="{49CE8C89-9DA9-F09B-ECBE-EBB56F066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4" y="0"/>
            <a:ext cx="12172945" cy="6858000"/>
          </a:xfrm>
          <a:prstGeom prst="rect">
            <a:avLst/>
          </a:prstGeom>
        </p:spPr>
      </p:pic>
    </p:spTree>
    <p:extLst>
      <p:ext uri="{BB962C8B-B14F-4D97-AF65-F5344CB8AC3E}">
        <p14:creationId xmlns:p14="http://schemas.microsoft.com/office/powerpoint/2010/main" val="1944780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2D35A2B2-F91D-47DC-B682-9314E93BFD34}"/>
              </a:ext>
            </a:extLst>
          </p:cNvPr>
          <p:cNvCxnSpPr>
            <a:stCxn id="9" idx="3"/>
            <a:endCxn id="10" idx="1"/>
          </p:cNvCxnSpPr>
          <p:nvPr/>
        </p:nvCxnSpPr>
        <p:spPr>
          <a:xfrm>
            <a:off x="7486650" y="5076825"/>
            <a:ext cx="304800" cy="0"/>
          </a:xfrm>
          <a:prstGeom prst="straightConnector1">
            <a:avLst/>
          </a:prstGeom>
          <a:ln w="19050">
            <a:solidFill>
              <a:srgbClr val="315BDF"/>
            </a:solidFill>
            <a:headEnd type="none" w="med" len="med"/>
            <a:tailEnd type="none" w="med" len="med"/>
          </a:ln>
        </p:spPr>
      </p:cxnSp>
      <p:cxnSp>
        <p:nvCxnSpPr>
          <p:cNvPr id="14" name="Connector: Elbow 13">
            <a:extLst>
              <a:ext uri="{FF2B5EF4-FFF2-40B4-BE49-F238E27FC236}">
                <a16:creationId xmlns:a16="http://schemas.microsoft.com/office/drawing/2014/main" id="{FCD1FC3E-7D83-4D1B-B346-561467753726}"/>
              </a:ext>
            </a:extLst>
          </p:cNvPr>
          <p:cNvCxnSpPr>
            <a:stCxn id="6" idx="2"/>
            <a:endCxn id="9" idx="0"/>
          </p:cNvCxnSpPr>
          <p:nvPr/>
        </p:nvCxnSpPr>
        <p:spPr>
          <a:xfrm>
            <a:off x="3467100" y="3952875"/>
            <a:ext cx="2376488" cy="304800"/>
          </a:xfrm>
          <a:prstGeom prst="bentConnector4">
            <a:avLst>
              <a:gd name="adj1" fmla="val 0"/>
              <a:gd name="adj2" fmla="val 50000"/>
            </a:avLst>
          </a:prstGeom>
          <a:ln w="19050">
            <a:solidFill>
              <a:srgbClr val="315BDF"/>
            </a:solidFill>
            <a:headEnd type="none" w="med" len="med"/>
            <a:tailEnd type="none" w="med" len="med"/>
          </a:ln>
        </p:spPr>
      </p:cxnSp>
      <p:cxnSp>
        <p:nvCxnSpPr>
          <p:cNvPr id="13" name="Connector: Elbow 12">
            <a:extLst>
              <a:ext uri="{FF2B5EF4-FFF2-40B4-BE49-F238E27FC236}">
                <a16:creationId xmlns:a16="http://schemas.microsoft.com/office/drawing/2014/main" id="{DE8C8DD5-1FDF-4292-B64D-3F6BC52F4019}"/>
              </a:ext>
            </a:extLst>
          </p:cNvPr>
          <p:cNvCxnSpPr>
            <a:stCxn id="6" idx="2"/>
            <a:endCxn id="8" idx="0"/>
          </p:cNvCxnSpPr>
          <p:nvPr/>
        </p:nvCxnSpPr>
        <p:spPr>
          <a:xfrm flipH="1">
            <a:off x="2252663" y="3952875"/>
            <a:ext cx="1214438" cy="304800"/>
          </a:xfrm>
          <a:prstGeom prst="bentConnector4">
            <a:avLst>
              <a:gd name="adj1" fmla="val 0"/>
              <a:gd name="adj2" fmla="val 50000"/>
            </a:avLst>
          </a:prstGeom>
          <a:ln w="19050">
            <a:solidFill>
              <a:srgbClr val="315BDF"/>
            </a:solidFill>
            <a:headEnd type="none" w="med" len="med"/>
            <a:tailEnd type="none" w="med" len="med"/>
          </a:ln>
        </p:spPr>
      </p:cxnSp>
      <p:cxnSp>
        <p:nvCxnSpPr>
          <p:cNvPr id="12" name="Connector: Elbow 11">
            <a:extLst>
              <a:ext uri="{FF2B5EF4-FFF2-40B4-BE49-F238E27FC236}">
                <a16:creationId xmlns:a16="http://schemas.microsoft.com/office/drawing/2014/main" id="{23F77954-5199-4AF9-A8B3-8ED5D008784F}"/>
              </a:ext>
            </a:extLst>
          </p:cNvPr>
          <p:cNvCxnSpPr>
            <a:stCxn id="5" idx="2"/>
            <a:endCxn id="7" idx="0"/>
          </p:cNvCxnSpPr>
          <p:nvPr/>
        </p:nvCxnSpPr>
        <p:spPr>
          <a:xfrm>
            <a:off x="6096000" y="2476500"/>
            <a:ext cx="3048000" cy="219075"/>
          </a:xfrm>
          <a:prstGeom prst="bentConnector4">
            <a:avLst>
              <a:gd name="adj1" fmla="val 0"/>
              <a:gd name="adj2" fmla="val 50000"/>
            </a:avLst>
          </a:prstGeom>
          <a:ln w="19050">
            <a:solidFill>
              <a:srgbClr val="315BDF"/>
            </a:solidFill>
            <a:headEnd type="none" w="med" len="med"/>
            <a:tailEnd type="none" w="med" len="med"/>
          </a:ln>
        </p:spPr>
      </p:cxnSp>
      <p:cxnSp>
        <p:nvCxnSpPr>
          <p:cNvPr id="11" name="Connector: Elbow 10">
            <a:extLst>
              <a:ext uri="{FF2B5EF4-FFF2-40B4-BE49-F238E27FC236}">
                <a16:creationId xmlns:a16="http://schemas.microsoft.com/office/drawing/2014/main" id="{B5B919D0-39FD-4E5B-98FD-3CD32EA4CE56}"/>
              </a:ext>
            </a:extLst>
          </p:cNvPr>
          <p:cNvCxnSpPr>
            <a:stCxn id="5" idx="2"/>
            <a:endCxn id="6" idx="0"/>
          </p:cNvCxnSpPr>
          <p:nvPr/>
        </p:nvCxnSpPr>
        <p:spPr>
          <a:xfrm flipH="1">
            <a:off x="3467100" y="2476500"/>
            <a:ext cx="2628900" cy="219075"/>
          </a:xfrm>
          <a:prstGeom prst="bentConnector4">
            <a:avLst>
              <a:gd name="adj1" fmla="val 0"/>
              <a:gd name="adj2" fmla="val 50000"/>
            </a:avLst>
          </a:prstGeom>
          <a:ln w="19050">
            <a:solidFill>
              <a:srgbClr val="315BDF"/>
            </a:solidFill>
            <a:headEnd type="none" w="med" len="med"/>
            <a:tailEnd type="none" w="med" len="med"/>
          </a:ln>
        </p:spPr>
      </p:cxnSp>
      <p:sp>
        <p:nvSpPr>
          <p:cNvPr id="17" name="Rectangle 16">
            <a:extLst>
              <a:ext uri="{FF2B5EF4-FFF2-40B4-BE49-F238E27FC236}">
                <a16:creationId xmlns:a16="http://schemas.microsoft.com/office/drawing/2014/main" id="{8DBDDF89-C7D3-46D0-9C4C-46ADE0DFB35F}"/>
              </a:ext>
            </a:extLst>
          </p:cNvPr>
          <p:cNvSpPr>
            <a:spLocks noGrp="1"/>
          </p:cNvSpPr>
          <p:nvPr/>
        </p:nvSpPr>
        <p:spPr>
          <a:xfrm>
            <a:off x="609600" y="304800"/>
            <a:ext cx="10477500" cy="238125"/>
          </a:xfrm>
          <a:prstGeom prst="rect">
            <a:avLst/>
          </a:prstGeom>
          <a:noFill/>
          <a:ln w="0">
            <a:noFill/>
          </a:ln>
        </p:spPr>
        <p:txBody>
          <a:bodyPr lIns="0" tIns="0" rIns="0" bIns="0" anchor="t">
            <a:noAutofit/>
          </a:bodyPr>
          <a:lstStyle>
            <a:defPPr>
              <a:defRPr sz="1200" b="1">
                <a:solidFill>
                  <a:srgbClr val="315BDF"/>
                </a:solidFill>
                <a:latin typeface="Arial"/>
                <a:ea typeface="Arial"/>
                <a:cs typeface="Arial"/>
              </a:defRPr>
            </a:defPPr>
          </a:lstStyle>
          <a:p>
            <a:pPr>
              <a:defRPr sz="1200" b="1">
                <a:solidFill>
                  <a:srgbClr val="315BDF"/>
                </a:solidFill>
                <a:latin typeface="Arial"/>
                <a:ea typeface="Arial"/>
                <a:cs typeface="Arial"/>
              </a:defRPr>
            </a:pPr>
            <a:r>
              <a:rPr sz="1200" b="1">
                <a:solidFill>
                  <a:srgbClr val="315BDF"/>
                </a:solidFill>
                <a:latin typeface="Arial"/>
                <a:ea typeface="Arial"/>
                <a:cs typeface="Arial"/>
              </a:rPr>
              <a:t>03 / DATABASE DESIGN</a:t>
            </a:r>
          </a:p>
        </p:txBody>
      </p:sp>
      <p:sp>
        <p:nvSpPr>
          <p:cNvPr id="2" name="Rectangle 1">
            <a:extLst>
              <a:ext uri="{FF2B5EF4-FFF2-40B4-BE49-F238E27FC236}">
                <a16:creationId xmlns:a16="http://schemas.microsoft.com/office/drawing/2014/main" id="{F365C6C3-07A8-4538-A624-D8AF66DB50BF}"/>
              </a:ext>
            </a:extLst>
          </p:cNvPr>
          <p:cNvSpPr>
            <a:spLocks noGrp="1"/>
          </p:cNvSpPr>
          <p:nvPr/>
        </p:nvSpPr>
        <p:spPr>
          <a:xfrm>
            <a:off x="609600" y="742950"/>
            <a:ext cx="10972800" cy="762000"/>
          </a:xfrm>
          <a:prstGeom prst="rect">
            <a:avLst/>
          </a:prstGeom>
          <a:noFill/>
          <a:ln w="0">
            <a:noFill/>
          </a:ln>
        </p:spPr>
        <p:txBody>
          <a:bodyPr lIns="0" tIns="0" rIns="0" bIns="0" anchor="t">
            <a:noAutofit/>
          </a:bodyPr>
          <a:lstStyle>
            <a:defPPr>
              <a:defRPr sz="3150" b="1">
                <a:solidFill>
                  <a:srgbClr val="15283F"/>
                </a:solidFill>
                <a:latin typeface="Arial"/>
                <a:ea typeface="Arial"/>
                <a:cs typeface="Arial"/>
              </a:defRPr>
            </a:defPPr>
          </a:lstStyle>
          <a:p>
            <a:pPr>
              <a:defRPr sz="3150" b="1">
                <a:solidFill>
                  <a:srgbClr val="15283F"/>
                </a:solidFill>
                <a:latin typeface="Arial"/>
                <a:ea typeface="Arial"/>
                <a:cs typeface="Arial"/>
              </a:defRPr>
            </a:pPr>
            <a:r>
              <a:rPr sz="3150" b="1">
                <a:solidFill>
                  <a:srgbClr val="15283F"/>
                </a:solidFill>
                <a:latin typeface="Arial"/>
                <a:ea typeface="Arial"/>
                <a:cs typeface="Arial"/>
              </a:rPr>
              <a:t>Relational schema: accounts and portfolios</a:t>
            </a:r>
          </a:p>
        </p:txBody>
      </p:sp>
      <p:sp>
        <p:nvSpPr>
          <p:cNvPr id="3" name="Rectangle 2">
            <a:extLst>
              <a:ext uri="{FF2B5EF4-FFF2-40B4-BE49-F238E27FC236}">
                <a16:creationId xmlns:a16="http://schemas.microsoft.com/office/drawing/2014/main" id="{490131D0-E8C2-47CD-98F0-E9B655E55CA8}"/>
              </a:ext>
            </a:extLst>
          </p:cNvPr>
          <p:cNvSpPr>
            <a:spLocks noGrp="1"/>
          </p:cNvSpPr>
          <p:nvPr/>
        </p:nvSpPr>
        <p:spPr>
          <a:xfrm>
            <a:off x="609600" y="6486525"/>
            <a:ext cx="5715000" cy="228600"/>
          </a:xfrm>
          <a:prstGeom prst="rect">
            <a:avLst/>
          </a:prstGeom>
          <a:noFill/>
          <a:ln w="0">
            <a:noFill/>
          </a:ln>
        </p:spPr>
        <p:txBody>
          <a:bodyPr lIns="0" tIns="0" rIns="0" bIns="0" anchor="t">
            <a:noAutofit/>
          </a:bodyPr>
          <a:lstStyle>
            <a:defPPr>
              <a:defRPr sz="1050" b="0">
                <a:solidFill>
                  <a:srgbClr val="576980"/>
                </a:solidFill>
                <a:latin typeface="Arial"/>
                <a:ea typeface="Arial"/>
                <a:cs typeface="Arial"/>
              </a:defRPr>
            </a:defPPr>
          </a:lstStyle>
          <a:p>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Rectangle 3">
            <a:extLst>
              <a:ext uri="{FF2B5EF4-FFF2-40B4-BE49-F238E27FC236}">
                <a16:creationId xmlns:a16="http://schemas.microsoft.com/office/drawing/2014/main" id="{2EBB3A27-A526-4962-A558-E78644C169A5}"/>
              </a:ext>
            </a:extLst>
          </p:cNvPr>
          <p:cNvSpPr>
            <a:spLocks noGrp="1"/>
          </p:cNvSpPr>
          <p:nvPr/>
        </p:nvSpPr>
        <p:spPr>
          <a:xfrm>
            <a:off x="10953750" y="6457950"/>
            <a:ext cx="628650" cy="247650"/>
          </a:xfrm>
          <a:prstGeom prst="rect">
            <a:avLst/>
          </a:prstGeom>
          <a:noFill/>
          <a:ln w="0">
            <a:noFill/>
          </a:ln>
        </p:spPr>
        <p:txBody>
          <a:bodyPr lIns="0" tIns="0" rIns="0" bIns="0" anchor="t">
            <a:noAutofit/>
          </a:bodyPr>
          <a:lstStyle>
            <a:defPPr>
              <a:defRPr sz="1200" b="0">
                <a:solidFill>
                  <a:srgbClr val="576980"/>
                </a:solidFill>
                <a:latin typeface="Arial"/>
                <a:ea typeface="Arial"/>
                <a:cs typeface="Arial"/>
              </a:defRPr>
            </a:defPPr>
          </a:lstStyle>
          <a:p>
            <a:pPr>
              <a:defRPr sz="1200" b="0">
                <a:solidFill>
                  <a:srgbClr val="576980"/>
                </a:solidFill>
                <a:latin typeface="Arial"/>
                <a:ea typeface="Arial"/>
                <a:cs typeface="Arial"/>
              </a:defRPr>
            </a:pPr>
            <a:r>
              <a:rPr sz="1200" b="0">
                <a:solidFill>
                  <a:srgbClr val="576980"/>
                </a:solidFill>
                <a:latin typeface="Arial"/>
                <a:ea typeface="Arial"/>
                <a:cs typeface="Arial"/>
              </a:rPr>
              <a:t>06</a:t>
            </a:r>
          </a:p>
        </p:txBody>
      </p:sp>
      <p:sp>
        <p:nvSpPr>
          <p:cNvPr id="5" name="Rectangle 4">
            <a:extLst>
              <a:ext uri="{FF2B5EF4-FFF2-40B4-BE49-F238E27FC236}">
                <a16:creationId xmlns:a16="http://schemas.microsoft.com/office/drawing/2014/main" id="{BC5DA949-192C-40A8-B71B-3FC62EA66F43}"/>
              </a:ext>
            </a:extLst>
          </p:cNvPr>
          <p:cNvSpPr>
            <a:spLocks noGrp="1"/>
          </p:cNvSpPr>
          <p:nvPr/>
        </p:nvSpPr>
        <p:spPr>
          <a:xfrm>
            <a:off x="609600" y="1714500"/>
            <a:ext cx="10972800" cy="762000"/>
          </a:xfrm>
          <a:prstGeom prst="rect">
            <a:avLst/>
          </a:prstGeom>
          <a:solidFill>
            <a:srgbClr val="FFFFFF"/>
          </a:solidFill>
          <a:ln w="14288">
            <a:solidFill>
              <a:srgbClr val="D5DDE8"/>
            </a:solidFill>
          </a:ln>
        </p:spPr>
        <p:txBody>
          <a:bodyPr lIns="133350" tIns="133350" rIns="133350" bIns="133350" anchor="ctr">
            <a:noAutofit/>
          </a:bodyPr>
          <a:lstStyle>
            <a:defPPr>
              <a:defRPr sz="1500">
                <a:solidFill>
                  <a:srgbClr val="15283F"/>
                </a:solidFill>
                <a:latin typeface="Arial"/>
                <a:ea typeface="Arial"/>
                <a:cs typeface="Arial"/>
              </a:defRPr>
            </a:defPPr>
          </a:lstStyle>
          <a:p>
            <a:pPr>
              <a:defRPr sz="1500">
                <a:solidFill>
                  <a:srgbClr val="15283F"/>
                </a:solidFill>
                <a:latin typeface="Arial"/>
                <a:ea typeface="Arial"/>
                <a:cs typeface="Arial"/>
              </a:defRPr>
            </a:pPr>
            <a:r>
              <a:rPr sz="1500">
                <a:solidFill>
                  <a:srgbClr val="15283F"/>
                </a:solidFill>
                <a:latin typeface="Arial"/>
                <a:ea typeface="Arial"/>
                <a:cs typeface="Arial"/>
              </a:rPr>
              <a:t>users</a:t>
            </a:r>
          </a:p>
          <a:p>
            <a:pPr>
              <a:defRPr sz="1500">
                <a:solidFill>
                  <a:srgbClr val="15283F"/>
                </a:solidFill>
                <a:latin typeface="Arial"/>
                <a:ea typeface="Arial"/>
                <a:cs typeface="Arial"/>
              </a:defRPr>
            </a:pPr>
            <a:r>
              <a:rPr sz="1500">
                <a:solidFill>
                  <a:srgbClr val="15283F"/>
                </a:solidFill>
                <a:latin typeface="Arial"/>
                <a:ea typeface="Arial"/>
                <a:cs typeface="Arial"/>
              </a:rPr>
              <a:t>id PK, name, email UK, password_hash, role, created_at</a:t>
            </a:r>
          </a:p>
        </p:txBody>
      </p:sp>
      <p:sp>
        <p:nvSpPr>
          <p:cNvPr id="6" name="Rectangle 5">
            <a:extLst>
              <a:ext uri="{FF2B5EF4-FFF2-40B4-BE49-F238E27FC236}">
                <a16:creationId xmlns:a16="http://schemas.microsoft.com/office/drawing/2014/main" id="{7FDA6B41-B40D-4D15-856F-A5DD88C2BEED}"/>
              </a:ext>
            </a:extLst>
          </p:cNvPr>
          <p:cNvSpPr>
            <a:spLocks noGrp="1"/>
          </p:cNvSpPr>
          <p:nvPr/>
        </p:nvSpPr>
        <p:spPr>
          <a:xfrm>
            <a:off x="609600" y="2695575"/>
            <a:ext cx="5715000" cy="1257300"/>
          </a:xfrm>
          <a:prstGeom prst="rect">
            <a:avLst/>
          </a:prstGeom>
          <a:solidFill>
            <a:srgbClr val="FFFFFF"/>
          </a:solidFill>
          <a:ln w="14288">
            <a:solidFill>
              <a:srgbClr val="D5DDE8"/>
            </a:solidFill>
          </a:ln>
        </p:spPr>
        <p:txBody>
          <a:bodyPr lIns="133350" tIns="133350" rIns="133350" bIns="133350" anchor="ctr">
            <a:noAutofit/>
          </a:bodyPr>
          <a:lstStyle>
            <a:defPPr>
              <a:defRPr sz="1500">
                <a:solidFill>
                  <a:srgbClr val="15283F"/>
                </a:solidFill>
                <a:latin typeface="Arial"/>
                <a:ea typeface="Arial"/>
                <a:cs typeface="Arial"/>
              </a:defRPr>
            </a:defPPr>
          </a:lstStyle>
          <a:p>
            <a:pPr>
              <a:defRPr sz="1500">
                <a:solidFill>
                  <a:srgbClr val="15283F"/>
                </a:solidFill>
                <a:latin typeface="Arial"/>
                <a:ea typeface="Arial"/>
                <a:cs typeface="Arial"/>
              </a:defRPr>
            </a:pPr>
            <a:r>
              <a:rPr sz="1500">
                <a:solidFill>
                  <a:srgbClr val="15283F"/>
                </a:solidFill>
                <a:latin typeface="Arial"/>
                <a:ea typeface="Arial"/>
                <a:cs typeface="Arial"/>
              </a:rPr>
              <a:t>developer_profiles</a:t>
            </a:r>
          </a:p>
          <a:p>
            <a:pPr>
              <a:defRPr sz="1500">
                <a:solidFill>
                  <a:srgbClr val="15283F"/>
                </a:solidFill>
                <a:latin typeface="Arial"/>
                <a:ea typeface="Arial"/>
                <a:cs typeface="Arial"/>
              </a:defRPr>
            </a:pPr>
            <a:r>
              <a:rPr sz="1500">
                <a:solidFill>
                  <a:srgbClr val="15283F"/>
                </a:solidFill>
                <a:latin typeface="Arial"/>
                <a:ea typeface="Arial"/>
                <a:cs typeface="Arial"/>
              </a:rPr>
              <a:t>id PK, user_id FK/UK, bio, phone, location, education, experience, github_url, linkedin_url, resume_path</a:t>
            </a:r>
          </a:p>
        </p:txBody>
      </p:sp>
      <p:sp>
        <p:nvSpPr>
          <p:cNvPr id="7" name="Rectangle 6">
            <a:extLst>
              <a:ext uri="{FF2B5EF4-FFF2-40B4-BE49-F238E27FC236}">
                <a16:creationId xmlns:a16="http://schemas.microsoft.com/office/drawing/2014/main" id="{C76BA229-7F76-47BA-B44D-232B35B9F71E}"/>
              </a:ext>
            </a:extLst>
          </p:cNvPr>
          <p:cNvSpPr>
            <a:spLocks noGrp="1"/>
          </p:cNvSpPr>
          <p:nvPr/>
        </p:nvSpPr>
        <p:spPr>
          <a:xfrm>
            <a:off x="6705600" y="2695575"/>
            <a:ext cx="4876800" cy="1257300"/>
          </a:xfrm>
          <a:prstGeom prst="rect">
            <a:avLst/>
          </a:prstGeom>
          <a:solidFill>
            <a:srgbClr val="FFFFFF"/>
          </a:solidFill>
          <a:ln w="14288">
            <a:solidFill>
              <a:srgbClr val="D5DDE8"/>
            </a:solidFill>
          </a:ln>
        </p:spPr>
        <p:txBody>
          <a:bodyPr lIns="133350" tIns="133350" rIns="133350" bIns="133350" anchor="ctr">
            <a:noAutofit/>
          </a:bodyPr>
          <a:lstStyle>
            <a:defPPr>
              <a:defRPr sz="1500">
                <a:solidFill>
                  <a:srgbClr val="15283F"/>
                </a:solidFill>
                <a:latin typeface="Arial"/>
                <a:ea typeface="Arial"/>
                <a:cs typeface="Arial"/>
              </a:defRPr>
            </a:defPPr>
          </a:lstStyle>
          <a:p>
            <a:pPr>
              <a:defRPr sz="1500">
                <a:solidFill>
                  <a:srgbClr val="15283F"/>
                </a:solidFill>
                <a:latin typeface="Arial"/>
                <a:ea typeface="Arial"/>
                <a:cs typeface="Arial"/>
              </a:defRPr>
            </a:pPr>
            <a:r>
              <a:rPr sz="1500">
                <a:solidFill>
                  <a:srgbClr val="15283F"/>
                </a:solidFill>
                <a:latin typeface="Arial"/>
                <a:ea typeface="Arial"/>
                <a:cs typeface="Arial"/>
              </a:rPr>
              <a:t>recruiter_profiles</a:t>
            </a:r>
          </a:p>
          <a:p>
            <a:pPr>
              <a:defRPr sz="1500">
                <a:solidFill>
                  <a:srgbClr val="15283F"/>
                </a:solidFill>
                <a:latin typeface="Arial"/>
                <a:ea typeface="Arial"/>
                <a:cs typeface="Arial"/>
              </a:defRPr>
            </a:pPr>
            <a:r>
              <a:rPr sz="1500">
                <a:solidFill>
                  <a:srgbClr val="15283F"/>
                </a:solidFill>
                <a:latin typeface="Arial"/>
                <a:ea typeface="Arial"/>
                <a:cs typeface="Arial"/>
              </a:rPr>
              <a:t>id PK, user_id FK/UK, company_name, company_description, location, website</a:t>
            </a:r>
          </a:p>
        </p:txBody>
      </p:sp>
      <p:sp>
        <p:nvSpPr>
          <p:cNvPr id="8" name="Rectangle 7">
            <a:extLst>
              <a:ext uri="{FF2B5EF4-FFF2-40B4-BE49-F238E27FC236}">
                <a16:creationId xmlns:a16="http://schemas.microsoft.com/office/drawing/2014/main" id="{F5403CA2-5FE1-41D2-9CB9-D465291F068E}"/>
              </a:ext>
            </a:extLst>
          </p:cNvPr>
          <p:cNvSpPr>
            <a:spLocks noGrp="1"/>
          </p:cNvSpPr>
          <p:nvPr/>
        </p:nvSpPr>
        <p:spPr>
          <a:xfrm>
            <a:off x="609600" y="4257675"/>
            <a:ext cx="3286125" cy="1638300"/>
          </a:xfrm>
          <a:prstGeom prst="rect">
            <a:avLst/>
          </a:prstGeom>
          <a:solidFill>
            <a:srgbClr val="FFFFFF"/>
          </a:solidFill>
          <a:ln w="14288">
            <a:solidFill>
              <a:srgbClr val="D5DDE8"/>
            </a:solidFill>
          </a:ln>
        </p:spPr>
        <p:txBody>
          <a:bodyPr lIns="133350" tIns="133350" rIns="133350" bIns="133350" anchor="ctr">
            <a:noAutofit/>
          </a:bodyPr>
          <a:lstStyle>
            <a:defPPr>
              <a:defRPr sz="1500">
                <a:solidFill>
                  <a:srgbClr val="15283F"/>
                </a:solidFill>
                <a:latin typeface="Arial"/>
                <a:ea typeface="Arial"/>
                <a:cs typeface="Arial"/>
              </a:defRPr>
            </a:defPPr>
          </a:lstStyle>
          <a:p>
            <a:pPr>
              <a:defRPr sz="1500">
                <a:solidFill>
                  <a:srgbClr val="15283F"/>
                </a:solidFill>
                <a:latin typeface="Arial"/>
                <a:ea typeface="Arial"/>
                <a:cs typeface="Arial"/>
              </a:defRPr>
            </a:pPr>
            <a:r>
              <a:rPr sz="1500">
                <a:solidFill>
                  <a:srgbClr val="15283F"/>
                </a:solidFill>
                <a:latin typeface="Arial"/>
                <a:ea typeface="Arial"/>
                <a:cs typeface="Arial"/>
              </a:rPr>
              <a:t>skills</a:t>
            </a:r>
          </a:p>
          <a:p>
            <a:pPr>
              <a:defRPr sz="1500">
                <a:solidFill>
                  <a:srgbClr val="15283F"/>
                </a:solidFill>
                <a:latin typeface="Arial"/>
                <a:ea typeface="Arial"/>
                <a:cs typeface="Arial"/>
              </a:defRPr>
            </a:pPr>
            <a:r>
              <a:rPr sz="1500">
                <a:solidFill>
                  <a:srgbClr val="15283F"/>
                </a:solidFill>
                <a:latin typeface="Arial"/>
                <a:ea typeface="Arial"/>
                <a:cs typeface="Arial"/>
              </a:rPr>
              <a:t>id PK, developer_id FK, name, level, years</a:t>
            </a:r>
          </a:p>
          <a:p>
            <a:pPr>
              <a:defRPr sz="1500">
                <a:solidFill>
                  <a:srgbClr val="15283F"/>
                </a:solidFill>
                <a:latin typeface="Arial"/>
                <a:ea typeface="Arial"/>
                <a:cs typeface="Arial"/>
              </a:defRPr>
            </a:pPr>
            <a:r>
              <a:rPr sz="1500">
                <a:solidFill>
                  <a:srgbClr val="15283F"/>
                </a:solidFill>
                <a:latin typeface="Arial"/>
                <a:ea typeface="Arial"/>
                <a:cs typeface="Arial"/>
              </a:rPr>
              <a:t>UK (developer_id, name)</a:t>
            </a:r>
          </a:p>
        </p:txBody>
      </p:sp>
      <p:sp>
        <p:nvSpPr>
          <p:cNvPr id="9" name="Rectangle 8">
            <a:extLst>
              <a:ext uri="{FF2B5EF4-FFF2-40B4-BE49-F238E27FC236}">
                <a16:creationId xmlns:a16="http://schemas.microsoft.com/office/drawing/2014/main" id="{D8D3FDF6-8083-4554-BD52-DC20EEB1BA65}"/>
              </a:ext>
            </a:extLst>
          </p:cNvPr>
          <p:cNvSpPr>
            <a:spLocks noGrp="1"/>
          </p:cNvSpPr>
          <p:nvPr/>
        </p:nvSpPr>
        <p:spPr>
          <a:xfrm>
            <a:off x="4200525" y="4257675"/>
            <a:ext cx="3286125" cy="1638300"/>
          </a:xfrm>
          <a:prstGeom prst="rect">
            <a:avLst/>
          </a:prstGeom>
          <a:solidFill>
            <a:srgbClr val="FFFFFF"/>
          </a:solidFill>
          <a:ln w="14288">
            <a:solidFill>
              <a:srgbClr val="D5DDE8"/>
            </a:solidFill>
          </a:ln>
        </p:spPr>
        <p:txBody>
          <a:bodyPr lIns="133350" tIns="133350" rIns="133350" bIns="133350" anchor="ctr">
            <a:noAutofit/>
          </a:bodyPr>
          <a:lstStyle>
            <a:defPPr>
              <a:defRPr sz="1500">
                <a:solidFill>
                  <a:srgbClr val="15283F"/>
                </a:solidFill>
                <a:latin typeface="Arial"/>
                <a:ea typeface="Arial"/>
                <a:cs typeface="Arial"/>
              </a:defRPr>
            </a:defPPr>
          </a:lstStyle>
          <a:p>
            <a:pPr>
              <a:defRPr sz="1500">
                <a:solidFill>
                  <a:srgbClr val="15283F"/>
                </a:solidFill>
                <a:latin typeface="Arial"/>
                <a:ea typeface="Arial"/>
                <a:cs typeface="Arial"/>
              </a:defRPr>
            </a:pPr>
            <a:r>
              <a:rPr sz="1500">
                <a:solidFill>
                  <a:srgbClr val="15283F"/>
                </a:solidFill>
                <a:latin typeface="Arial"/>
                <a:ea typeface="Arial"/>
                <a:cs typeface="Arial"/>
              </a:rPr>
              <a:t>projects</a:t>
            </a:r>
          </a:p>
          <a:p>
            <a:pPr>
              <a:defRPr sz="1500">
                <a:solidFill>
                  <a:srgbClr val="15283F"/>
                </a:solidFill>
                <a:latin typeface="Arial"/>
                <a:ea typeface="Arial"/>
                <a:cs typeface="Arial"/>
              </a:defRPr>
            </a:pPr>
            <a:r>
              <a:rPr sz="1500">
                <a:solidFill>
                  <a:srgbClr val="15283F"/>
                </a:solidFill>
                <a:latin typeface="Arial"/>
                <a:ea typeface="Arial"/>
                <a:cs typeface="Arial"/>
              </a:rPr>
              <a:t>id PK, developer_id FK, name, description, github_link, project_link</a:t>
            </a:r>
          </a:p>
        </p:txBody>
      </p:sp>
      <p:sp>
        <p:nvSpPr>
          <p:cNvPr id="10" name="Rectangle 9">
            <a:extLst>
              <a:ext uri="{FF2B5EF4-FFF2-40B4-BE49-F238E27FC236}">
                <a16:creationId xmlns:a16="http://schemas.microsoft.com/office/drawing/2014/main" id="{73BB16BB-33B5-4338-98C5-5D8DA9EED1B5}"/>
              </a:ext>
            </a:extLst>
          </p:cNvPr>
          <p:cNvSpPr>
            <a:spLocks noGrp="1"/>
          </p:cNvSpPr>
          <p:nvPr/>
        </p:nvSpPr>
        <p:spPr>
          <a:xfrm>
            <a:off x="7791450" y="4257675"/>
            <a:ext cx="3790950" cy="1638300"/>
          </a:xfrm>
          <a:prstGeom prst="rect">
            <a:avLst/>
          </a:prstGeom>
          <a:solidFill>
            <a:srgbClr val="FFFFFF"/>
          </a:solidFill>
          <a:ln w="14288">
            <a:solidFill>
              <a:srgbClr val="D5DDE8"/>
            </a:solidFill>
          </a:ln>
        </p:spPr>
        <p:txBody>
          <a:bodyPr lIns="133350" tIns="133350" rIns="133350" bIns="133350" anchor="ctr">
            <a:noAutofit/>
          </a:bodyPr>
          <a:lstStyle>
            <a:defPPr>
              <a:defRPr sz="1500">
                <a:solidFill>
                  <a:srgbClr val="15283F"/>
                </a:solidFill>
                <a:latin typeface="Arial"/>
                <a:ea typeface="Arial"/>
                <a:cs typeface="Arial"/>
              </a:defRPr>
            </a:defPPr>
          </a:lstStyle>
          <a:p>
            <a:pPr>
              <a:defRPr sz="1500">
                <a:solidFill>
                  <a:srgbClr val="15283F"/>
                </a:solidFill>
                <a:latin typeface="Arial"/>
                <a:ea typeface="Arial"/>
                <a:cs typeface="Arial"/>
              </a:defRPr>
            </a:pPr>
            <a:r>
              <a:rPr sz="1500">
                <a:solidFill>
                  <a:srgbClr val="15283F"/>
                </a:solidFill>
                <a:latin typeface="Arial"/>
                <a:ea typeface="Arial"/>
                <a:cs typeface="Arial"/>
              </a:rPr>
              <a:t>project_technologies</a:t>
            </a:r>
          </a:p>
          <a:p>
            <a:pPr>
              <a:defRPr sz="1500">
                <a:solidFill>
                  <a:srgbClr val="15283F"/>
                </a:solidFill>
                <a:latin typeface="Arial"/>
                <a:ea typeface="Arial"/>
                <a:cs typeface="Arial"/>
              </a:defRPr>
            </a:pPr>
            <a:r>
              <a:rPr sz="1500">
                <a:solidFill>
                  <a:srgbClr val="15283F"/>
                </a:solidFill>
                <a:latin typeface="Arial"/>
                <a:ea typeface="Arial"/>
                <a:cs typeface="Arial"/>
              </a:rPr>
              <a:t>id PK, project_id FK, name, category, version, added_at</a:t>
            </a:r>
          </a:p>
          <a:p>
            <a:pPr>
              <a:defRPr sz="1500">
                <a:solidFill>
                  <a:srgbClr val="15283F"/>
                </a:solidFill>
                <a:latin typeface="Arial"/>
                <a:ea typeface="Arial"/>
                <a:cs typeface="Arial"/>
              </a:defRPr>
            </a:pPr>
            <a:r>
              <a:rPr sz="1500">
                <a:solidFill>
                  <a:srgbClr val="15283F"/>
                </a:solidFill>
                <a:latin typeface="Arial"/>
                <a:ea typeface="Arial"/>
                <a:cs typeface="Arial"/>
              </a:rPr>
              <a:t>UK (project_id, name)</a:t>
            </a:r>
          </a:p>
        </p:txBody>
      </p:sp>
      <p:sp>
        <p:nvSpPr>
          <p:cNvPr id="16" name="Rectangle 15">
            <a:extLst>
              <a:ext uri="{FF2B5EF4-FFF2-40B4-BE49-F238E27FC236}">
                <a16:creationId xmlns:a16="http://schemas.microsoft.com/office/drawing/2014/main" id="{0529C2EB-EB37-4A36-A570-66272B54C05A}"/>
              </a:ext>
            </a:extLst>
          </p:cNvPr>
          <p:cNvSpPr>
            <a:spLocks noGrp="1"/>
          </p:cNvSpPr>
          <p:nvPr/>
        </p:nvSpPr>
        <p:spPr>
          <a:xfrm>
            <a:off x="609600" y="6086475"/>
            <a:ext cx="10972800" cy="323850"/>
          </a:xfrm>
          <a:prstGeom prst="rect">
            <a:avLst/>
          </a:prstGeom>
          <a:noFill/>
          <a:ln w="0">
            <a:noFill/>
          </a:ln>
        </p:spPr>
        <p:txBody>
          <a:bodyPr lIns="0" tIns="0" rIns="0" bIns="0" anchor="t">
            <a:noAutofit/>
          </a:bodyPr>
          <a:lstStyle>
            <a:defPPr>
              <a:defRPr sz="1350" b="0">
                <a:solidFill>
                  <a:srgbClr val="576980"/>
                </a:solidFill>
                <a:latin typeface="Arial"/>
                <a:ea typeface="Arial"/>
                <a:cs typeface="Arial"/>
              </a:defRPr>
            </a:defPPr>
          </a:lstStyle>
          <a:p>
            <a:pPr>
              <a:defRPr sz="1350" b="0">
                <a:solidFill>
                  <a:srgbClr val="576980"/>
                </a:solidFill>
                <a:latin typeface="Arial"/>
                <a:ea typeface="Arial"/>
                <a:cs typeface="Arial"/>
              </a:defRPr>
            </a:pPr>
            <a:r>
              <a:rPr sz="1350" b="0">
                <a:solidFill>
                  <a:srgbClr val="576980"/>
                </a:solidFill>
                <a:latin typeface="Arial"/>
                <a:ea typeface="Arial"/>
                <a:cs typeface="Arial"/>
              </a:rPr>
              <a:t>FK links: profiles.user_id = users.id; skills/projects.developer_id = developer_profiles.id; technologies.project_id = projects.id</a:t>
            </a:r>
          </a:p>
        </p:txBody>
      </p:sp>
      <p:pic>
        <p:nvPicPr>
          <p:cNvPr id="19" name="Picture 18">
            <a:extLst>
              <a:ext uri="{FF2B5EF4-FFF2-40B4-BE49-F238E27FC236}">
                <a16:creationId xmlns:a16="http://schemas.microsoft.com/office/drawing/2014/main" id="{BDCBC254-8249-FD34-6C25-36D7783ED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1857530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3A71CB-D118-4717-A785-3B433B66D7E0}"/>
              </a:ext>
            </a:extLst>
          </p:cNvPr>
          <p:cNvSpPr>
            <a:spLocks noGrp="1"/>
          </p:cNvSpPr>
          <p:nvPr/>
        </p:nvSpPr>
        <p:spPr>
          <a:xfrm>
            <a:off x="609600" y="742950"/>
            <a:ext cx="10972800" cy="762000"/>
          </a:xfrm>
          <a:prstGeom prst="rect">
            <a:avLst/>
          </a:prstGeom>
          <a:noFill/>
          <a:ln w="0">
            <a:noFill/>
          </a:ln>
        </p:spPr>
        <p:txBody>
          <a:bodyPr lIns="0" tIns="0" rIns="0" bIns="0" anchor="t">
            <a:noAutofit/>
          </a:bodyPr>
          <a:lstStyle>
            <a:defPPr>
              <a:defRPr sz="3150" b="1">
                <a:solidFill>
                  <a:srgbClr val="15283F"/>
                </a:solidFill>
                <a:latin typeface="Arial"/>
                <a:ea typeface="Arial"/>
                <a:cs typeface="Arial"/>
              </a:defRPr>
            </a:defPPr>
          </a:lstStyle>
          <a:p>
            <a:pPr>
              <a:defRPr sz="3150" b="1">
                <a:solidFill>
                  <a:srgbClr val="15283F"/>
                </a:solidFill>
                <a:latin typeface="Arial"/>
                <a:ea typeface="Arial"/>
                <a:cs typeface="Arial"/>
              </a:defRPr>
            </a:pPr>
            <a:r>
              <a:rPr sz="3150" b="1">
                <a:solidFill>
                  <a:srgbClr val="15283F"/>
                </a:solidFill>
                <a:latin typeface="Arial"/>
                <a:ea typeface="Arial"/>
                <a:cs typeface="Arial"/>
              </a:rPr>
              <a:t>Skill match calculation</a:t>
            </a:r>
          </a:p>
        </p:txBody>
      </p:sp>
      <p:sp>
        <p:nvSpPr>
          <p:cNvPr id="3" name="Rectangle 2">
            <a:extLst>
              <a:ext uri="{FF2B5EF4-FFF2-40B4-BE49-F238E27FC236}">
                <a16:creationId xmlns:a16="http://schemas.microsoft.com/office/drawing/2014/main" id="{A934FA7B-457B-4166-9C65-C28F34A62DAA}"/>
              </a:ext>
            </a:extLst>
          </p:cNvPr>
          <p:cNvSpPr>
            <a:spLocks noGrp="1"/>
          </p:cNvSpPr>
          <p:nvPr/>
        </p:nvSpPr>
        <p:spPr>
          <a:xfrm>
            <a:off x="609600" y="6486525"/>
            <a:ext cx="5715000" cy="228600"/>
          </a:xfrm>
          <a:prstGeom prst="rect">
            <a:avLst/>
          </a:prstGeom>
          <a:noFill/>
          <a:ln w="0">
            <a:noFill/>
          </a:ln>
        </p:spPr>
        <p:txBody>
          <a:bodyPr lIns="0" tIns="0" rIns="0" bIns="0" anchor="t">
            <a:noAutofit/>
          </a:bodyPr>
          <a:lstStyle>
            <a:defPPr>
              <a:defRPr sz="1050" b="0">
                <a:solidFill>
                  <a:srgbClr val="576980"/>
                </a:solidFill>
                <a:latin typeface="Arial"/>
                <a:ea typeface="Arial"/>
                <a:cs typeface="Arial"/>
              </a:defRPr>
            </a:defPPr>
          </a:lstStyle>
          <a:p>
            <a:pPr>
              <a:defRPr sz="1050" b="0">
                <a:solidFill>
                  <a:srgbClr val="576980"/>
                </a:solidFill>
                <a:latin typeface="Arial"/>
                <a:ea typeface="Arial"/>
                <a:cs typeface="Arial"/>
              </a:defRPr>
            </a:pPr>
            <a:r>
              <a:rPr sz="1050" b="0">
                <a:solidFill>
                  <a:srgbClr val="576980"/>
                </a:solidFill>
                <a:latin typeface="Arial"/>
                <a:ea typeface="Arial"/>
                <a:cs typeface="Arial"/>
              </a:rPr>
              <a:t>DevMatch AI</a:t>
            </a:r>
          </a:p>
        </p:txBody>
      </p:sp>
      <p:sp>
        <p:nvSpPr>
          <p:cNvPr id="4" name="Rectangle 3">
            <a:extLst>
              <a:ext uri="{FF2B5EF4-FFF2-40B4-BE49-F238E27FC236}">
                <a16:creationId xmlns:a16="http://schemas.microsoft.com/office/drawing/2014/main" id="{E9D53312-5E00-4162-A50A-C77A9601064B}"/>
              </a:ext>
            </a:extLst>
          </p:cNvPr>
          <p:cNvSpPr>
            <a:spLocks noGrp="1"/>
          </p:cNvSpPr>
          <p:nvPr/>
        </p:nvSpPr>
        <p:spPr>
          <a:xfrm>
            <a:off x="10953750" y="6457950"/>
            <a:ext cx="628650" cy="247650"/>
          </a:xfrm>
          <a:prstGeom prst="rect">
            <a:avLst/>
          </a:prstGeom>
          <a:noFill/>
          <a:ln w="0">
            <a:noFill/>
          </a:ln>
        </p:spPr>
        <p:txBody>
          <a:bodyPr lIns="0" tIns="0" rIns="0" bIns="0" anchor="t">
            <a:noAutofit/>
          </a:bodyPr>
          <a:lstStyle>
            <a:defPPr>
              <a:defRPr sz="1200" b="0">
                <a:solidFill>
                  <a:srgbClr val="576980"/>
                </a:solidFill>
                <a:latin typeface="Arial"/>
                <a:ea typeface="Arial"/>
                <a:cs typeface="Arial"/>
              </a:defRPr>
            </a:defPPr>
          </a:lstStyle>
          <a:p>
            <a:pPr>
              <a:defRPr sz="1200" b="0">
                <a:solidFill>
                  <a:srgbClr val="576980"/>
                </a:solidFill>
                <a:latin typeface="Arial"/>
                <a:ea typeface="Arial"/>
                <a:cs typeface="Arial"/>
              </a:defRPr>
            </a:pPr>
            <a:r>
              <a:rPr lang="en-US" sz="1200" dirty="0">
                <a:solidFill>
                  <a:srgbClr val="576980"/>
                </a:solidFill>
                <a:latin typeface="Arial"/>
                <a:ea typeface="Arial"/>
                <a:cs typeface="Arial"/>
              </a:rPr>
              <a:t>7</a:t>
            </a:r>
            <a:endParaRPr sz="1200" b="0" dirty="0">
              <a:solidFill>
                <a:srgbClr val="576980"/>
              </a:solidFill>
              <a:latin typeface="Arial"/>
              <a:ea typeface="Arial"/>
              <a:cs typeface="Arial"/>
            </a:endParaRPr>
          </a:p>
        </p:txBody>
      </p:sp>
      <p:sp>
        <p:nvSpPr>
          <p:cNvPr id="5" name="Rectangle 4">
            <a:extLst>
              <a:ext uri="{FF2B5EF4-FFF2-40B4-BE49-F238E27FC236}">
                <a16:creationId xmlns:a16="http://schemas.microsoft.com/office/drawing/2014/main" id="{7DC32F73-E789-4D44-B9FB-94D1229CD0C2}"/>
              </a:ext>
            </a:extLst>
          </p:cNvPr>
          <p:cNvSpPr>
            <a:spLocks noGrp="1"/>
          </p:cNvSpPr>
          <p:nvPr/>
        </p:nvSpPr>
        <p:spPr>
          <a:xfrm>
            <a:off x="609600" y="1828800"/>
            <a:ext cx="10972800" cy="952500"/>
          </a:xfrm>
          <a:prstGeom prst="rect">
            <a:avLst/>
          </a:prstGeom>
          <a:noFill/>
          <a:ln w="0">
            <a:noFill/>
          </a:ln>
        </p:spPr>
        <p:txBody>
          <a:bodyPr lIns="0" tIns="0" rIns="0" bIns="0" anchor="t">
            <a:noAutofit/>
          </a:bodyPr>
          <a:lstStyle>
            <a:defPPr>
              <a:defRPr sz="2625" b="1">
                <a:solidFill>
                  <a:srgbClr val="315BDF"/>
                </a:solidFill>
                <a:latin typeface="Arial"/>
                <a:ea typeface="Arial"/>
                <a:cs typeface="Arial"/>
              </a:defRPr>
            </a:defPPr>
          </a:lstStyle>
          <a:p>
            <a:pPr>
              <a:defRPr sz="2625" b="1">
                <a:solidFill>
                  <a:srgbClr val="315BDF"/>
                </a:solidFill>
                <a:latin typeface="Arial"/>
                <a:ea typeface="Arial"/>
                <a:cs typeface="Arial"/>
              </a:defRPr>
            </a:pPr>
            <a:r>
              <a:rPr sz="2625" b="1">
                <a:solidFill>
                  <a:srgbClr val="315BDF"/>
                </a:solidFill>
                <a:latin typeface="Arial"/>
                <a:ea typeface="Arial"/>
                <a:cs typeface="Arial"/>
              </a:rPr>
              <a:t>Match (%) = matched required skills ÷ total required skills × 100</a:t>
            </a:r>
          </a:p>
        </p:txBody>
      </p:sp>
      <p:graphicFrame>
        <p:nvGraphicFramePr>
          <p:cNvPr id="6" name="Table 5">
            <a:extLst>
              <a:ext uri="{FF2B5EF4-FFF2-40B4-BE49-F238E27FC236}">
                <a16:creationId xmlns:a16="http://schemas.microsoft.com/office/drawing/2014/main" id="{F661C2A8-77EA-4F50-B5A1-1205709DE867}"/>
              </a:ext>
            </a:extLst>
          </p:cNvPr>
          <p:cNvGraphicFramePr/>
          <p:nvPr/>
        </p:nvGraphicFramePr>
        <p:xfrm>
          <a:off x="609600" y="2981325"/>
          <a:ext cx="10972800" cy="2552700"/>
        </p:xfrm>
        <a:graphic>
          <a:graphicData uri="http://schemas.openxmlformats.org/drawingml/2006/table">
            <a:tbl>
              <a:tblPr/>
              <a:tblGrid>
                <a:gridCol w="4429125">
                  <a:extLst>
                    <a:ext uri="{9D8B030D-6E8A-4147-A177-3AD203B41FA5}">
                      <a16:colId xmlns:a16="http://schemas.microsoft.com/office/drawing/2014/main" val="20000"/>
                    </a:ext>
                  </a:extLst>
                </a:gridCol>
                <a:gridCol w="6543675">
                  <a:extLst>
                    <a:ext uri="{9D8B030D-6E8A-4147-A177-3AD203B41FA5}">
                      <a16:colId xmlns:a16="http://schemas.microsoft.com/office/drawing/2014/main" val="20001"/>
                    </a:ext>
                  </a:extLst>
                </a:gridCol>
              </a:tblGrid>
              <a:tr h="510540">
                <a:tc>
                  <a:txBody>
                    <a:bodyPr/>
                    <a:lstStyle/>
                    <a:p>
                      <a:r>
                        <a:rPr sz="1650" b="1">
                          <a:solidFill>
                            <a:srgbClr val="FFFFFF"/>
                          </a:solidFill>
                          <a:latin typeface="Arial"/>
                          <a:ea typeface="Arial"/>
                          <a:cs typeface="Arial"/>
                        </a:rPr>
                        <a:t>Illustrative example</a:t>
                      </a:r>
                    </a:p>
                  </a:txBody>
                  <a:tcPr anchor="ctr">
                    <a:lnL w="9525">
                      <a:solidFill>
                        <a:srgbClr val="D5DDE8"/>
                      </a:solidFill>
                    </a:lnL>
                    <a:lnR w="9525">
                      <a:solidFill>
                        <a:srgbClr val="D5DDE8"/>
                      </a:solidFill>
                    </a:lnR>
                    <a:lnT w="9525">
                      <a:solidFill>
                        <a:srgbClr val="D5DDE8"/>
                      </a:solidFill>
                    </a:lnT>
                    <a:lnB w="9525">
                      <a:solidFill>
                        <a:srgbClr val="D5DDE8"/>
                      </a:solidFill>
                    </a:lnB>
                    <a:solidFill>
                      <a:srgbClr val="10213A"/>
                    </a:solidFill>
                  </a:tcPr>
                </a:tc>
                <a:tc>
                  <a:txBody>
                    <a:bodyPr/>
                    <a:lstStyle/>
                    <a:p>
                      <a:r>
                        <a:rPr sz="1650" b="1">
                          <a:solidFill>
                            <a:srgbClr val="FFFFFF"/>
                          </a:solidFill>
                          <a:latin typeface="Arial"/>
                          <a:ea typeface="Arial"/>
                          <a:cs typeface="Arial"/>
                        </a:rPr>
                        <a:t>Value</a:t>
                      </a:r>
                    </a:p>
                  </a:txBody>
                  <a:tcPr anchor="ctr">
                    <a:lnL w="9525" cap="flat" cmpd="sng" algn="ctr">
                      <a:solidFill>
                        <a:srgbClr val="D5DDE8"/>
                      </a:solidFill>
                      <a:prstDash val="solid"/>
                      <a:round/>
                      <a:headEnd type="none" w="med" len="med"/>
                      <a:tailEnd type="none" w="med" len="med"/>
                    </a:lnL>
                    <a:lnR w="9525">
                      <a:solidFill>
                        <a:srgbClr val="D5DDE8"/>
                      </a:solidFill>
                    </a:lnR>
                    <a:lnT w="9525">
                      <a:solidFill>
                        <a:srgbClr val="D5DDE8"/>
                      </a:solidFill>
                    </a:lnT>
                    <a:lnB w="9525">
                      <a:solidFill>
                        <a:srgbClr val="D5DDE8"/>
                      </a:solidFill>
                    </a:lnB>
                    <a:solidFill>
                      <a:srgbClr val="10213A"/>
                    </a:solidFill>
                  </a:tcPr>
                </a:tc>
                <a:extLst>
                  <a:ext uri="{0D108BD9-81ED-4DB2-BD59-A6C34878D82A}">
                    <a16:rowId xmlns:a16="http://schemas.microsoft.com/office/drawing/2014/main" val="10000"/>
                  </a:ext>
                </a:extLst>
              </a:tr>
              <a:tr h="510540">
                <a:tc>
                  <a:txBody>
                    <a:bodyPr/>
                    <a:lstStyle/>
                    <a:p>
                      <a:r>
                        <a:rPr sz="1650" b="0">
                          <a:solidFill>
                            <a:srgbClr val="15283F"/>
                          </a:solidFill>
                          <a:latin typeface="Arial"/>
                          <a:ea typeface="Arial"/>
                          <a:cs typeface="Arial"/>
                        </a:rPr>
                        <a:t>Job requirements</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tc>
                  <a:txBody>
                    <a:bodyPr/>
                    <a:lstStyle/>
                    <a:p>
                      <a:r>
                        <a:rPr sz="1650" b="0">
                          <a:solidFill>
                            <a:srgbClr val="15283F"/>
                          </a:solidFill>
                          <a:latin typeface="Arial"/>
                          <a:ea typeface="Arial"/>
                          <a:cs typeface="Arial"/>
                        </a:rPr>
                        <a:t>Python, Flask, MySQL</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extLst>
                  <a:ext uri="{0D108BD9-81ED-4DB2-BD59-A6C34878D82A}">
                    <a16:rowId xmlns:a16="http://schemas.microsoft.com/office/drawing/2014/main" val="10001"/>
                  </a:ext>
                </a:extLst>
              </a:tr>
              <a:tr h="510540">
                <a:tc>
                  <a:txBody>
                    <a:bodyPr/>
                    <a:lstStyle/>
                    <a:p>
                      <a:r>
                        <a:rPr sz="1650" b="0">
                          <a:solidFill>
                            <a:srgbClr val="15283F"/>
                          </a:solidFill>
                          <a:latin typeface="Arial"/>
                          <a:ea typeface="Arial"/>
                          <a:cs typeface="Arial"/>
                        </a:rPr>
                        <a:t>Candidate evidence</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tc>
                  <a:txBody>
                    <a:bodyPr/>
                    <a:lstStyle/>
                    <a:p>
                      <a:r>
                        <a:rPr sz="1650" b="0">
                          <a:solidFill>
                            <a:srgbClr val="15283F"/>
                          </a:solidFill>
                          <a:latin typeface="Arial"/>
                          <a:ea typeface="Arial"/>
                          <a:cs typeface="Arial"/>
                        </a:rPr>
                        <a:t>Python, Flask</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extLst>
                  <a:ext uri="{0D108BD9-81ED-4DB2-BD59-A6C34878D82A}">
                    <a16:rowId xmlns:a16="http://schemas.microsoft.com/office/drawing/2014/main" val="10002"/>
                  </a:ext>
                </a:extLst>
              </a:tr>
              <a:tr h="510540">
                <a:tc>
                  <a:txBody>
                    <a:bodyPr/>
                    <a:lstStyle/>
                    <a:p>
                      <a:r>
                        <a:rPr sz="1650" b="0">
                          <a:solidFill>
                            <a:srgbClr val="15283F"/>
                          </a:solidFill>
                          <a:latin typeface="Arial"/>
                          <a:ea typeface="Arial"/>
                          <a:cs typeface="Arial"/>
                        </a:rPr>
                        <a:t>Result</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tc>
                  <a:txBody>
                    <a:bodyPr/>
                    <a:lstStyle/>
                    <a:p>
                      <a:r>
                        <a:rPr sz="1650" b="0">
                          <a:solidFill>
                            <a:srgbClr val="15283F"/>
                          </a:solidFill>
                          <a:latin typeface="Arial"/>
                          <a:ea typeface="Arial"/>
                          <a:cs typeface="Arial"/>
                        </a:rPr>
                        <a:t>2 ÷ 3 × 100 = 66.7% (display: 67%)</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FFFFFF"/>
                    </a:solidFill>
                  </a:tcPr>
                </a:tc>
                <a:extLst>
                  <a:ext uri="{0D108BD9-81ED-4DB2-BD59-A6C34878D82A}">
                    <a16:rowId xmlns:a16="http://schemas.microsoft.com/office/drawing/2014/main" val="10003"/>
                  </a:ext>
                </a:extLst>
              </a:tr>
              <a:tr h="510540">
                <a:tc>
                  <a:txBody>
                    <a:bodyPr/>
                    <a:lstStyle/>
                    <a:p>
                      <a:r>
                        <a:rPr sz="1650" b="0">
                          <a:solidFill>
                            <a:srgbClr val="15283F"/>
                          </a:solidFill>
                          <a:latin typeface="Arial"/>
                          <a:ea typeface="Arial"/>
                          <a:cs typeface="Arial"/>
                        </a:rPr>
                        <a:t>Initial status for this example</a:t>
                      </a:r>
                    </a:p>
                  </a:txBody>
                  <a:tcPr anchor="ctr">
                    <a:lnL w="9525">
                      <a:solidFill>
                        <a:srgbClr val="D5DDE8"/>
                      </a:solidFill>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tc>
                  <a:txBody>
                    <a:bodyPr/>
                    <a:lstStyle/>
                    <a:p>
                      <a:r>
                        <a:rPr sz="1650" b="0">
                          <a:solidFill>
                            <a:srgbClr val="15283F"/>
                          </a:solidFill>
                          <a:latin typeface="Arial"/>
                          <a:ea typeface="Arial"/>
                          <a:cs typeface="Arial"/>
                        </a:rPr>
                        <a:t>Rejected, because the score is at or below 70%</a:t>
                      </a:r>
                    </a:p>
                  </a:txBody>
                  <a:tcPr anchor="ctr">
                    <a:lnL w="9525" cap="flat" cmpd="sng" algn="ctr">
                      <a:solidFill>
                        <a:srgbClr val="D5DDE8"/>
                      </a:solidFill>
                      <a:prstDash val="solid"/>
                      <a:round/>
                      <a:headEnd type="none" w="med" len="med"/>
                      <a:tailEnd type="none" w="med" len="med"/>
                    </a:lnL>
                    <a:lnR w="9525">
                      <a:solidFill>
                        <a:srgbClr val="D5DDE8"/>
                      </a:solidFill>
                    </a:lnR>
                    <a:lnT w="9525" cap="flat" cmpd="sng" algn="ctr">
                      <a:solidFill>
                        <a:srgbClr val="D5DDE8"/>
                      </a:solidFill>
                      <a:prstDash val="solid"/>
                      <a:round/>
                      <a:headEnd type="none" w="med" len="med"/>
                      <a:tailEnd type="none" w="med" len="med"/>
                    </a:lnT>
                    <a:lnB w="9525">
                      <a:solidFill>
                        <a:srgbClr val="D5DDE8"/>
                      </a:solidFill>
                    </a:lnB>
                    <a:solidFill>
                      <a:srgbClr val="EDF1F6"/>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154A6EF8-CF35-4A17-BADB-AEFAF5AB8B56}"/>
              </a:ext>
            </a:extLst>
          </p:cNvPr>
          <p:cNvSpPr>
            <a:spLocks noGrp="1"/>
          </p:cNvSpPr>
          <p:nvPr/>
        </p:nvSpPr>
        <p:spPr>
          <a:xfrm>
            <a:off x="609600" y="5838825"/>
            <a:ext cx="10972800" cy="419100"/>
          </a:xfrm>
          <a:prstGeom prst="rect">
            <a:avLst/>
          </a:prstGeom>
          <a:noFill/>
          <a:ln w="0">
            <a:noFill/>
          </a:ln>
        </p:spPr>
        <p:txBody>
          <a:bodyPr lIns="0" tIns="0" rIns="0" bIns="0" anchor="t">
            <a:noAutofit/>
          </a:bodyPr>
          <a:lstStyle>
            <a:defPPr>
              <a:defRPr sz="1875" b="0">
                <a:solidFill>
                  <a:srgbClr val="576980"/>
                </a:solidFill>
                <a:latin typeface="Arial"/>
                <a:ea typeface="Arial"/>
                <a:cs typeface="Arial"/>
              </a:defRPr>
            </a:defPPr>
          </a:lstStyle>
          <a:p>
            <a:pPr>
              <a:defRPr sz="1875" b="0">
                <a:solidFill>
                  <a:srgbClr val="576980"/>
                </a:solidFill>
                <a:latin typeface="Arial"/>
                <a:ea typeface="Arial"/>
                <a:cs typeface="Arial"/>
              </a:defRPr>
            </a:pPr>
            <a:r>
              <a:rPr sz="1875" b="0">
                <a:solidFill>
                  <a:srgbClr val="576980"/>
                </a:solidFill>
                <a:latin typeface="Arial"/>
                <a:ea typeface="Arial"/>
                <a:cs typeface="Arial"/>
              </a:rPr>
              <a:t>Above 70%: Shortlisted. Recruiters can change the initial status after review.</a:t>
            </a:r>
          </a:p>
        </p:txBody>
      </p:sp>
    </p:spTree>
    <p:extLst>
      <p:ext uri="{BB962C8B-B14F-4D97-AF65-F5344CB8AC3E}">
        <p14:creationId xmlns:p14="http://schemas.microsoft.com/office/powerpoint/2010/main" val="2022463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1604</Words>
  <Application>Microsoft Office PowerPoint</Application>
  <DocSecurity>0</DocSecurity>
  <PresentationFormat>Widescreen</PresentationFormat>
  <Paragraphs>130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Gurram Venkata Kumara Karthikeya</cp:lastModifiedBy>
  <cp:revision>2</cp:revision>
  <dcterms:created xsi:type="dcterms:W3CDTF">2026-10-12T08:35:07Z</dcterms:created>
  <dcterms:modified xsi:type="dcterms:W3CDTF">2026-10-12T14:03:33Z</dcterms:modified>
</cp:coreProperties>
</file>