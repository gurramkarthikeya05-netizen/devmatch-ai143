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f4349e0cad4c7e" /><Relationship Type="http://schemas.openxmlformats.org/officeDocument/2006/relationships/extended-properties" Target="/docProps/app.xml" Id="R80e1288349144246" /><Relationship Type="http://schemas.openxmlformats.org/officeDocument/2006/relationships/officeDocument" Target="/ppt/presentation.xml" Id="R327fc8115bb14f7e" /></Relationships>
</file>

<file path=ppt/presentation.xml><?xml version="1.0" encoding="utf-8"?>
<p:presentation xmlns:p="http://schemas.openxmlformats.org/presentationml/2006/main">
  <p:sldMasterIdLst>
    <p:sldMasterId xmlns:r="http://schemas.openxmlformats.org/officeDocument/2006/relationships" id="2147483648" r:id="Raacd8c11f767407c"/>
  </p:sldMasterIdLst>
  <p:notesMasterIdLst>
    <p:notesMasterId xmlns:r="http://schemas.openxmlformats.org/officeDocument/2006/relationships" r:id="R9c2b1faf84d34cf9"/>
  </p:notesMasterIdLst>
  <p:sldIdLst>
    <p:sldId xmlns:r="http://schemas.openxmlformats.org/officeDocument/2006/relationships" id="256" r:id="R11429e981a1c4f69"/>
    <p:sldId xmlns:r="http://schemas.openxmlformats.org/officeDocument/2006/relationships" id="257" r:id="R767d11d4df184ebc"/>
    <p:sldId xmlns:r="http://schemas.openxmlformats.org/officeDocument/2006/relationships" id="258" r:id="R9b235c9f6bdd4f3f"/>
    <p:sldId xmlns:r="http://schemas.openxmlformats.org/officeDocument/2006/relationships" id="259" r:id="R48e74b6d4e664b31"/>
    <p:sldId xmlns:r="http://schemas.openxmlformats.org/officeDocument/2006/relationships" id="260" r:id="Rd2bc06f6b55b4948"/>
    <p:sldId xmlns:r="http://schemas.openxmlformats.org/officeDocument/2006/relationships" id="261" r:id="Reff187734af344ee"/>
    <p:sldId xmlns:r="http://schemas.openxmlformats.org/officeDocument/2006/relationships" id="262" r:id="R413bd758048f45db"/>
    <p:sldId xmlns:r="http://schemas.openxmlformats.org/officeDocument/2006/relationships" id="263" r:id="Rbc871b49a0e4432d"/>
    <p:sldId xmlns:r="http://schemas.openxmlformats.org/officeDocument/2006/relationships" id="264" r:id="R6feb1011d3134f2f"/>
    <p:sldId xmlns:r="http://schemas.openxmlformats.org/officeDocument/2006/relationships" id="265" r:id="R83ec82ef4a694449"/>
    <p:sldId xmlns:r="http://schemas.openxmlformats.org/officeDocument/2006/relationships" id="266" r:id="Reb4170bb1bbf48b5"/>
    <p:sldId xmlns:r="http://schemas.openxmlformats.org/officeDocument/2006/relationships" id="267" r:id="R161d0228c9fb4d93"/>
    <p:sldId xmlns:r="http://schemas.openxmlformats.org/officeDocument/2006/relationships" id="268" r:id="Rea65baca48ee43b4"/>
    <p:sldId xmlns:r="http://schemas.openxmlformats.org/officeDocument/2006/relationships" id="269" r:id="Raedc7b7e1881439a"/>
    <p:sldId xmlns:r="http://schemas.openxmlformats.org/officeDocument/2006/relationships" id="270" r:id="R6a2d2208c76f4c8e"/>
    <p:sldId xmlns:r="http://schemas.openxmlformats.org/officeDocument/2006/relationships" id="271" r:id="Rd638d9133548450d"/>
    <p:sldId xmlns:r="http://schemas.openxmlformats.org/officeDocument/2006/relationships" id="272" r:id="Rfa249bed130642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c2b00a5f1d4b54" /><Relationship Type="http://schemas.openxmlformats.org/officeDocument/2006/relationships/slideMaster" Target="/ppt/slideMasters/slideMaster1.xml" Id="Raacd8c11f767407c" /><Relationship Type="http://schemas.openxmlformats.org/officeDocument/2006/relationships/notesMaster" Target="/ppt/notesMasters/notesMaster1.xml" Id="R9c2b1faf84d34cf9" /><Relationship Type="http://schemas.openxmlformats.org/officeDocument/2006/relationships/presProps" Target="/ppt/presProps.xml" Id="R1241c2f601ba4da7" /><Relationship Type="http://schemas.openxmlformats.org/officeDocument/2006/relationships/tableStyles" Target="/ppt/tableStyles.xml" Id="R4f8e497c9eff46ed" /><Relationship Type="http://schemas.openxmlformats.org/officeDocument/2006/relationships/slide" Target="/ppt/slides/slide1.xml" Id="R11429e981a1c4f69" /><Relationship Type="http://schemas.openxmlformats.org/officeDocument/2006/relationships/slide" Target="/ppt/slides/slide2.xml" Id="R767d11d4df184ebc" /><Relationship Type="http://schemas.openxmlformats.org/officeDocument/2006/relationships/slide" Target="/ppt/slides/slide3.xml" Id="R9b235c9f6bdd4f3f" /><Relationship Type="http://schemas.openxmlformats.org/officeDocument/2006/relationships/slide" Target="/ppt/slides/slide4.xml" Id="R48e74b6d4e664b31" /><Relationship Type="http://schemas.openxmlformats.org/officeDocument/2006/relationships/slide" Target="/ppt/slides/slide5.xml" Id="Rd2bc06f6b55b4948" /><Relationship Type="http://schemas.openxmlformats.org/officeDocument/2006/relationships/slide" Target="/ppt/slides/slide6.xml" Id="Reff187734af344ee" /><Relationship Type="http://schemas.openxmlformats.org/officeDocument/2006/relationships/slide" Target="/ppt/slides/slide7.xml" Id="R413bd758048f45db" /><Relationship Type="http://schemas.openxmlformats.org/officeDocument/2006/relationships/slide" Target="/ppt/slides/slide8.xml" Id="Rbc871b49a0e4432d" /><Relationship Type="http://schemas.openxmlformats.org/officeDocument/2006/relationships/slide" Target="/ppt/slides/slide9.xml" Id="R6feb1011d3134f2f" /><Relationship Type="http://schemas.openxmlformats.org/officeDocument/2006/relationships/slide" Target="/ppt/slides/slide10.xml" Id="R83ec82ef4a694449" /><Relationship Type="http://schemas.openxmlformats.org/officeDocument/2006/relationships/slide" Target="/ppt/slides/slide11.xml" Id="Reb4170bb1bbf48b5" /><Relationship Type="http://schemas.openxmlformats.org/officeDocument/2006/relationships/slide" Target="/ppt/slides/slide12.xml" Id="R161d0228c9fb4d93" /><Relationship Type="http://schemas.openxmlformats.org/officeDocument/2006/relationships/slide" Target="/ppt/slides/slide13.xml" Id="Rea65baca48ee43b4" /><Relationship Type="http://schemas.openxmlformats.org/officeDocument/2006/relationships/slide" Target="/ppt/slides/slide14.xml" Id="Raedc7b7e1881439a" /><Relationship Type="http://schemas.openxmlformats.org/officeDocument/2006/relationships/slide" Target="/ppt/slides/slide15.xml" Id="R6a2d2208c76f4c8e" /><Relationship Type="http://schemas.openxmlformats.org/officeDocument/2006/relationships/slide" Target="/ppt/slides/slide16.xml" Id="Rd638d9133548450d" /><Relationship Type="http://schemas.openxmlformats.org/officeDocument/2006/relationships/slide" Target="/ppt/slides/slide17.xml" Id="Rfa249bed130642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0c2ff87ba84a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e647a398ca439f" /><Relationship Type="http://schemas.openxmlformats.org/officeDocument/2006/relationships/notesMaster" Target="/ppt/notesMasters/notesMaster1.xml" Id="R7abdd01059de47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f1229bd1234b62" /><Relationship Type="http://schemas.openxmlformats.org/officeDocument/2006/relationships/notesMaster" Target="/ppt/notesMasters/notesMaster1.xml" Id="R689c316991be4e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c0292c0d8345bc" /><Relationship Type="http://schemas.openxmlformats.org/officeDocument/2006/relationships/notesMaster" Target="/ppt/notesMasters/notesMaster1.xml" Id="R44224efbbf5c48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188ecc91e4ce1" /><Relationship Type="http://schemas.openxmlformats.org/officeDocument/2006/relationships/notesMaster" Target="/ppt/notesMasters/notesMaster1.xml" Id="R1cd7d3a3688b4f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b603418a314d39" /><Relationship Type="http://schemas.openxmlformats.org/officeDocument/2006/relationships/notesMaster" Target="/ppt/notesMasters/notesMaster1.xml" Id="R19521ae4b4d842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9388da9cf0433c" /><Relationship Type="http://schemas.openxmlformats.org/officeDocument/2006/relationships/notesMaster" Target="/ppt/notesMasters/notesMaster1.xml" Id="Re0c2aa1bb7094c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9cab10527a47bb" /><Relationship Type="http://schemas.openxmlformats.org/officeDocument/2006/relationships/notesMaster" Target="/ppt/notesMasters/notesMaster1.xml" Id="Rf99d999b90fa4f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ca12adfb75419a" /><Relationship Type="http://schemas.openxmlformats.org/officeDocument/2006/relationships/notesMaster" Target="/ppt/notesMasters/notesMaster1.xml" Id="R98929db8698849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96c32628a74703" /><Relationship Type="http://schemas.openxmlformats.org/officeDocument/2006/relationships/notesMaster" Target="/ppt/notesMasters/notesMaster1.xml" Id="R5b6542122a9a40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871d5ba370416d" /><Relationship Type="http://schemas.openxmlformats.org/officeDocument/2006/relationships/notesMaster" Target="/ppt/notesMasters/notesMaster1.xml" Id="R19556f99436c40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d33fc0f3d14df7" /><Relationship Type="http://schemas.openxmlformats.org/officeDocument/2006/relationships/notesMaster" Target="/ppt/notesMasters/notesMaster1.xml" Id="Rfd1dc0c2057a4d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7343366faa4870" /><Relationship Type="http://schemas.openxmlformats.org/officeDocument/2006/relationships/notesMaster" Target="/ppt/notesMasters/notesMaster1.xml" Id="R3a0926cebeb148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94a493fea642ef" /><Relationship Type="http://schemas.openxmlformats.org/officeDocument/2006/relationships/notesMaster" Target="/ppt/notesMasters/notesMaster1.xml" Id="Rfe0668df1dc847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cf3fab32284b94" /><Relationship Type="http://schemas.openxmlformats.org/officeDocument/2006/relationships/notesMaster" Target="/ppt/notesMasters/notesMaster1.xml" Id="R6a0eb47e1e6c41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2e4982affe4720" /><Relationship Type="http://schemas.openxmlformats.org/officeDocument/2006/relationships/notesMaster" Target="/ppt/notesMasters/notesMaster1.xml" Id="R11cb111bb92846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123ae396ea4796" /><Relationship Type="http://schemas.openxmlformats.org/officeDocument/2006/relationships/notesMaster" Target="/ppt/notesMasters/notesMaster1.xml" Id="R67860ca858b441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9b90e7b0094791" /><Relationship Type="http://schemas.openxmlformats.org/officeDocument/2006/relationships/notesMaster" Target="/ppt/notesMasters/notesMaster1.xml" Id="Rf4217ccba9d047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0:00–0:20 (20 seconds)</a:t>
            </a:r>
          </a:p>
          <a:p xmlns:a="http://schemas.openxmlformats.org/drawingml/2006/main">
            <a:r>
              <a:t/>
            </a:r>
          </a:p>
          <a:p xmlns:a="http://schemas.openxmlformats.org/drawingml/2006/main">
            <a:r>
              <a:t>Good morning. Our project is DevMatch AI, a developer portfolio and hiring platform. It brings developer profiles, job requirements and application decisions into one relational MySQL database. I will explain the workflows, ER model, relational schema, normalization and SQL demonstrations, then show how database changes appear in the website.</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0:20–1:00 (40 seconds)</a:t>
            </a:r>
          </a:p>
          <a:p xmlns:a="http://schemas.openxmlformats.org/drawingml/2006/main">
            <a:r>
              <a:t/>
            </a:r>
          </a:p>
          <a:p xmlns:a="http://schemas.openxmlformats.org/drawingml/2006/main">
            <a:r>
              <a:t>The problem is that hiring information is spread across resumes, portfolios and job listings. Recruiters need a consistent way to compare a candidate's skills with a vacancy. Developers need one place to maintain their evidence and track applications. Our solution connects these records using keys and relationships. The database is central because the same developer can have multiple skills, projects and applications, while each recruiter can post multiple jobs. Keeping these facts related makes updates and searches easier to explain and verify.</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1:00–1:40 (40 seconds)</a:t>
            </a:r>
          </a:p>
          <a:p xmlns:a="http://schemas.openxmlformats.org/drawingml/2006/main">
            <a:r>
              <a:t/>
            </a:r>
          </a:p>
          <a:p xmlns:a="http://schemas.openxmlformats.org/drawingml/2006/main">
            <a:r>
              <a:t>The system has two main roles. A developer maintains a profile, adds skills and projects, uploads a PDF resume, searches jobs and applies. A recruiter maintains company information, posts vacancies, reviews candidate evidence and changes application status. We prevent repeat applications to the same job. The database objective is to demonstrate real CRUD operations, relational joins and integrity constraints. Resume analysis supports the workflow, while the recruiter still reviews the evidence before making a final decision.</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1:40–2:20 (40 seconds)</a:t>
            </a:r>
          </a:p>
          <a:p xmlns:a="http://schemas.openxmlformats.org/drawingml/2006/main">
            <a:r>
              <a:t/>
            </a:r>
          </a:p>
          <a:p xmlns:a="http://schemas.openxmlformats.org/drawingml/2006/main">
            <a:r>
              <a:t>The user interacts through a browser. HTML, CSS and JavaScript form the interface, and Flask handles routes, sessions and validation. SQLAlchemy models map Python objects to MySQL tables, with PyMySQL as the connection driver. All application records live in MySQL. PyMuPDF extracts text from resume PDFs. Gemini analysis is optional and local skill extraction provides a fallback. Supabase, when configured, stores private PDF files only. Its PostgreSQL database does not hold this project's application tables.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2:20–3:40 (80 seconds)</a:t>
            </a:r>
          </a:p>
          <a:p xmlns:a="http://schemas.openxmlformats.org/drawingml/2006/main">
            <a:r>
              <a:t/>
            </a:r>
          </a:p>
          <a:p xmlns:a="http://schemas.openxmlformats.org/drawingml/2006/main">
            <a:r>
              <a:t>This is the ER model. Users are the account entity. A user can have an optional developer profile or recruiter profile. The profile's unique user foreign key gives an optional one-to-one relationship. A developer has many skills, projects, resume analyses and applications. Each project has multiple technology records. A recruiter posts multiple jobs, and a job has multiple required-skill rows. The key relationship is developers and jobs: many developers can apply to many jobs. We resolve that many-to-many relationship through the Application entity. Each application belongs to exactly one developer and one job. Status history adds multiple audit records for an application. This audit entity is installed by the SQL demonstration script, while the ten core entities come from the application models. Read the diagram's remaining parent-child links as one to zero or many.</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3:40–4:35 (55 seconds)</a:t>
            </a:r>
          </a:p>
          <a:p xmlns:a="http://schemas.openxmlformats.org/drawingml/2006/main">
            <a:r>
              <a:t/>
            </a:r>
          </a:p>
          <a:p xmlns:a="http://schemas.openxmlformats.org/drawingml/2006/main">
            <a:r>
              <a:t>This slide maps account and portfolio entities into relations. Every table uses an integer id as its primary key. Users stores identity, a unique email and a password hash. Developer profiles stores profile-specific details and references users through a unique user_id. Recruiter profiles does the same for company information. Skills references a developer and stores the skill name, level and years. Projects references its developer and stores project evidence. Project technologies references its project. Unique parent-and-name pairs prevent repeated skill or technology records within the same parent. PK identifies a row, FK points to another relation, and UK indicates uniqueness.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4:35–5:30 (55 seconds)</a:t>
            </a:r>
          </a:p>
          <a:p xmlns:a="http://schemas.openxmlformats.org/drawingml/2006/main">
            <a:r>
              <a:t/>
            </a:r>
          </a:p>
          <a:p xmlns:a="http://schemas.openxmlformats.org/drawingml/2006/main">
            <a:r>
              <a:t>These relations support hiring and analysis. Jobs contains the recruiter's foreign key and vacancy information, including title, location and deadline. Job skills holds individual requirements for each job. Applications joins a developer to a job and stores the current status and creation time. A unique developer_id and job_id pair enforces one application per job. Resume analysis stores extracted results and narrative feedback for a developer. Application status history records the old and new status, linked to an application. The history table comes from mysql_demo.sql and uses a database cascade when its parent application is deleted. The model salary length is 100, and the demonstration ALTER command widens it to 150.</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5:30–6:05 (35 seconds)</a:t>
            </a:r>
          </a:p>
          <a:p xmlns:a="http://schemas.openxmlformats.org/drawingml/2006/main">
            <a:r>
              <a:t/>
            </a:r>
          </a:p>
          <a:p xmlns:a="http://schemas.openxmlformats.org/drawingml/2006/main">
            <a:r>
              <a:t>The mapping rules explain how the ER model becomes tables. An entity gets a table and primary key. For an optional one-to-one relationship, the profile holds a unique foreign key. For one-to-many, the child holds its parent's foreign key, such as recruiter_id in jobs. For many-to-many, we introduce applications with both foreign keys. Repeated operational values become child rows, as in job skills and project technologies. The additional unique pair constraint prevents duplicate applications.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6:05–6:55 (50 seconds)</a:t>
            </a:r>
          </a:p>
          <a:p xmlns:a="http://schemas.openxmlformats.org/drawingml/2006/main">
            <a:r>
              <a:t/>
            </a:r>
          </a:p>
          <a:p xmlns:a="http://schemas.openxmlformats.org/drawingml/2006/main">
            <a:r>
              <a:t>Normalization reduces repeated facts and makes changes easier to maintain. For first normal form, operational skill and technology lists use one value per child row. Second normal form means that facts describe the full entity or parent-value pair: a developer's level belongs to that developer-skill record, and application status belongs to that developer-job application. Third normal form separates credentials, company information and job details into their own relations. An application references the developer and job instead of repeating their details. Resume analysis contains narrative text and serialized extraction output, so we distinguish it from normalized searchable skill rows. The matching score is calculated rather than stored redundantly in applications.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6:55–7:35 (40 seconds)</a:t>
            </a:r>
          </a:p>
          <a:p xmlns:a="http://schemas.openxmlformats.org/drawingml/2006/main">
            <a:r>
              <a:t/>
            </a:r>
          </a:p>
          <a:p xmlns:a="http://schemas.openxmlformats.org/drawingml/2006/main">
            <a:r>
              <a:t>Primary keys uniquely identify rows. Foreign keys link each child to valid parent records. The unique email constraint prevents duplicate account addresses. A unique user_id in each role profile prevents two profiles of the same type for one account. The application pair prevents repeat applications. Similar uniqueness rules protect job skills and project technologies. These database constraints complement application checks for roles, record ownership, deadlines and form submissions. We should distinguish SQLAlchemy's delete cascades from database ON DELETE CASCADE: the SQL audit table explicitly uses the latter.</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7:35–8:45 (70 seconds)</a:t>
            </a:r>
          </a:p>
          <a:p xmlns:a="http://schemas.openxmlformats.org/drawingml/2006/main">
            <a:r>
              <a:t/>
            </a:r>
          </a:p>
          <a:p xmlns:a="http://schemas.openxmlformats.org/drawingml/2006/main">
            <a:r>
              <a:t>This query sequence demonstrates CRUD on a dedicated job. First, INSERT selects an existing recruiter and creates a new demonstration vacancy. LAST_INSERT_ID saves the generated key in a session variable. SELECT reads the row. UPDATE changes its location to Hyderabad. DELETE removes only the generated demonstration row. Keep every command in the same MySQL session because the variable is session-specific. Use autocommit for the website demonstration and refresh the database demo page after each committed change. These are SQL examples for explaining the operations, not claims about results from a current database run. The final presentation demonstration will show the visible effect.</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8:45–9:45 (60 seconds)</a:t>
            </a:r>
          </a:p>
          <a:p xmlns:a="http://schemas.openxmlformats.org/drawingml/2006/main">
            <a:r>
              <a:t/>
            </a:r>
          </a:p>
          <a:p xmlns:a="http://schemas.openxmlformats.org/drawingml/2006/main">
            <a:r>
              <a:t>The first SELECT answers a practical question: which developers have a skill containing Python? We join users to developer profiles through user_id, then join skills through developer_id. LIKE filters the skill name and ORDER BY sorts the developer names. Each matching skill appears as a row with the developer's name and skill level. The second query counts applications by status. GROUP BY forms one group per status, COUNT computes the number of rows, and ORDER BY displays the largest group first. The exact output depends on current records. Together, these queries demonstrate filtering, joins, sorting and aggregation on the project's actual relations.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9:45–10:35 (50 seconds)</a:t>
            </a:r>
          </a:p>
          <a:p xmlns:a="http://schemas.openxmlformats.org/drawingml/2006/main">
            <a:r>
              <a:t/>
            </a:r>
          </a:p>
          <a:p xmlns:a="http://schemas.openxmlformats.org/drawingml/2006/main">
            <a:r>
              <a:t>ALTER TABLE changes the schema. Here MODIFY COLUMN widens salary to VARCHAR(150), retaining a default of Not disclosed. The view provides a reusable job summary. It joins jobs with recruiter profiles and left joins applications. LEFT JOIN keeps vacancies that have no applicants, and COUNT(a.id) returns zero for those jobs. GROUP BY produces one summary row for each job and company. A view stores a query definition, so selecting from it reflects underlying data. This slide shows a reduced definition. The full mysql_demo.sql also counts shortlisted applications.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10:35–11:30 (55 seconds)</a:t>
            </a:r>
          </a:p>
          <a:p xmlns:a="http://schemas.openxmlformats.org/drawingml/2006/main">
            <a:r>
              <a:t/>
            </a:r>
          </a:p>
          <a:p xmlns:a="http://schemas.openxmlformats.org/drawingml/2006/main">
            <a:r>
              <a:t>The trigger provides automatic auditing of application status changes. It runs after each updated application row. OLD.status is the value before the update and NEW.status is the value afterward. The IF condition avoids writing an audit record when the status stays the same. When it changes, the trigger inserts the application id and the two statuses into history. The timestamp comes from the audit table's default. The SQL script creates that table and backfills initial statuses for existing applications before installing the trigger. This trigger audits updates only. It does not automatically log new applications, and the history does not store the recruiter's identity.</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11:30–12:30 (60 seconds)</a:t>
            </a:r>
          </a:p>
          <a:p xmlns:a="http://schemas.openxmlformats.org/drawingml/2006/main">
            <a:r>
              <a:t/>
            </a:r>
          </a:p>
          <a:p xmlns:a="http://schemas.openxmlformats.org/drawingml/2006/main">
            <a:r>
              <a:t>The ATS calculation is deterministic skill matching. The application normalizes skill names with casefold and compares job requirements against the union of profile skills and skills extracted from the latest resume analysis. The percentage is the number of matched required names divided by the total required names, multiplied by 100. Matching two of Python, Flask and MySQL gives 66.7 percent, displayed as 67 percent. The initial status is Rejected because the exact ratio is at or below 70 percent. Above 70 percent gives Shortlisted. Exactly 70 percent does not pass. With no requirements, the score is zero and the application is rejected. The stored importance and minimum_years fields do not weight this score. Recruiters can review evidence and override the initial decision.</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12:30–14:00 (90 seconds)</a:t>
            </a:r>
          </a:p>
          <a:p xmlns:a="http://schemas.openxmlformats.org/drawingml/2006/main">
            <a:r>
              <a:t/>
            </a:r>
          </a:p>
          <a:p xmlns:a="http://schemas.openxmlformats.org/drawingml/2006/main">
            <a:r>
              <a:t>Now I will demonstrate that the website and SQL client use the same database. In the recruiter workflow, create a dedicated vacancy and read it back using SELECT. Edit the title or location in the website, then repeat SELECT to show that the committed record changed. For the reverse direction, run the CRUD sequence on slide 11 in one MySQL session with autocommit enabled. Refresh /dbms-demo after INSERT to see the new row. Run UPDATE and refresh to show Hyderabad. Run DELETE and refresh to show the row has disappeared. Use only a dedicated test vacancy without applications or child skill rows for this simple example. If time permits, change an application status through the recruiter page and query history for that application id. If the database or site is unavailable, explain the steps without claiming the demonstration ran.</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14:00–15:00 (60 seconds)</a:t>
            </a:r>
          </a:p>
          <a:p xmlns:a="http://schemas.openxmlformats.org/drawingml/2006/main">
            <a:r>
              <a:t/>
            </a:r>
          </a:p>
          <a:p xmlns:a="http://schemas.openxmlformats.org/drawingml/2006/main">
            <a:r>
              <a:t>DevMatch AI demonstrates how a relational database supports a complete hiring workflow. We used ten core application tables and an optional SQL audit extension. Primary keys identify records, foreign keys express relationships, and unique constraints prevent repeated applications and duplicate child values. Normalized child tables make skill and technology data easier to search. We demonstrated CRUD, joins, filtering, aggregation, a reusable view, schema modification and a trigger. The browser and SQL client can verify changes in both directions when connected to the same MySQL database. Current limitations include exact-name skill matching, narrative resume extraction fields and audit coverage limited to status updates. Future work can add skill aliases, richer evidence checks, interview scheduling and expanded audit records. Thank you. I am happy to take questions.</a:t>
            </a:r>
          </a:p>
          <a:p xmlns:a="http://schemas.openxmlformats.org/drawingml/2006/main">
            <a:r>
              <a:t/>
            </a:r>
          </a:p>
          <a:p xmlns:a="http://schemas.openxmlformats.org/drawingml/2006/main">
            <a:r>
              <a:t>Sources: D:/DBMS_DevApp/DevMatch_AI_DBMS_Mini_Project/devmatch-ai/app.py, mysql_demo.sql, README.md, DBMS_PROJECT_DOCUMENTATION.md.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363efecbf642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241e013c3e46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feded7f1444b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b89ba3d7394f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4d01c96f8047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e5f94c148c40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955A33-9D76-4AA7-B8BB-2EFA3427E5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974510-04D4-4B9F-BADD-C6B59F6B28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34820C-25AD-4F5F-9FAE-D9C79E47B7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309E53-DE21-4594-AA1D-4C61F3BAC6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2DBA26-D6D6-4782-9952-54D538AEFF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C749B6-4267-4492-8E6E-0E0700298C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33C233-7034-4573-86DB-E18E15FDA4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4CCA96-3BBF-4286-A34A-7F6A507AB3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86102-9EC6-4A48-8A6B-BAB4715250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8E9945-BD98-48F3-98B8-496D877119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cef8ca8754f62" /><Relationship Type="http://schemas.openxmlformats.org/officeDocument/2006/relationships/slideLayout" Target="/ppt/slideLayouts/slideLayout1.xml" Id="Ra3d5fc0f78b94d33" /><Relationship Type="http://schemas.openxmlformats.org/officeDocument/2006/relationships/slideLayout" Target="/ppt/slideLayouts/slideLayout2.xml" Id="R1880501a19754b6f" /><Relationship Type="http://schemas.openxmlformats.org/officeDocument/2006/relationships/slideLayout" Target="/ppt/slideLayouts/slideLayout3.xml" Id="Rced772ef9b0942b0" /><Relationship Type="http://schemas.openxmlformats.org/officeDocument/2006/relationships/slideLayout" Target="/ppt/slideLayouts/slideLayout4.xml" Id="R8b754780638745d4" /><Relationship Type="http://schemas.openxmlformats.org/officeDocument/2006/relationships/slideLayout" Target="/ppt/slideLayouts/slideLayout5.xml" Id="R226c277b87aa4d11" /><Relationship Type="http://schemas.openxmlformats.org/officeDocument/2006/relationships/slideLayout" Target="/ppt/slideLayouts/slideLayout6.xml" Id="Rbd6f430103ed40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d5fc0f78b94d33"/>
    <p:sldLayoutId xmlns:r="http://schemas.openxmlformats.org/officeDocument/2006/relationships" id="2147483650" r:id="R1880501a19754b6f"/>
    <p:sldLayoutId xmlns:r="http://schemas.openxmlformats.org/officeDocument/2006/relationships" id="2147483651" r:id="Rced772ef9b0942b0"/>
    <p:sldLayoutId xmlns:r="http://schemas.openxmlformats.org/officeDocument/2006/relationships" id="2147483652" r:id="R8b754780638745d4"/>
    <p:sldLayoutId xmlns:r="http://schemas.openxmlformats.org/officeDocument/2006/relationships" id="2147483653" r:id="R226c277b87aa4d11"/>
    <p:sldLayoutId xmlns:r="http://schemas.openxmlformats.org/officeDocument/2006/relationships" id="2147483654" r:id="Rbd6f430103ed40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f6ee8233304121" /><Relationship Type="http://schemas.openxmlformats.org/officeDocument/2006/relationships/notesSlide" Target="/ppt/notesSlides/notesSlide1.xml" Id="R49fd1716f3fe43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053cd5d1f14c29" /><Relationship Type="http://schemas.openxmlformats.org/officeDocument/2006/relationships/notesSlide" Target="/ppt/notesSlides/notesSlide2.xml" Id="R8185cc6351284c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e5973488bf4808" /><Relationship Type="http://schemas.openxmlformats.org/officeDocument/2006/relationships/notesSlide" Target="/ppt/notesSlides/notesSlide3.xml" Id="Rd4b148859c6441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42fd21cf904e78" /><Relationship Type="http://schemas.openxmlformats.org/officeDocument/2006/relationships/notesSlide" Target="/ppt/notesSlides/notesSlide4.xml" Id="Re63014ad19df44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9c6a701f8d4816" /><Relationship Type="http://schemas.openxmlformats.org/officeDocument/2006/relationships/notesSlide" Target="/ppt/notesSlides/notesSlide5.xml" Id="R62e3c7fce65849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6ea37ab7194fd9" /><Relationship Type="http://schemas.openxmlformats.org/officeDocument/2006/relationships/notesSlide" Target="/ppt/notesSlides/notesSlide6.xml" Id="R8ed4b65eba5c46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f887b3641640a1" /><Relationship Type="http://schemas.openxmlformats.org/officeDocument/2006/relationships/notesSlide" Target="/ppt/notesSlides/notesSlide7.xml" Id="Rb927f11480cf41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c17cb572d04bea" /><Relationship Type="http://schemas.openxmlformats.org/officeDocument/2006/relationships/notesSlide" Target="/ppt/notesSlides/notesSlide8.xml" Id="Rb260792e16ca43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d9216e5bc44cdd" /><Relationship Type="http://schemas.openxmlformats.org/officeDocument/2006/relationships/notesSlide" Target="/ppt/notesSlides/notesSlide9.xml" Id="R0aa88a72515148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f1ddea3b474a4d" /><Relationship Type="http://schemas.openxmlformats.org/officeDocument/2006/relationships/notesSlide" Target="/ppt/notesSlides/notesSlide10.xml" Id="R4dcb2d8add0b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b0f4d95a5444bd" /><Relationship Type="http://schemas.openxmlformats.org/officeDocument/2006/relationships/notesSlide" Target="/ppt/notesSlides/notesSlide11.xml" Id="R9ddf2468e6b34a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3bb16ae00741e3" /><Relationship Type="http://schemas.openxmlformats.org/officeDocument/2006/relationships/notesSlide" Target="/ppt/notesSlides/notesSlide12.xml" Id="R4e637083e3fe45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bd22fdb29d94726" /><Relationship Type="http://schemas.openxmlformats.org/officeDocument/2006/relationships/notesSlide" Target="/ppt/notesSlides/notesSlide13.xml" Id="Rbdb792a8dc4840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6f344a18346404a" /><Relationship Type="http://schemas.openxmlformats.org/officeDocument/2006/relationships/notesSlide" Target="/ppt/notesSlides/notesSlide14.xml" Id="R1446206715af45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90c50c968e4cf2" /><Relationship Type="http://schemas.openxmlformats.org/officeDocument/2006/relationships/notesSlide" Target="/ppt/notesSlides/notesSlide15.xml" Id="R810d6e7fe4b245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55c35064794426" /><Relationship Type="http://schemas.openxmlformats.org/officeDocument/2006/relationships/notesSlide" Target="/ppt/notesSlides/notesSlide16.xml" Id="R8b9a1b2b09074d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4f99ddbf7ee4f25" /><Relationship Type="http://schemas.openxmlformats.org/officeDocument/2006/relationships/notesSlide" Target="/ppt/notesSlides/notesSlide17.xml" Id="R53f253694deb45cd" /></Relationships>
</file>

<file path=ppt/slides/slide1.xml><?xml version="1.0" encoding="utf-8"?>
<p:sld xmlns:p="http://schemas.openxmlformats.org/presentationml/2006/main">
  <p:cSld>
    <p:bg>
      <p:bgPr>
        <a:solidFill xmlns:a="http://schemas.openxmlformats.org/drawingml/2006/main">
          <a:srgbClr val="1021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CEB1FA-62FC-4AE6-B7A0-41314D284EED}"/>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C8F36A"/>
                </a:solidFill>
                <a:latin typeface="Arial"/>
                <a:ea typeface="Arial"/>
                <a:cs typeface="Arial"/>
              </a:defRPr>
            </a:defPPr>
          </a:lstStyle>
          <a:p xmlns:a="http://schemas.openxmlformats.org/drawingml/2006/main">
            <a:pPr>
              <a:defRPr sz="1200" b="1">
                <a:solidFill>
                  <a:srgbClr val="C8F36A"/>
                </a:solidFill>
                <a:latin typeface="Arial"/>
                <a:ea typeface="Arial"/>
                <a:cs typeface="Arial"/>
              </a:defRPr>
            </a:pPr>
            <a:r>
              <a:rPr sz="1200" b="1">
                <a:solidFill>
                  <a:srgbClr val="C8F36A"/>
                </a:solidFill>
                <a:latin typeface="Arial"/>
                <a:ea typeface="Arial"/>
                <a:cs typeface="Arial"/>
              </a:rPr>
              <a:t>DBMS MINI PROJECT</a:t>
            </a:r>
          </a:p>
        </p:txBody>
      </p:sp>
      <p:sp>
        <p:nvSpPr>
          <p:cNvPr id="2" name="">
            <a:extLst xmlns:a="http://schemas.openxmlformats.org/drawingml/2006/main">
              <a:ext uri="{FF2B5EF4-FFF2-40B4-BE49-F238E27FC236}">
                <a16:creationId xmlns:a16="http://schemas.microsoft.com/office/drawing/2014/main" id="{10307A6D-89F4-4EB2-8FAD-A2F1BBB05153}"/>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DevMatch AI</a:t>
            </a:r>
          </a:p>
        </p:txBody>
      </p:sp>
      <p:sp>
        <p:nvSpPr>
          <p:cNvPr id="3" name="">
            <a:extLst xmlns:a="http://schemas.openxmlformats.org/drawingml/2006/main">
              <a:ext uri="{FF2B5EF4-FFF2-40B4-BE49-F238E27FC236}">
                <a16:creationId xmlns:a16="http://schemas.microsoft.com/office/drawing/2014/main" id="{C68AED30-17E9-4E4A-A4DA-A616DFF2E7C7}"/>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9BDD6"/>
                </a:solidFill>
                <a:latin typeface="Arial"/>
                <a:ea typeface="Arial"/>
                <a:cs typeface="Arial"/>
              </a:defRPr>
            </a:defPPr>
          </a:lstStyle>
          <a:p xmlns:a="http://schemas.openxmlformats.org/drawingml/2006/main">
            <a:pPr>
              <a:defRPr sz="1050" b="0">
                <a:solidFill>
                  <a:srgbClr val="A9BDD6"/>
                </a:solidFill>
                <a:latin typeface="Arial"/>
                <a:ea typeface="Arial"/>
                <a:cs typeface="Arial"/>
              </a:defRPr>
            </a:pPr>
            <a:r>
              <a:rPr sz="1050" b="0">
                <a:solidFill>
                  <a:srgbClr val="A9BDD6"/>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E4C734EC-B6E8-4169-866F-33B1E7045E65}"/>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C8F36A"/>
                </a:solidFill>
                <a:latin typeface="Arial"/>
                <a:ea typeface="Arial"/>
                <a:cs typeface="Arial"/>
              </a:defRPr>
            </a:defPPr>
          </a:lstStyle>
          <a:p xmlns:a="http://schemas.openxmlformats.org/drawingml/2006/main">
            <a:pPr>
              <a:defRPr sz="1200" b="0">
                <a:solidFill>
                  <a:srgbClr val="C8F36A"/>
                </a:solidFill>
                <a:latin typeface="Arial"/>
                <a:ea typeface="Arial"/>
                <a:cs typeface="Arial"/>
              </a:defRPr>
            </a:pPr>
            <a:r>
              <a:rPr sz="1200" b="0">
                <a:solidFill>
                  <a:srgbClr val="C8F36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1692622-C37E-42C3-B205-EF8DC5198780}"/>
              </a:ext>
            </a:extLst>
          </p:cNvPr>
          <p:cNvSpPr>
            <a:spLocks xmlns:a="http://schemas.openxmlformats.org/drawingml/2006/main" noGrp="1"/>
          </p:cNvSpPr>
          <p:nvPr/>
        </p:nvSpPr>
        <p:spPr>
          <a:xfrm xmlns:a="http://schemas.openxmlformats.org/drawingml/2006/main">
            <a:off x="609600" y="22383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0">
                <a:solidFill>
                  <a:srgbClr val="FFFFFF"/>
                </a:solidFill>
                <a:latin typeface="Arial"/>
                <a:ea typeface="Arial"/>
                <a:cs typeface="Arial"/>
              </a:defRPr>
            </a:defPPr>
          </a:lstStyle>
          <a:p xmlns:a="http://schemas.openxmlformats.org/drawingml/2006/main">
            <a:pPr>
              <a:defRPr sz="3450" b="0">
                <a:solidFill>
                  <a:srgbClr val="FFFFFF"/>
                </a:solidFill>
                <a:latin typeface="Arial"/>
                <a:ea typeface="Arial"/>
                <a:cs typeface="Arial"/>
              </a:defRPr>
            </a:pPr>
            <a:r>
              <a:rPr sz="3450" b="0">
                <a:solidFill>
                  <a:srgbClr val="FFFFFF"/>
                </a:solidFill>
                <a:latin typeface="Arial"/>
                <a:ea typeface="Arial"/>
                <a:cs typeface="Arial"/>
              </a:rPr>
              <a:t>Developer Portfolio &amp; Hiring Platform</a:t>
            </a:r>
          </a:p>
        </p:txBody>
      </p:sp>
      <p:sp>
        <p:nvSpPr>
          <p:cNvPr id="6" name="">
            <a:extLst xmlns:a="http://schemas.openxmlformats.org/drawingml/2006/main">
              <a:ext uri="{FF2B5EF4-FFF2-40B4-BE49-F238E27FC236}">
                <a16:creationId xmlns:a16="http://schemas.microsoft.com/office/drawing/2014/main" id="{FE1886F4-902E-44AF-A4A0-2251B940A2E3}"/>
              </a:ext>
            </a:extLst>
          </p:cNvPr>
          <p:cNvSpPr>
            <a:spLocks xmlns:a="http://schemas.openxmlformats.org/drawingml/2006/main" noGrp="1"/>
          </p:cNvSpPr>
          <p:nvPr/>
        </p:nvSpPr>
        <p:spPr>
          <a:xfrm xmlns:a="http://schemas.openxmlformats.org/drawingml/2006/main">
            <a:off x="609600" y="3905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A9BDD6"/>
                </a:solidFill>
                <a:latin typeface="Arial"/>
                <a:ea typeface="Arial"/>
                <a:cs typeface="Arial"/>
              </a:defRPr>
            </a:defPPr>
          </a:lstStyle>
          <a:p xmlns:a="http://schemas.openxmlformats.org/drawingml/2006/main">
            <a:pPr>
              <a:defRPr sz="2250" b="0">
                <a:solidFill>
                  <a:srgbClr val="A9BDD6"/>
                </a:solidFill>
                <a:latin typeface="Arial"/>
                <a:ea typeface="Arial"/>
                <a:cs typeface="Arial"/>
              </a:defRPr>
            </a:pPr>
            <a:r>
              <a:rPr sz="2250" b="0">
                <a:solidFill>
                  <a:srgbClr val="A9BDD6"/>
                </a:solidFill>
                <a:latin typeface="Arial"/>
                <a:ea typeface="Arial"/>
                <a:cs typeface="Arial"/>
              </a:rPr>
              <a:t>A relational database project using Flask and MySQL</a:t>
            </a:r>
          </a:p>
        </p:txBody>
      </p:sp>
      <p:sp>
        <p:nvSpPr>
          <p:cNvPr id="7" name="">
            <a:extLst xmlns:a="http://schemas.openxmlformats.org/drawingml/2006/main">
              <a:ext uri="{FF2B5EF4-FFF2-40B4-BE49-F238E27FC236}">
                <a16:creationId xmlns:a16="http://schemas.microsoft.com/office/drawing/2014/main" id="{C166FA5C-B912-46A2-AF27-6FC24DC81C6D}"/>
              </a:ext>
            </a:extLst>
          </p:cNvPr>
          <p:cNvSpPr>
            <a:spLocks xmlns:a="http://schemas.openxmlformats.org/drawingml/2006/main" noGrp="1"/>
          </p:cNvSpPr>
          <p:nvPr/>
        </p:nvSpPr>
        <p:spPr>
          <a:xfrm xmlns:a="http://schemas.openxmlformats.org/drawingml/2006/main">
            <a:off x="609600" y="5286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F36A"/>
                </a:solidFill>
                <a:latin typeface="Arial"/>
                <a:ea typeface="Arial"/>
                <a:cs typeface="Arial"/>
              </a:defRPr>
            </a:defPPr>
          </a:lstStyle>
          <a:p xmlns:a="http://schemas.openxmlformats.org/drawingml/2006/main">
            <a:pPr>
              <a:defRPr sz="1875" b="0">
                <a:solidFill>
                  <a:srgbClr val="C8F36A"/>
                </a:solidFill>
                <a:latin typeface="Arial"/>
                <a:ea typeface="Arial"/>
                <a:cs typeface="Arial"/>
              </a:defRPr>
            </a:pPr>
            <a:r>
              <a:rPr sz="1875" b="0">
                <a:solidFill>
                  <a:srgbClr val="C8F36A"/>
                </a:solidFill>
                <a:latin typeface="Arial"/>
                <a:ea typeface="Arial"/>
                <a:cs typeface="Arial"/>
              </a:rPr>
              <a:t>15-minute project presentation</a:t>
            </a:r>
          </a:p>
        </p:txBody>
      </p:sp>
    </p:spTree>
    <p:extLst>
      <p:ext uri="{BB962C8B-B14F-4D97-AF65-F5344CB8AC3E}">
        <p14:creationId xmlns:p14="http://schemas.microsoft.com/office/powerpoint/2010/main" val="1921027994"/>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A54753-6346-469F-AE74-A82B77F4CF99}"/>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01 / INTRODUCTION</a:t>
            </a:r>
          </a:p>
        </p:txBody>
      </p:sp>
      <p:sp>
        <p:nvSpPr>
          <p:cNvPr id="2" name="">
            <a:extLst xmlns:a="http://schemas.openxmlformats.org/drawingml/2006/main">
              <a:ext uri="{FF2B5EF4-FFF2-40B4-BE49-F238E27FC236}">
                <a16:creationId xmlns:a16="http://schemas.microsoft.com/office/drawing/2014/main" id="{7AE05579-F6AC-4DDC-B4D8-EC5E7CAE88A0}"/>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30AFAEDA-B57C-488A-9C02-60DA5A9D8474}"/>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301A2005-65FE-4910-BE13-32C9781946D4}"/>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DB44BC7-67A0-44F4-B1CA-701D923772FE}"/>
              </a:ext>
            </a:extLst>
          </p:cNvPr>
          <p:cNvSpPr>
            <a:spLocks xmlns:a="http://schemas.openxmlformats.org/drawingml/2006/main" noGrp="1"/>
          </p:cNvSpPr>
          <p:nvPr/>
        </p:nvSpPr>
        <p:spPr>
          <a:xfrm xmlns:a="http://schemas.openxmlformats.org/drawingml/2006/main">
            <a:off x="609600" y="1752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Hiring information is scattered</a:t>
            </a:r>
          </a:p>
        </p:txBody>
      </p:sp>
      <p:sp>
        <p:nvSpPr>
          <p:cNvPr id="6" name="">
            <a:extLst xmlns:a="http://schemas.openxmlformats.org/drawingml/2006/main">
              <a:ext uri="{FF2B5EF4-FFF2-40B4-BE49-F238E27FC236}">
                <a16:creationId xmlns:a16="http://schemas.microsoft.com/office/drawing/2014/main" id="{CD57E931-9F94-4613-A9B7-52B18B604CF4}"/>
              </a:ext>
            </a:extLst>
          </p:cNvPr>
          <p:cNvSpPr>
            <a:spLocks xmlns:a="http://schemas.openxmlformats.org/drawingml/2006/main" noGrp="1"/>
          </p:cNvSpPr>
          <p:nvPr/>
        </p:nvSpPr>
        <p:spPr>
          <a:xfrm xmlns:a="http://schemas.openxmlformats.org/drawingml/2006/main">
            <a:off x="609600" y="22098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Profiles, portfolios, resumes and job requirements often exist in separate places.</a:t>
            </a:r>
          </a:p>
        </p:txBody>
      </p:sp>
      <p:sp>
        <p:nvSpPr>
          <p:cNvPr id="7" name="">
            <a:extLst xmlns:a="http://schemas.openxmlformats.org/drawingml/2006/main">
              <a:ext uri="{FF2B5EF4-FFF2-40B4-BE49-F238E27FC236}">
                <a16:creationId xmlns:a16="http://schemas.microsoft.com/office/drawing/2014/main" id="{EE05C466-2274-4474-86AD-9FCD03537A21}"/>
              </a:ext>
            </a:extLst>
          </p:cNvPr>
          <p:cNvSpPr>
            <a:spLocks xmlns:a="http://schemas.openxmlformats.org/drawingml/2006/main" noGrp="1"/>
          </p:cNvSpPr>
          <p:nvPr/>
        </p:nvSpPr>
        <p:spPr>
          <a:xfrm xmlns:a="http://schemas.openxmlformats.org/drawingml/2006/main">
            <a:off x="609600" y="3209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Unstructured skill lists make comparison difficult</a:t>
            </a:r>
          </a:p>
        </p:txBody>
      </p:sp>
      <p:sp>
        <p:nvSpPr>
          <p:cNvPr id="8" name="">
            <a:extLst xmlns:a="http://schemas.openxmlformats.org/drawingml/2006/main">
              <a:ext uri="{FF2B5EF4-FFF2-40B4-BE49-F238E27FC236}">
                <a16:creationId xmlns:a16="http://schemas.microsoft.com/office/drawing/2014/main" id="{9E084E16-3A3C-4D51-A4DD-5CE507E049AE}"/>
              </a:ext>
            </a:extLst>
          </p:cNvPr>
          <p:cNvSpPr>
            <a:spLocks xmlns:a="http://schemas.openxmlformats.org/drawingml/2006/main" noGrp="1"/>
          </p:cNvSpPr>
          <p:nvPr/>
        </p:nvSpPr>
        <p:spPr>
          <a:xfrm xmlns:a="http://schemas.openxmlformats.org/drawingml/2006/main">
            <a:off x="609600" y="3667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Repeated details and comma-separated values complicate search and updates.</a:t>
            </a:r>
          </a:p>
        </p:txBody>
      </p:sp>
      <p:sp>
        <p:nvSpPr>
          <p:cNvPr id="9" name="">
            <a:extLst xmlns:a="http://schemas.openxmlformats.org/drawingml/2006/main">
              <a:ext uri="{FF2B5EF4-FFF2-40B4-BE49-F238E27FC236}">
                <a16:creationId xmlns:a16="http://schemas.microsoft.com/office/drawing/2014/main" id="{431FE94C-9815-4705-9A7B-BB145F6FD5AC}"/>
              </a:ext>
            </a:extLst>
          </p:cNvPr>
          <p:cNvSpPr>
            <a:spLocks xmlns:a="http://schemas.openxmlformats.org/drawingml/2006/main" noGrp="1"/>
          </p:cNvSpPr>
          <p:nvPr/>
        </p:nvSpPr>
        <p:spPr>
          <a:xfrm xmlns:a="http://schemas.openxmlformats.org/drawingml/2006/main">
            <a:off x="609600" y="4667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Proposed solution</a:t>
            </a:r>
          </a:p>
        </p:txBody>
      </p:sp>
      <p:sp>
        <p:nvSpPr>
          <p:cNvPr id="10" name="">
            <a:extLst xmlns:a="http://schemas.openxmlformats.org/drawingml/2006/main">
              <a:ext uri="{FF2B5EF4-FFF2-40B4-BE49-F238E27FC236}">
                <a16:creationId xmlns:a16="http://schemas.microsoft.com/office/drawing/2014/main" id="{0370611A-A518-40C7-B203-EE9EB632441A}"/>
              </a:ext>
            </a:extLst>
          </p:cNvPr>
          <p:cNvSpPr>
            <a:spLocks xmlns:a="http://schemas.openxmlformats.org/drawingml/2006/main" noGrp="1"/>
          </p:cNvSpPr>
          <p:nvPr/>
        </p:nvSpPr>
        <p:spPr>
          <a:xfrm xmlns:a="http://schemas.openxmlformats.org/drawingml/2006/main">
            <a:off x="609600" y="51244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A web application that connects developer evidence, job requirements and application decisions through related MySQL tables.</a:t>
            </a:r>
          </a:p>
        </p:txBody>
      </p:sp>
    </p:spTree>
    <p:extLst>
      <p:ext uri="{BB962C8B-B14F-4D97-AF65-F5344CB8AC3E}">
        <p14:creationId xmlns:p14="http://schemas.microsoft.com/office/powerpoint/2010/main" val="184271708"/>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0D3778-986C-4B47-A6C5-DDC000112456}"/>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01 / INTRODUCTION</a:t>
            </a:r>
          </a:p>
        </p:txBody>
      </p:sp>
      <p:sp>
        <p:nvSpPr>
          <p:cNvPr id="2" name="">
            <a:extLst xmlns:a="http://schemas.openxmlformats.org/drawingml/2006/main">
              <a:ext uri="{FF2B5EF4-FFF2-40B4-BE49-F238E27FC236}">
                <a16:creationId xmlns:a16="http://schemas.microsoft.com/office/drawing/2014/main" id="{B738365F-9774-4A05-847A-4C41EC933A6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Objectives and application modules</a:t>
            </a:r>
          </a:p>
        </p:txBody>
      </p:sp>
      <p:sp>
        <p:nvSpPr>
          <p:cNvPr id="3" name="">
            <a:extLst xmlns:a="http://schemas.openxmlformats.org/drawingml/2006/main">
              <a:ext uri="{FF2B5EF4-FFF2-40B4-BE49-F238E27FC236}">
                <a16:creationId xmlns:a16="http://schemas.microsoft.com/office/drawing/2014/main" id="{490F6CFF-95EA-44B3-BD1B-FBC647C8B17C}"/>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E1964CE8-7B37-41BF-BB1F-841E3AFE4DA0}"/>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1074530D-51FB-4E3B-B205-9BE9A63B0DDC}"/>
              </a:ext>
            </a:extLst>
          </p:cNvPr>
          <p:cNvGraphicFramePr/>
          <p:nvPr/>
        </p:nvGraphicFramePr>
        <p:xfrm>
          <a:off xmlns:a="http://schemas.openxmlformats.org/drawingml/2006/main" x="609600" y="17811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685800">
                <a:tc>
                  <a:txBody>
                    <a:bodyPr lIns="95250" tIns="95250" rIns="95250" bIns="95250"/>
                    <a:lstStyle/>
                    <a:p>
                      <a:r>
                        <a:rPr sz="1650" b="1">
                          <a:solidFill>
                            <a:srgbClr val="FFFFFF"/>
                          </a:solidFill>
                          <a:latin typeface="Arial"/>
                          <a:ea typeface="Arial"/>
                          <a:cs typeface="Arial"/>
                        </a:rPr>
                        <a:t>Developer</a:t>
                      </a:r>
                    </a:p>
                  </a:txBody>
                  <a:tcPr marL="91440" marR="91440" marT="45720" marB="45720"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lIns="95250" tIns="95250" rIns="95250" bIns="95250"/>
                    <a:lstStyle/>
                    <a:p>
                      <a:r>
                        <a:rPr sz="1650" b="1">
                          <a:solidFill>
                            <a:srgbClr val="FFFFFF"/>
                          </a:solidFill>
                          <a:latin typeface="Arial"/>
                          <a:ea typeface="Arial"/>
                          <a:cs typeface="Arial"/>
                        </a:rPr>
                        <a:t>Recruiter</a:t>
                      </a:r>
                    </a:p>
                  </a:txBody>
                  <a:tcPr marL="91440" marR="91440" marT="45720" marB="45720" anchor="ctr">
                    <a:lnR w="9525">
                      <a:solidFill>
                        <a:srgbClr val="D5DDE8"/>
                      </a:solidFill>
                    </a:lnR>
                    <a:lnT w="9525">
                      <a:solidFill>
                        <a:srgbClr val="D5DDE8"/>
                      </a:solidFill>
                    </a:lnT>
                    <a:lnB w="9525">
                      <a:solidFill>
                        <a:srgbClr val="D5DDE8"/>
                      </a:solidFill>
                    </a:lnB>
                    <a:solidFill>
                      <a:srgbClr val="10213A"/>
                    </a:solidFill>
                  </a:tcPr>
                </a:tc>
              </a:tr>
              <a:tr h="685800">
                <a:tc>
                  <a:txBody>
                    <a:bodyPr lIns="95250" tIns="95250" rIns="95250" bIns="95250"/>
                    <a:lstStyle/>
                    <a:p>
                      <a:r>
                        <a:rPr sz="1650" b="0">
                          <a:solidFill>
                            <a:srgbClr val="15283F"/>
                          </a:solidFill>
                          <a:latin typeface="Arial"/>
                          <a:ea typeface="Arial"/>
                          <a:cs typeface="Arial"/>
                        </a:rPr>
                        <a:t>Maintain profile, skills and projects</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Maintain company profile and vacancies</a:t>
                      </a:r>
                    </a:p>
                  </a:txBody>
                  <a:tcPr marL="91440" marR="91440" marT="45720" marB="45720" anchor="ctr">
                    <a:lnR w="9525">
                      <a:solidFill>
                        <a:srgbClr val="D5DDE8"/>
                      </a:solidFill>
                    </a:lnR>
                    <a:lnB w="9525">
                      <a:solidFill>
                        <a:srgbClr val="D5DDE8"/>
                      </a:solidFill>
                    </a:lnB>
                    <a:solidFill>
                      <a:srgbClr val="FFFFFF"/>
                    </a:solidFill>
                  </a:tcPr>
                </a:tc>
              </a:tr>
              <a:tr h="685800">
                <a:tc>
                  <a:txBody>
                    <a:bodyPr lIns="95250" tIns="95250" rIns="95250" bIns="95250"/>
                    <a:lstStyle/>
                    <a:p>
                      <a:r>
                        <a:rPr sz="1650" b="0">
                          <a:solidFill>
                            <a:srgbClr val="15283F"/>
                          </a:solidFill>
                          <a:latin typeface="Arial"/>
                          <a:ea typeface="Arial"/>
                          <a:cs typeface="Arial"/>
                        </a:rPr>
                        <a:t>Upload PDF and view resume analysis</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Review applicant profiles and resumes</a:t>
                      </a:r>
                    </a:p>
                  </a:txBody>
                  <a:tcPr marL="91440" marR="91440" marT="45720" marB="45720" anchor="ctr">
                    <a:lnR w="9525">
                      <a:solidFill>
                        <a:srgbClr val="D5DDE8"/>
                      </a:solidFill>
                    </a:lnR>
                    <a:lnB w="9525">
                      <a:solidFill>
                        <a:srgbClr val="D5DDE8"/>
                      </a:solidFill>
                    </a:lnB>
                    <a:solidFill>
                      <a:srgbClr val="EDF1F6"/>
                    </a:solidFill>
                  </a:tcPr>
                </a:tc>
              </a:tr>
              <a:tr h="685800">
                <a:tc>
                  <a:txBody>
                    <a:bodyPr lIns="95250" tIns="95250" rIns="95250" bIns="95250"/>
                    <a:lstStyle/>
                    <a:p>
                      <a:r>
                        <a:rPr sz="1650" b="0">
                          <a:solidFill>
                            <a:srgbClr val="15283F"/>
                          </a:solidFill>
                          <a:latin typeface="Arial"/>
                          <a:ea typeface="Arial"/>
                          <a:cs typeface="Arial"/>
                        </a:rPr>
                        <a:t>Search jobs and apply once per job</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Inspect matched and missing skills</a:t>
                      </a:r>
                    </a:p>
                  </a:txBody>
                  <a:tcPr marL="91440" marR="91440" marT="45720" marB="45720" anchor="ctr">
                    <a:lnR w="9525">
                      <a:solidFill>
                        <a:srgbClr val="D5DDE8"/>
                      </a:solidFill>
                    </a:lnR>
                    <a:lnB w="9525">
                      <a:solidFill>
                        <a:srgbClr val="D5DDE8"/>
                      </a:solidFill>
                    </a:lnB>
                    <a:solidFill>
                      <a:srgbClr val="FFFFFF"/>
                    </a:solidFill>
                  </a:tcPr>
                </a:tc>
              </a:tr>
              <a:tr h="685800">
                <a:tc>
                  <a:txBody>
                    <a:bodyPr lIns="95250" tIns="95250" rIns="95250" bIns="95250"/>
                    <a:lstStyle/>
                    <a:p>
                      <a:r>
                        <a:rPr sz="1650" b="0">
                          <a:solidFill>
                            <a:srgbClr val="15283F"/>
                          </a:solidFill>
                          <a:latin typeface="Arial"/>
                          <a:ea typeface="Arial"/>
                          <a:cs typeface="Arial"/>
                        </a:rPr>
                        <a:t>Track application status</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Change application status after review</a:t>
                      </a:r>
                    </a:p>
                  </a:txBody>
                  <a:tcPr marL="91440" marR="91440" marT="45720" marB="45720" anchor="ctr">
                    <a:lnR w="9525">
                      <a:solidFill>
                        <a:srgbClr val="D5DDE8"/>
                      </a:solidFill>
                    </a:lnR>
                    <a:lnB w="9525">
                      <a:solidFill>
                        <a:srgbClr val="D5DDE8"/>
                      </a:solidFill>
                    </a:lnB>
                    <a:solidFill>
                      <a:srgbClr val="EDF1F6"/>
                    </a:solidFill>
                  </a:tcPr>
                </a:tc>
              </a:tr>
            </a:tbl>
          </a:graphicData>
        </a:graphic>
      </p:graphicFrame>
      <p:sp>
        <p:nvSpPr>
          <p:cNvPr id="6" name="">
            <a:extLst xmlns:a="http://schemas.openxmlformats.org/drawingml/2006/main">
              <a:ext uri="{FF2B5EF4-FFF2-40B4-BE49-F238E27FC236}">
                <a16:creationId xmlns:a16="http://schemas.microsoft.com/office/drawing/2014/main" id="{0A2271D2-1413-4608-AA80-ABDA26D7BEDF}"/>
              </a:ext>
            </a:extLst>
          </p:cNvPr>
          <p:cNvSpPr>
            <a:spLocks xmlns:a="http://schemas.openxmlformats.org/drawingml/2006/main" noGrp="1"/>
          </p:cNvSpPr>
          <p:nvPr/>
        </p:nvSpPr>
        <p:spPr>
          <a:xfrm xmlns:a="http://schemas.openxmlformats.org/drawingml/2006/main">
            <a:off x="609600" y="55530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BDF"/>
                </a:solidFill>
                <a:latin typeface="Arial"/>
                <a:ea typeface="Arial"/>
                <a:cs typeface="Arial"/>
              </a:defRPr>
            </a:defPPr>
          </a:lstStyle>
          <a:p xmlns:a="http://schemas.openxmlformats.org/drawingml/2006/main">
            <a:pPr>
              <a:defRPr sz="2025" b="1">
                <a:solidFill>
                  <a:srgbClr val="315BDF"/>
                </a:solidFill>
                <a:latin typeface="Arial"/>
                <a:ea typeface="Arial"/>
                <a:cs typeface="Arial"/>
              </a:defRPr>
            </a:pPr>
            <a:r>
              <a:rPr sz="2025" b="1">
                <a:solidFill>
                  <a:srgbClr val="315BDF"/>
                </a:solidFill>
                <a:latin typeface="Arial"/>
                <a:ea typeface="Arial"/>
                <a:cs typeface="Arial"/>
              </a:rPr>
              <a:t>DBMS objective: related tables, normalized data, integrity constraints and SQL demonstrations</a:t>
            </a:r>
          </a:p>
        </p:txBody>
      </p:sp>
    </p:spTree>
    <p:extLst>
      <p:ext uri="{BB962C8B-B14F-4D97-AF65-F5344CB8AC3E}">
        <p14:creationId xmlns:p14="http://schemas.microsoft.com/office/powerpoint/2010/main" val="395542751"/>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123F8C40-F59C-4056-AE2D-0B76DE42EDBB}"/>
              </a:ext>
            </a:extLst>
          </p:cNvPr>
          <p:cNvCxnSpPr>
            <a:stCxn xmlns:a="http://schemas.openxmlformats.org/drawingml/2006/main" id="6" idx="3"/>
            <a:endCxn xmlns:a="http://schemas.openxmlformats.org/drawingml/2006/main" id="7" idx="1"/>
          </p:cNvCxnSpPr>
          <p:nvPr/>
        </p:nvCxnSpPr>
        <p:spPr>
          <a:xfrm xmlns:a="http://schemas.openxmlformats.org/drawingml/2006/main">
            <a:off x="7562850" y="2514600"/>
            <a:ext cx="10477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8" name="">
            <a:extLst xmlns:a="http://schemas.openxmlformats.org/drawingml/2006/main">
              <a:ext uri="{FF2B5EF4-FFF2-40B4-BE49-F238E27FC236}">
                <a16:creationId xmlns:a16="http://schemas.microsoft.com/office/drawing/2014/main" id="{AAD80C32-856E-494F-80E9-94CFF19E2167}"/>
              </a:ext>
            </a:extLst>
          </p:cNvPr>
          <p:cNvCxnSpPr>
            <a:stCxn xmlns:a="http://schemas.openxmlformats.org/drawingml/2006/main" id="5" idx="3"/>
            <a:endCxn xmlns:a="http://schemas.openxmlformats.org/drawingml/2006/main" id="6" idx="1"/>
          </p:cNvCxnSpPr>
          <p:nvPr/>
        </p:nvCxnSpPr>
        <p:spPr>
          <a:xfrm xmlns:a="http://schemas.openxmlformats.org/drawingml/2006/main">
            <a:off x="3562350" y="2514600"/>
            <a:ext cx="10477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sp>
        <p:nvSpPr>
          <p:cNvPr id="13" name="">
            <a:extLst xmlns:a="http://schemas.openxmlformats.org/drawingml/2006/main">
              <a:ext uri="{FF2B5EF4-FFF2-40B4-BE49-F238E27FC236}">
                <a16:creationId xmlns:a16="http://schemas.microsoft.com/office/drawing/2014/main" id="{619FE6E6-2725-4759-A4B1-C13FC51B67B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02 / DEVELOPMENT</a:t>
            </a:r>
          </a:p>
        </p:txBody>
      </p:sp>
      <p:sp>
        <p:nvSpPr>
          <p:cNvPr id="2" name="">
            <a:extLst xmlns:a="http://schemas.openxmlformats.org/drawingml/2006/main">
              <a:ext uri="{FF2B5EF4-FFF2-40B4-BE49-F238E27FC236}">
                <a16:creationId xmlns:a16="http://schemas.microsoft.com/office/drawing/2014/main" id="{2A7F0256-D119-410D-9BAB-14315D47DAB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4E748175-5B49-41A5-B6BB-CBD500C8806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2072ACFF-587E-4D3E-A426-795C6B5D9570}"/>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F637D66-9346-47B9-A83D-AA77F90F1DE0}"/>
              </a:ext>
            </a:extLst>
          </p:cNvPr>
          <p:cNvSpPr>
            <a:spLocks xmlns:a="http://schemas.openxmlformats.org/drawingml/2006/main" noGrp="1"/>
          </p:cNvSpPr>
          <p:nvPr/>
        </p:nvSpPr>
        <p:spPr>
          <a:xfrm xmlns:a="http://schemas.openxmlformats.org/drawingml/2006/main">
            <a:off x="6096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Desktop / laptop browser</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HTML, CSS, JavaScript and Jinja</a:t>
            </a:r>
          </a:p>
        </p:txBody>
      </p:sp>
      <p:sp>
        <p:nvSpPr>
          <p:cNvPr id="6" name="">
            <a:extLst xmlns:a="http://schemas.openxmlformats.org/drawingml/2006/main">
              <a:ext uri="{FF2B5EF4-FFF2-40B4-BE49-F238E27FC236}">
                <a16:creationId xmlns:a16="http://schemas.microsoft.com/office/drawing/2014/main" id="{5E29C8DA-CD70-4175-B334-205088008B05}"/>
              </a:ext>
            </a:extLst>
          </p:cNvPr>
          <p:cNvSpPr>
            <a:spLocks xmlns:a="http://schemas.openxmlformats.org/drawingml/2006/main" noGrp="1"/>
          </p:cNvSpPr>
          <p:nvPr/>
        </p:nvSpPr>
        <p:spPr>
          <a:xfrm xmlns:a="http://schemas.openxmlformats.org/drawingml/2006/main">
            <a:off x="46101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Python + Flask</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Routes, sessions and validation</a:t>
            </a:r>
          </a:p>
        </p:txBody>
      </p:sp>
      <p:sp>
        <p:nvSpPr>
          <p:cNvPr id="7" name="">
            <a:extLst xmlns:a="http://schemas.openxmlformats.org/drawingml/2006/main">
              <a:ext uri="{FF2B5EF4-FFF2-40B4-BE49-F238E27FC236}">
                <a16:creationId xmlns:a16="http://schemas.microsoft.com/office/drawing/2014/main" id="{B0E5CA94-0C73-41F7-8E11-6735CF53212D}"/>
              </a:ext>
            </a:extLst>
          </p:cNvPr>
          <p:cNvSpPr>
            <a:spLocks xmlns:a="http://schemas.openxmlformats.org/drawingml/2006/main" noGrp="1"/>
          </p:cNvSpPr>
          <p:nvPr/>
        </p:nvSpPr>
        <p:spPr>
          <a:xfrm xmlns:a="http://schemas.openxmlformats.org/drawingml/2006/main">
            <a:off x="86106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MySQL 8</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SQLAlchemy + PyMySQL</a:t>
            </a:r>
          </a:p>
        </p:txBody>
      </p:sp>
      <p:sp>
        <p:nvSpPr>
          <p:cNvPr id="10" name="">
            <a:extLst xmlns:a="http://schemas.openxmlformats.org/drawingml/2006/main">
              <a:ext uri="{FF2B5EF4-FFF2-40B4-BE49-F238E27FC236}">
                <a16:creationId xmlns:a16="http://schemas.microsoft.com/office/drawing/2014/main" id="{EC76FD70-C062-45E8-ACE7-408CE313D1FB}"/>
              </a:ext>
            </a:extLst>
          </p:cNvPr>
          <p:cNvSpPr>
            <a:spLocks xmlns:a="http://schemas.openxmlformats.org/drawingml/2006/main" noGrp="1"/>
          </p:cNvSpPr>
          <p:nvPr/>
        </p:nvSpPr>
        <p:spPr>
          <a:xfrm xmlns:a="http://schemas.openxmlformats.org/drawingml/2006/main">
            <a:off x="609600" y="3790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Resume workflow</a:t>
            </a:r>
          </a:p>
        </p:txBody>
      </p:sp>
      <p:sp>
        <p:nvSpPr>
          <p:cNvPr id="11" name="">
            <a:extLst xmlns:a="http://schemas.openxmlformats.org/drawingml/2006/main">
              <a:ext uri="{FF2B5EF4-FFF2-40B4-BE49-F238E27FC236}">
                <a16:creationId xmlns:a16="http://schemas.microsoft.com/office/drawing/2014/main" id="{E3C21A7C-5DAC-4337-BE11-884288D0F3B8}"/>
              </a:ext>
            </a:extLst>
          </p:cNvPr>
          <p:cNvSpPr>
            <a:spLocks xmlns:a="http://schemas.openxmlformats.org/drawingml/2006/main" noGrp="1"/>
          </p:cNvSpPr>
          <p:nvPr/>
        </p:nvSpPr>
        <p:spPr>
          <a:xfrm xmlns:a="http://schemas.openxmlformats.org/drawingml/2006/main">
            <a:off x="609600" y="43053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PDF text extraction with PyMuPDF</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Optional Gemini analysis, with local extraction fallback</a:t>
            </a:r>
          </a:p>
        </p:txBody>
      </p:sp>
      <p:sp>
        <p:nvSpPr>
          <p:cNvPr id="12" name="">
            <a:extLst xmlns:a="http://schemas.openxmlformats.org/drawingml/2006/main">
              <a:ext uri="{FF2B5EF4-FFF2-40B4-BE49-F238E27FC236}">
                <a16:creationId xmlns:a16="http://schemas.microsoft.com/office/drawing/2014/main" id="{D4841986-094A-4027-B572-598C5033B3BC}"/>
              </a:ext>
            </a:extLst>
          </p:cNvPr>
          <p:cNvSpPr>
            <a:spLocks xmlns:a="http://schemas.openxmlformats.org/drawingml/2006/main" noGrp="1"/>
          </p:cNvSpPr>
          <p:nvPr/>
        </p:nvSpPr>
        <p:spPr>
          <a:xfrm xmlns:a="http://schemas.openxmlformats.org/drawingml/2006/main">
            <a:off x="609600" y="55149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76980"/>
                </a:solidFill>
                <a:latin typeface="Arial"/>
                <a:ea typeface="Arial"/>
                <a:cs typeface="Arial"/>
              </a:defRPr>
            </a:defPPr>
          </a:lstStyle>
          <a:p xmlns:a="http://schemas.openxmlformats.org/drawingml/2006/main">
            <a:pPr>
              <a:defRPr sz="1800" b="0">
                <a:solidFill>
                  <a:srgbClr val="576980"/>
                </a:solidFill>
                <a:latin typeface="Arial"/>
                <a:ea typeface="Arial"/>
                <a:cs typeface="Arial"/>
              </a:defRPr>
            </a:pPr>
            <a:r>
              <a:rPr sz="1800" b="0">
                <a:solidFill>
                  <a:srgbClr val="576980"/>
                </a:solidFill>
                <a:latin typeface="Arial"/>
                <a:ea typeface="Arial"/>
                <a:cs typeface="Arial"/>
              </a:rPr>
              <a:t>Optional Supabase Storage stores private resume PDFs. MySQL stores application records.</a:t>
            </a:r>
          </a:p>
        </p:txBody>
      </p:sp>
    </p:spTree>
    <p:extLst>
      <p:ext uri="{BB962C8B-B14F-4D97-AF65-F5344CB8AC3E}">
        <p14:creationId xmlns:p14="http://schemas.microsoft.com/office/powerpoint/2010/main" val="231724577"/>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31492B05-5764-4354-8BBC-5006BC811AC7}"/>
              </a:ext>
            </a:extLst>
          </p:cNvPr>
          <p:cNvCxnSpPr>
            <a:stCxn xmlns:a="http://schemas.openxmlformats.org/drawingml/2006/main" id="18" idx="2"/>
            <a:endCxn xmlns:a="http://schemas.openxmlformats.org/drawingml/2006/main" id="19" idx="0"/>
          </p:cNvCxnSpPr>
          <p:nvPr/>
        </p:nvCxnSpPr>
        <p:spPr>
          <a:xfrm xmlns:a="http://schemas.openxmlformats.org/drawingml/2006/main">
            <a:off x="6962775" y="4552950"/>
            <a:ext cx="0" cy="8382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7" name="">
            <a:extLst xmlns:a="http://schemas.openxmlformats.org/drawingml/2006/main">
              <a:ext uri="{FF2B5EF4-FFF2-40B4-BE49-F238E27FC236}">
                <a16:creationId xmlns:a16="http://schemas.microsoft.com/office/drawing/2014/main" id="{4A751C4A-E2D7-4697-8733-92AB4526DA13}"/>
              </a:ext>
            </a:extLst>
          </p:cNvPr>
          <p:cNvCxnSpPr>
            <a:stCxn xmlns:a="http://schemas.openxmlformats.org/drawingml/2006/main" id="16" idx="1"/>
            <a:endCxn xmlns:a="http://schemas.openxmlformats.org/drawingml/2006/main" id="18" idx="3"/>
          </p:cNvCxnSpPr>
          <p:nvPr/>
        </p:nvCxnSpPr>
        <p:spPr>
          <a:xfrm xmlns:a="http://schemas.openxmlformats.org/drawingml/2006/main" flipH="1">
            <a:off x="8058150" y="4276725"/>
            <a:ext cx="118110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6" name="">
            <a:extLst xmlns:a="http://schemas.openxmlformats.org/drawingml/2006/main">
              <a:ext uri="{FF2B5EF4-FFF2-40B4-BE49-F238E27FC236}">
                <a16:creationId xmlns:a16="http://schemas.microsoft.com/office/drawing/2014/main" id="{32FF5346-0E8F-4BF7-AF3C-6553E74AE66A}"/>
              </a:ext>
            </a:extLst>
          </p:cNvPr>
          <p:cNvCxnSpPr>
            <a:stCxn xmlns:a="http://schemas.openxmlformats.org/drawingml/2006/main" id="6" idx="3"/>
            <a:endCxn xmlns:a="http://schemas.openxmlformats.org/drawingml/2006/main" id="18" idx="0"/>
          </p:cNvCxnSpPr>
          <p:nvPr/>
        </p:nvCxnSpPr>
        <p:spPr>
          <a:xfrm xmlns:a="http://schemas.openxmlformats.org/drawingml/2006/main">
            <a:off x="2990850" y="2895600"/>
            <a:ext cx="3971925" cy="1104900"/>
          </a:xfrm>
          <a:prstGeom xmlns:a="http://schemas.openxmlformats.org/drawingml/2006/main" prst="bentConnector4">
            <a:avLst>
              <a:gd name="adj1" fmla="val 5755"/>
              <a:gd name="adj2" fmla="val 79310"/>
            </a:avLst>
          </a:prstGeom>
          <a:ln xmlns:a="http://schemas.openxmlformats.org/drawingml/2006/main" w="19050">
            <a:solidFill>
              <a:srgbClr val="315BDF"/>
            </a:solidFill>
            <a:headEnd type="none" w="med" len="med"/>
            <a:tailEnd type="none" w="med" len="med"/>
          </a:ln>
        </p:spPr>
      </p:cxnSp>
      <p:cxnSp>
        <p:nvCxnSpPr>
          <p:cNvPr id="25" name="">
            <a:extLst xmlns:a="http://schemas.openxmlformats.org/drawingml/2006/main">
              <a:ext uri="{FF2B5EF4-FFF2-40B4-BE49-F238E27FC236}">
                <a16:creationId xmlns:a16="http://schemas.microsoft.com/office/drawing/2014/main" id="{76475434-72EA-46DC-B91A-388156836FE3}"/>
              </a:ext>
            </a:extLst>
          </p:cNvPr>
          <p:cNvCxnSpPr>
            <a:stCxn xmlns:a="http://schemas.openxmlformats.org/drawingml/2006/main" id="16" idx="2"/>
            <a:endCxn xmlns:a="http://schemas.openxmlformats.org/drawingml/2006/main" id="17" idx="0"/>
          </p:cNvCxnSpPr>
          <p:nvPr/>
        </p:nvCxnSpPr>
        <p:spPr>
          <a:xfrm xmlns:a="http://schemas.openxmlformats.org/drawingml/2006/main">
            <a:off x="10334625" y="4552950"/>
            <a:ext cx="0" cy="8382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4" name="">
            <a:extLst xmlns:a="http://schemas.openxmlformats.org/drawingml/2006/main">
              <a:ext uri="{FF2B5EF4-FFF2-40B4-BE49-F238E27FC236}">
                <a16:creationId xmlns:a16="http://schemas.microsoft.com/office/drawing/2014/main" id="{903C1E6D-B99E-4251-8BBE-622017704BEE}"/>
              </a:ext>
            </a:extLst>
          </p:cNvPr>
          <p:cNvCxnSpPr>
            <a:stCxn xmlns:a="http://schemas.openxmlformats.org/drawingml/2006/main" id="7" idx="2"/>
            <a:endCxn xmlns:a="http://schemas.openxmlformats.org/drawingml/2006/main" id="16" idx="0"/>
          </p:cNvCxnSpPr>
          <p:nvPr/>
        </p:nvCxnSpPr>
        <p:spPr>
          <a:xfrm xmlns:a="http://schemas.openxmlformats.org/drawingml/2006/main" flipH="1">
            <a:off x="10334625" y="3181350"/>
            <a:ext cx="9525"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3" name="">
            <a:extLst xmlns:a="http://schemas.openxmlformats.org/drawingml/2006/main">
              <a:ext uri="{FF2B5EF4-FFF2-40B4-BE49-F238E27FC236}">
                <a16:creationId xmlns:a16="http://schemas.microsoft.com/office/drawing/2014/main" id="{196569F1-B3B2-46BA-A178-E957C045DC45}"/>
              </a:ext>
            </a:extLst>
          </p:cNvPr>
          <p:cNvCxnSpPr>
            <a:stCxn xmlns:a="http://schemas.openxmlformats.org/drawingml/2006/main" id="13" idx="2"/>
            <a:endCxn xmlns:a="http://schemas.openxmlformats.org/drawingml/2006/main" id="15" idx="0"/>
          </p:cNvCxnSpPr>
          <p:nvPr/>
        </p:nvCxnSpPr>
        <p:spPr>
          <a:xfrm xmlns:a="http://schemas.openxmlformats.org/drawingml/2006/main">
            <a:off x="3476625" y="4552950"/>
            <a:ext cx="571500" cy="8382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2" name="">
            <a:extLst xmlns:a="http://schemas.openxmlformats.org/drawingml/2006/main">
              <a:ext uri="{FF2B5EF4-FFF2-40B4-BE49-F238E27FC236}">
                <a16:creationId xmlns:a16="http://schemas.microsoft.com/office/drawing/2014/main" id="{C73FDE0E-2476-4E5B-B416-B2BCD0995CFB}"/>
              </a:ext>
            </a:extLst>
          </p:cNvPr>
          <p:cNvCxnSpPr>
            <a:stCxn xmlns:a="http://schemas.openxmlformats.org/drawingml/2006/main" id="6" idx="1"/>
            <a:endCxn xmlns:a="http://schemas.openxmlformats.org/drawingml/2006/main" id="14" idx="1"/>
          </p:cNvCxnSpPr>
          <p:nvPr/>
        </p:nvCxnSpPr>
        <p:spPr>
          <a:xfrm xmlns:a="http://schemas.openxmlformats.org/drawingml/2006/main">
            <a:off x="381000" y="2895600"/>
            <a:ext cx="228600" cy="2771775"/>
          </a:xfrm>
          <a:prstGeom xmlns:a="http://schemas.openxmlformats.org/drawingml/2006/main" prst="bentConnector4">
            <a:avLst/>
          </a:prstGeom>
          <a:ln xmlns:a="http://schemas.openxmlformats.org/drawingml/2006/main" w="19050">
            <a:solidFill>
              <a:srgbClr val="315BDF"/>
            </a:solidFill>
            <a:headEnd type="none" w="med" len="med"/>
            <a:tailEnd type="none" w="med" len="med"/>
          </a:ln>
        </p:spPr>
      </p:cxnSp>
      <p:cxnSp>
        <p:nvCxnSpPr>
          <p:cNvPr id="21" name="">
            <a:extLst xmlns:a="http://schemas.openxmlformats.org/drawingml/2006/main">
              <a:ext uri="{FF2B5EF4-FFF2-40B4-BE49-F238E27FC236}">
                <a16:creationId xmlns:a16="http://schemas.microsoft.com/office/drawing/2014/main" id="{A2B2D53C-4F63-4216-8D5A-5FB05CE29F8D}"/>
              </a:ext>
            </a:extLst>
          </p:cNvPr>
          <p:cNvCxnSpPr>
            <a:stCxn xmlns:a="http://schemas.openxmlformats.org/drawingml/2006/main" id="6" idx="2"/>
            <a:endCxn xmlns:a="http://schemas.openxmlformats.org/drawingml/2006/main" id="13" idx="0"/>
          </p:cNvCxnSpPr>
          <p:nvPr/>
        </p:nvCxnSpPr>
        <p:spPr>
          <a:xfrm xmlns:a="http://schemas.openxmlformats.org/drawingml/2006/main">
            <a:off x="1800225" y="3181350"/>
            <a:ext cx="1676400"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0" name="">
            <a:extLst xmlns:a="http://schemas.openxmlformats.org/drawingml/2006/main">
              <a:ext uri="{FF2B5EF4-FFF2-40B4-BE49-F238E27FC236}">
                <a16:creationId xmlns:a16="http://schemas.microsoft.com/office/drawing/2014/main" id="{8B2CAD05-45E7-475A-A468-7884C1C27537}"/>
              </a:ext>
            </a:extLst>
          </p:cNvPr>
          <p:cNvCxnSpPr>
            <a:stCxn xmlns:a="http://schemas.openxmlformats.org/drawingml/2006/main" id="6" idx="2"/>
            <a:endCxn xmlns:a="http://schemas.openxmlformats.org/drawingml/2006/main" id="12" idx="0"/>
          </p:cNvCxnSpPr>
          <p:nvPr/>
        </p:nvCxnSpPr>
        <p:spPr>
          <a:xfrm xmlns:a="http://schemas.openxmlformats.org/drawingml/2006/main" flipH="1">
            <a:off x="1466850" y="3181350"/>
            <a:ext cx="333375"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9" name="">
            <a:extLst xmlns:a="http://schemas.openxmlformats.org/drawingml/2006/main">
              <a:ext uri="{FF2B5EF4-FFF2-40B4-BE49-F238E27FC236}">
                <a16:creationId xmlns:a16="http://schemas.microsoft.com/office/drawing/2014/main" id="{902DDCC5-EB20-406E-8189-5428F25B7C22}"/>
              </a:ext>
            </a:extLst>
          </p:cNvPr>
          <p:cNvCxnSpPr>
            <a:stCxn xmlns:a="http://schemas.openxmlformats.org/drawingml/2006/main" id="5" idx="3"/>
            <a:endCxn xmlns:a="http://schemas.openxmlformats.org/drawingml/2006/main" id="7" idx="0"/>
          </p:cNvCxnSpPr>
          <p:nvPr/>
        </p:nvCxnSpPr>
        <p:spPr>
          <a:xfrm xmlns:a="http://schemas.openxmlformats.org/drawingml/2006/main">
            <a:off x="7143750" y="1828800"/>
            <a:ext cx="3200400" cy="781050"/>
          </a:xfrm>
          <a:prstGeom xmlns:a="http://schemas.openxmlformats.org/drawingml/2006/main" prst="bentConnector2">
            <a:avLst/>
          </a:prstGeom>
          <a:ln xmlns:a="http://schemas.openxmlformats.org/drawingml/2006/main" w="19050">
            <a:solidFill>
              <a:srgbClr val="315BDF"/>
            </a:solidFill>
            <a:headEnd type="none" w="med" len="med"/>
            <a:tailEnd type="none" w="med" len="med"/>
          </a:ln>
        </p:spPr>
      </p:cxnSp>
      <p:cxnSp>
        <p:nvCxnSpPr>
          <p:cNvPr id="8" name="">
            <a:extLst xmlns:a="http://schemas.openxmlformats.org/drawingml/2006/main">
              <a:ext uri="{FF2B5EF4-FFF2-40B4-BE49-F238E27FC236}">
                <a16:creationId xmlns:a16="http://schemas.microsoft.com/office/drawing/2014/main" id="{42DECAF6-45E5-4647-9724-1144BF4EC2AF}"/>
              </a:ext>
            </a:extLst>
          </p:cNvPr>
          <p:cNvCxnSpPr>
            <a:stCxn xmlns:a="http://schemas.openxmlformats.org/drawingml/2006/main" id="5" idx="1"/>
            <a:endCxn xmlns:a="http://schemas.openxmlformats.org/drawingml/2006/main" id="6" idx="0"/>
          </p:cNvCxnSpPr>
          <p:nvPr/>
        </p:nvCxnSpPr>
        <p:spPr>
          <a:xfrm xmlns:a="http://schemas.openxmlformats.org/drawingml/2006/main" flipH="1">
            <a:off x="1800225" y="1828800"/>
            <a:ext cx="3057525" cy="781050"/>
          </a:xfrm>
          <a:prstGeom xmlns:a="http://schemas.openxmlformats.org/drawingml/2006/main" prst="bentConnector2">
            <a:avLst/>
          </a:prstGeom>
          <a:ln xmlns:a="http://schemas.openxmlformats.org/drawingml/2006/main" w="19050">
            <a:solidFill>
              <a:srgbClr val="315BDF"/>
            </a:solidFill>
            <a:headEnd type="none" w="med" len="med"/>
            <a:tailEnd type="none" w="med" len="med"/>
          </a:ln>
        </p:spPr>
      </p:cxnSp>
      <p:sp>
        <p:nvSpPr>
          <p:cNvPr id="30" name="">
            <a:extLst xmlns:a="http://schemas.openxmlformats.org/drawingml/2006/main">
              <a:ext uri="{FF2B5EF4-FFF2-40B4-BE49-F238E27FC236}">
                <a16:creationId xmlns:a16="http://schemas.microsoft.com/office/drawing/2014/main" id="{E6C6096F-87C1-4C49-993D-85215C16FD75}"/>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243F78C3-3209-4CB3-839D-5E96D088FDA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ER diagram and cardinalities</a:t>
            </a:r>
          </a:p>
        </p:txBody>
      </p:sp>
      <p:sp>
        <p:nvSpPr>
          <p:cNvPr id="3" name="">
            <a:extLst xmlns:a="http://schemas.openxmlformats.org/drawingml/2006/main">
              <a:ext uri="{FF2B5EF4-FFF2-40B4-BE49-F238E27FC236}">
                <a16:creationId xmlns:a16="http://schemas.microsoft.com/office/drawing/2014/main" id="{32F44EB1-FC2F-49B1-8685-6B6FFEC27B2F}"/>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8372600E-E186-4E2B-9C94-0C3D126A1EFF}"/>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69A77B4-F5DA-409D-A3AF-6EE3E662C9AB}"/>
              </a:ext>
            </a:extLst>
          </p:cNvPr>
          <p:cNvSpPr>
            <a:spLocks xmlns:a="http://schemas.openxmlformats.org/drawingml/2006/main" noGrp="1"/>
          </p:cNvSpPr>
          <p:nvPr/>
        </p:nvSpPr>
        <p:spPr>
          <a:xfrm xmlns:a="http://schemas.openxmlformats.org/drawingml/2006/main">
            <a:off x="4857750" y="1552575"/>
            <a:ext cx="22860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User</a:t>
            </a:r>
          </a:p>
        </p:txBody>
      </p:sp>
      <p:sp>
        <p:nvSpPr>
          <p:cNvPr id="6" name="">
            <a:extLst xmlns:a="http://schemas.openxmlformats.org/drawingml/2006/main">
              <a:ext uri="{FF2B5EF4-FFF2-40B4-BE49-F238E27FC236}">
                <a16:creationId xmlns:a16="http://schemas.microsoft.com/office/drawing/2014/main" id="{8B12008D-0235-43E3-96D8-70B8D131B161}"/>
              </a:ext>
            </a:extLst>
          </p:cNvPr>
          <p:cNvSpPr>
            <a:spLocks xmlns:a="http://schemas.openxmlformats.org/drawingml/2006/main" noGrp="1"/>
          </p:cNvSpPr>
          <p:nvPr/>
        </p:nvSpPr>
        <p:spPr>
          <a:xfrm xmlns:a="http://schemas.openxmlformats.org/drawingml/2006/main">
            <a:off x="609600" y="2609850"/>
            <a:ext cx="23812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Developer profile</a:t>
            </a:r>
          </a:p>
        </p:txBody>
      </p:sp>
      <p:sp>
        <p:nvSpPr>
          <p:cNvPr id="7" name="">
            <a:extLst xmlns:a="http://schemas.openxmlformats.org/drawingml/2006/main">
              <a:ext uri="{FF2B5EF4-FFF2-40B4-BE49-F238E27FC236}">
                <a16:creationId xmlns:a16="http://schemas.microsoft.com/office/drawing/2014/main" id="{EC231138-7995-40A2-846B-A21835DF5B84}"/>
              </a:ext>
            </a:extLst>
          </p:cNvPr>
          <p:cNvSpPr>
            <a:spLocks xmlns:a="http://schemas.openxmlformats.org/drawingml/2006/main" noGrp="1"/>
          </p:cNvSpPr>
          <p:nvPr/>
        </p:nvSpPr>
        <p:spPr>
          <a:xfrm xmlns:a="http://schemas.openxmlformats.org/drawingml/2006/main">
            <a:off x="9105900" y="2609850"/>
            <a:ext cx="24765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Recruiter profile</a:t>
            </a:r>
          </a:p>
        </p:txBody>
      </p:sp>
      <p:sp>
        <p:nvSpPr>
          <p:cNvPr id="10" name="">
            <a:extLst xmlns:a="http://schemas.openxmlformats.org/drawingml/2006/main">
              <a:ext uri="{FF2B5EF4-FFF2-40B4-BE49-F238E27FC236}">
                <a16:creationId xmlns:a16="http://schemas.microsoft.com/office/drawing/2014/main" id="{B0664094-9C45-4F0C-88B4-35AA08967B20}"/>
              </a:ext>
            </a:extLst>
          </p:cNvPr>
          <p:cNvSpPr>
            <a:spLocks xmlns:a="http://schemas.openxmlformats.org/drawingml/2006/main" noGrp="1"/>
          </p:cNvSpPr>
          <p:nvPr/>
        </p:nvSpPr>
        <p:spPr>
          <a:xfrm xmlns:a="http://schemas.openxmlformats.org/drawingml/2006/main">
            <a:off x="2952750" y="23336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315BDF"/>
                </a:solidFill>
                <a:latin typeface="Arial"/>
                <a:ea typeface="Arial"/>
                <a:cs typeface="Arial"/>
              </a:defRPr>
            </a:defPPr>
          </a:lstStyle>
          <a:p xmlns:a="http://schemas.openxmlformats.org/drawingml/2006/main">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1" name="">
            <a:extLst xmlns:a="http://schemas.openxmlformats.org/drawingml/2006/main">
              <a:ext uri="{FF2B5EF4-FFF2-40B4-BE49-F238E27FC236}">
                <a16:creationId xmlns:a16="http://schemas.microsoft.com/office/drawing/2014/main" id="{582BF535-B1E9-42CC-9A48-54D2BA9EA77A}"/>
              </a:ext>
            </a:extLst>
          </p:cNvPr>
          <p:cNvSpPr>
            <a:spLocks xmlns:a="http://schemas.openxmlformats.org/drawingml/2006/main" noGrp="1"/>
          </p:cNvSpPr>
          <p:nvPr/>
        </p:nvSpPr>
        <p:spPr>
          <a:xfrm xmlns:a="http://schemas.openxmlformats.org/drawingml/2006/main">
            <a:off x="7715250" y="23336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315BDF"/>
                </a:solidFill>
                <a:latin typeface="Arial"/>
                <a:ea typeface="Arial"/>
                <a:cs typeface="Arial"/>
              </a:defRPr>
            </a:defPPr>
          </a:lstStyle>
          <a:p xmlns:a="http://schemas.openxmlformats.org/drawingml/2006/main">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2" name="">
            <a:extLst xmlns:a="http://schemas.openxmlformats.org/drawingml/2006/main">
              <a:ext uri="{FF2B5EF4-FFF2-40B4-BE49-F238E27FC236}">
                <a16:creationId xmlns:a16="http://schemas.microsoft.com/office/drawing/2014/main" id="{75EB6A19-B920-485F-AB5C-3DACFDA34879}"/>
              </a:ext>
            </a:extLst>
          </p:cNvPr>
          <p:cNvSpPr>
            <a:spLocks xmlns:a="http://schemas.openxmlformats.org/drawingml/2006/main" noGrp="1"/>
          </p:cNvSpPr>
          <p:nvPr/>
        </p:nvSpPr>
        <p:spPr>
          <a:xfrm xmlns:a="http://schemas.openxmlformats.org/drawingml/2006/main">
            <a:off x="609600" y="4000500"/>
            <a:ext cx="17145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Skill</a:t>
            </a:r>
          </a:p>
        </p:txBody>
      </p:sp>
      <p:sp>
        <p:nvSpPr>
          <p:cNvPr id="13" name="">
            <a:extLst xmlns:a="http://schemas.openxmlformats.org/drawingml/2006/main">
              <a:ext uri="{FF2B5EF4-FFF2-40B4-BE49-F238E27FC236}">
                <a16:creationId xmlns:a16="http://schemas.microsoft.com/office/drawing/2014/main" id="{3630E9E9-AC6C-4056-9D48-C411C6A39B9D}"/>
              </a:ext>
            </a:extLst>
          </p:cNvPr>
          <p:cNvSpPr>
            <a:spLocks xmlns:a="http://schemas.openxmlformats.org/drawingml/2006/main" noGrp="1"/>
          </p:cNvSpPr>
          <p:nvPr/>
        </p:nvSpPr>
        <p:spPr>
          <a:xfrm xmlns:a="http://schemas.openxmlformats.org/drawingml/2006/main">
            <a:off x="2619375" y="4000500"/>
            <a:ext cx="17145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Project</a:t>
            </a:r>
          </a:p>
        </p:txBody>
      </p:sp>
      <p:sp>
        <p:nvSpPr>
          <p:cNvPr id="14" name="">
            <a:extLst xmlns:a="http://schemas.openxmlformats.org/drawingml/2006/main">
              <a:ext uri="{FF2B5EF4-FFF2-40B4-BE49-F238E27FC236}">
                <a16:creationId xmlns:a16="http://schemas.microsoft.com/office/drawing/2014/main" id="{1DB7631A-0828-4FEF-AE4B-2389C57A617C}"/>
              </a:ext>
            </a:extLst>
          </p:cNvPr>
          <p:cNvSpPr>
            <a:spLocks xmlns:a="http://schemas.openxmlformats.org/drawingml/2006/main" noGrp="1"/>
          </p:cNvSpPr>
          <p:nvPr/>
        </p:nvSpPr>
        <p:spPr>
          <a:xfrm xmlns:a="http://schemas.openxmlformats.org/drawingml/2006/main">
            <a:off x="609600" y="5391150"/>
            <a:ext cx="214312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Resume analysis</a:t>
            </a:r>
          </a:p>
        </p:txBody>
      </p:sp>
      <p:sp>
        <p:nvSpPr>
          <p:cNvPr id="15" name="">
            <a:extLst xmlns:a="http://schemas.openxmlformats.org/drawingml/2006/main">
              <a:ext uri="{FF2B5EF4-FFF2-40B4-BE49-F238E27FC236}">
                <a16:creationId xmlns:a16="http://schemas.microsoft.com/office/drawing/2014/main" id="{7A00170B-1757-468F-B817-FF2B8036EA16}"/>
              </a:ext>
            </a:extLst>
          </p:cNvPr>
          <p:cNvSpPr>
            <a:spLocks xmlns:a="http://schemas.openxmlformats.org/drawingml/2006/main" noGrp="1"/>
          </p:cNvSpPr>
          <p:nvPr/>
        </p:nvSpPr>
        <p:spPr>
          <a:xfrm xmlns:a="http://schemas.openxmlformats.org/drawingml/2006/main">
            <a:off x="295275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Project technology</a:t>
            </a:r>
          </a:p>
        </p:txBody>
      </p:sp>
      <p:sp>
        <p:nvSpPr>
          <p:cNvPr id="16" name="">
            <a:extLst xmlns:a="http://schemas.openxmlformats.org/drawingml/2006/main">
              <a:ext uri="{FF2B5EF4-FFF2-40B4-BE49-F238E27FC236}">
                <a16:creationId xmlns:a16="http://schemas.microsoft.com/office/drawing/2014/main" id="{0B15B8C5-450D-4BBF-8037-FD321EF1E85F}"/>
              </a:ext>
            </a:extLst>
          </p:cNvPr>
          <p:cNvSpPr>
            <a:spLocks xmlns:a="http://schemas.openxmlformats.org/drawingml/2006/main" noGrp="1"/>
          </p:cNvSpPr>
          <p:nvPr/>
        </p:nvSpPr>
        <p:spPr>
          <a:xfrm xmlns:a="http://schemas.openxmlformats.org/drawingml/2006/main">
            <a:off x="9239250" y="400050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Job</a:t>
            </a:r>
          </a:p>
        </p:txBody>
      </p:sp>
      <p:sp>
        <p:nvSpPr>
          <p:cNvPr id="17" name="">
            <a:extLst xmlns:a="http://schemas.openxmlformats.org/drawingml/2006/main">
              <a:ext uri="{FF2B5EF4-FFF2-40B4-BE49-F238E27FC236}">
                <a16:creationId xmlns:a16="http://schemas.microsoft.com/office/drawing/2014/main" id="{7A3863DB-1E37-4ACE-8AE9-C2C00917AE2F}"/>
              </a:ext>
            </a:extLst>
          </p:cNvPr>
          <p:cNvSpPr>
            <a:spLocks xmlns:a="http://schemas.openxmlformats.org/drawingml/2006/main" noGrp="1"/>
          </p:cNvSpPr>
          <p:nvPr/>
        </p:nvSpPr>
        <p:spPr>
          <a:xfrm xmlns:a="http://schemas.openxmlformats.org/drawingml/2006/main">
            <a:off x="923925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Job skill</a:t>
            </a:r>
          </a:p>
        </p:txBody>
      </p:sp>
      <p:sp>
        <p:nvSpPr>
          <p:cNvPr id="18" name="">
            <a:extLst xmlns:a="http://schemas.openxmlformats.org/drawingml/2006/main">
              <a:ext uri="{FF2B5EF4-FFF2-40B4-BE49-F238E27FC236}">
                <a16:creationId xmlns:a16="http://schemas.microsoft.com/office/drawing/2014/main" id="{09873169-45FB-4281-8F59-A9546A3EAF3B}"/>
              </a:ext>
            </a:extLst>
          </p:cNvPr>
          <p:cNvSpPr>
            <a:spLocks xmlns:a="http://schemas.openxmlformats.org/drawingml/2006/main" noGrp="1"/>
          </p:cNvSpPr>
          <p:nvPr/>
        </p:nvSpPr>
        <p:spPr>
          <a:xfrm xmlns:a="http://schemas.openxmlformats.org/drawingml/2006/main">
            <a:off x="5867400" y="400050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CB29F990-7DCB-49F3-9970-EFAA2CA0A3BD}"/>
              </a:ext>
            </a:extLst>
          </p:cNvPr>
          <p:cNvSpPr>
            <a:spLocks xmlns:a="http://schemas.openxmlformats.org/drawingml/2006/main" noGrp="1"/>
          </p:cNvSpPr>
          <p:nvPr/>
        </p:nvSpPr>
        <p:spPr>
          <a:xfrm xmlns:a="http://schemas.openxmlformats.org/drawingml/2006/main">
            <a:off x="586740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Status history</a:t>
            </a:r>
          </a:p>
        </p:txBody>
      </p:sp>
      <p:sp>
        <p:nvSpPr>
          <p:cNvPr id="29" name="">
            <a:extLst xmlns:a="http://schemas.openxmlformats.org/drawingml/2006/main">
              <a:ext uri="{FF2B5EF4-FFF2-40B4-BE49-F238E27FC236}">
                <a16:creationId xmlns:a16="http://schemas.microsoft.com/office/drawing/2014/main" id="{74D3C724-E1F0-431F-A6EF-038AB861FB0C}"/>
              </a:ext>
            </a:extLst>
          </p:cNvPr>
          <p:cNvSpPr>
            <a:spLocks xmlns:a="http://schemas.openxmlformats.org/drawingml/2006/main" noGrp="1"/>
          </p:cNvSpPr>
          <p:nvPr/>
        </p:nvSpPr>
        <p:spPr>
          <a:xfrm xmlns:a="http://schemas.openxmlformats.org/drawingml/2006/main">
            <a:off x="4648200" y="2743200"/>
            <a:ext cx="3981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315BDF"/>
                </a:solidFill>
                <a:latin typeface="Arial"/>
                <a:ea typeface="Arial"/>
                <a:cs typeface="Arial"/>
              </a:defRPr>
            </a:defPPr>
          </a:lstStyle>
          <a:p xmlns:a="http://schemas.openxmlformats.org/drawingml/2006/main">
            <a:pPr>
              <a:defRPr sz="1650" b="1">
                <a:solidFill>
                  <a:srgbClr val="315BDF"/>
                </a:solidFill>
                <a:latin typeface="Arial"/>
                <a:ea typeface="Arial"/>
                <a:cs typeface="Arial"/>
              </a:defRPr>
            </a:pPr>
            <a:r>
              <a:rPr sz="1650" b="1">
                <a:solidFill>
                  <a:srgbClr val="315BDF"/>
                </a:solidFill>
                <a:latin typeface="Arial"/>
                <a:ea typeface="Arial"/>
                <a:cs typeface="Arial"/>
              </a:rPr>
              <a:t>Other links: 1 : 0..N</a:t>
            </a:r>
          </a:p>
          <a:p xmlns:a="http://schemas.openxmlformats.org/drawingml/2006/main">
            <a:pPr>
              <a:defRPr sz="1650" b="1">
                <a:solidFill>
                  <a:srgbClr val="315BDF"/>
                </a:solidFill>
                <a:latin typeface="Arial"/>
                <a:ea typeface="Arial"/>
                <a:cs typeface="Arial"/>
              </a:defRPr>
            </a:pPr>
            <a:r>
              <a:rPr sz="1650" b="1">
                <a:solidFill>
                  <a:srgbClr val="315BDF"/>
                </a:solidFill>
                <a:latin typeface="Arial"/>
                <a:ea typeface="Arial"/>
                <a:cs typeface="Arial"/>
              </a:rPr>
              <a:t>Developer and Job: M : N via Application</a:t>
            </a:r>
          </a:p>
        </p:txBody>
      </p:sp>
    </p:spTree>
    <p:extLst>
      <p:ext uri="{BB962C8B-B14F-4D97-AF65-F5344CB8AC3E}">
        <p14:creationId xmlns:p14="http://schemas.microsoft.com/office/powerpoint/2010/main" val="1944780498"/>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D35A2B2-F91D-47DC-B682-9314E93BFD34}"/>
              </a:ext>
            </a:extLst>
          </p:cNvPr>
          <p:cNvCxnSpPr>
            <a:stCxn xmlns:a="http://schemas.openxmlformats.org/drawingml/2006/main" id="9" idx="3"/>
            <a:endCxn xmlns:a="http://schemas.openxmlformats.org/drawingml/2006/main" id="10" idx="1"/>
          </p:cNvCxnSpPr>
          <p:nvPr/>
        </p:nvCxnSpPr>
        <p:spPr>
          <a:xfrm xmlns:a="http://schemas.openxmlformats.org/drawingml/2006/main">
            <a:off x="7486650" y="5076825"/>
            <a:ext cx="30480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14" name="">
            <a:extLst xmlns:a="http://schemas.openxmlformats.org/drawingml/2006/main">
              <a:ext uri="{FF2B5EF4-FFF2-40B4-BE49-F238E27FC236}">
                <a16:creationId xmlns:a16="http://schemas.microsoft.com/office/drawing/2014/main" id="{FCD1FC3E-7D83-4D1B-B346-561467753726}"/>
              </a:ext>
            </a:extLst>
          </p:cNvPr>
          <p:cNvCxnSpPr>
            <a:stCxn xmlns:a="http://schemas.openxmlformats.org/drawingml/2006/main" id="6" idx="2"/>
            <a:endCxn xmlns:a="http://schemas.openxmlformats.org/drawingml/2006/main" id="9" idx="0"/>
          </p:cNvCxnSpPr>
          <p:nvPr/>
        </p:nvCxnSpPr>
        <p:spPr>
          <a:xfrm xmlns:a="http://schemas.openxmlformats.org/drawingml/2006/main">
            <a:off x="3467100" y="3952875"/>
            <a:ext cx="2376488" cy="3048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3" name="">
            <a:extLst xmlns:a="http://schemas.openxmlformats.org/drawingml/2006/main">
              <a:ext uri="{FF2B5EF4-FFF2-40B4-BE49-F238E27FC236}">
                <a16:creationId xmlns:a16="http://schemas.microsoft.com/office/drawing/2014/main" id="{DE8C8DD5-1FDF-4292-B64D-3F6BC52F4019}"/>
              </a:ext>
            </a:extLst>
          </p:cNvPr>
          <p:cNvCxnSpPr>
            <a:stCxn xmlns:a="http://schemas.openxmlformats.org/drawingml/2006/main" id="6" idx="2"/>
            <a:endCxn xmlns:a="http://schemas.openxmlformats.org/drawingml/2006/main" id="8" idx="0"/>
          </p:cNvCxnSpPr>
          <p:nvPr/>
        </p:nvCxnSpPr>
        <p:spPr>
          <a:xfrm xmlns:a="http://schemas.openxmlformats.org/drawingml/2006/main" flipH="1">
            <a:off x="2252663" y="3952875"/>
            <a:ext cx="1214438" cy="3048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2" name="">
            <a:extLst xmlns:a="http://schemas.openxmlformats.org/drawingml/2006/main">
              <a:ext uri="{FF2B5EF4-FFF2-40B4-BE49-F238E27FC236}">
                <a16:creationId xmlns:a16="http://schemas.microsoft.com/office/drawing/2014/main" id="{23F77954-5199-4AF9-A8B3-8ED5D008784F}"/>
              </a:ext>
            </a:extLst>
          </p:cNvPr>
          <p:cNvCxnSpPr>
            <a:stCxn xmlns:a="http://schemas.openxmlformats.org/drawingml/2006/main" id="5" idx="2"/>
            <a:endCxn xmlns:a="http://schemas.openxmlformats.org/drawingml/2006/main" id="7" idx="0"/>
          </p:cNvCxnSpPr>
          <p:nvPr/>
        </p:nvCxnSpPr>
        <p:spPr>
          <a:xfrm xmlns:a="http://schemas.openxmlformats.org/drawingml/2006/main">
            <a:off x="6096000" y="2476500"/>
            <a:ext cx="3048000" cy="21907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1" name="">
            <a:extLst xmlns:a="http://schemas.openxmlformats.org/drawingml/2006/main">
              <a:ext uri="{FF2B5EF4-FFF2-40B4-BE49-F238E27FC236}">
                <a16:creationId xmlns:a16="http://schemas.microsoft.com/office/drawing/2014/main" id="{B5B919D0-39FD-4E5B-98FD-3CD32EA4CE56}"/>
              </a:ext>
            </a:extLst>
          </p:cNvPr>
          <p:cNvCxnSpPr>
            <a:stCxn xmlns:a="http://schemas.openxmlformats.org/drawingml/2006/main" id="5" idx="2"/>
            <a:endCxn xmlns:a="http://schemas.openxmlformats.org/drawingml/2006/main" id="6" idx="0"/>
          </p:cNvCxnSpPr>
          <p:nvPr/>
        </p:nvCxnSpPr>
        <p:spPr>
          <a:xfrm xmlns:a="http://schemas.openxmlformats.org/drawingml/2006/main" flipH="1">
            <a:off x="3467100" y="2476500"/>
            <a:ext cx="2628900" cy="21907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sp>
        <p:nvSpPr>
          <p:cNvPr id="17" name="">
            <a:extLst xmlns:a="http://schemas.openxmlformats.org/drawingml/2006/main">
              <a:ext uri="{FF2B5EF4-FFF2-40B4-BE49-F238E27FC236}">
                <a16:creationId xmlns:a16="http://schemas.microsoft.com/office/drawing/2014/main" id="{8DBDDF89-C7D3-46D0-9C4C-46ADE0DFB35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F365C6C3-07A8-4538-A624-D8AF66DB50BF}"/>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Relational schema: accounts and portfolios</a:t>
            </a:r>
          </a:p>
        </p:txBody>
      </p:sp>
      <p:sp>
        <p:nvSpPr>
          <p:cNvPr id="3" name="">
            <a:extLst xmlns:a="http://schemas.openxmlformats.org/drawingml/2006/main">
              <a:ext uri="{FF2B5EF4-FFF2-40B4-BE49-F238E27FC236}">
                <a16:creationId xmlns:a16="http://schemas.microsoft.com/office/drawing/2014/main" id="{490131D0-E8C2-47CD-98F0-E9B655E55CA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2EBB3A27-A526-4962-A558-E78644C169A5}"/>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C5DA949-192C-40A8-B71B-3FC62EA66F43}"/>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users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name, email UK, password_hash, role, created_at</a:t>
            </a:r>
          </a:p>
        </p:txBody>
      </p:sp>
      <p:sp>
        <p:nvSpPr>
          <p:cNvPr id="6" name="">
            <a:extLst xmlns:a="http://schemas.openxmlformats.org/drawingml/2006/main">
              <a:ext uri="{FF2B5EF4-FFF2-40B4-BE49-F238E27FC236}">
                <a16:creationId xmlns:a16="http://schemas.microsoft.com/office/drawing/2014/main" id="{7FDA6B41-B40D-4D15-856F-A5DD88C2BEED}"/>
              </a:ext>
            </a:extLst>
          </p:cNvPr>
          <p:cNvSpPr>
            <a:spLocks xmlns:a="http://schemas.openxmlformats.org/drawingml/2006/main" noGrp="1"/>
          </p:cNvSpPr>
          <p:nvPr/>
        </p:nvSpPr>
        <p:spPr>
          <a:xfrm xmlns:a="http://schemas.openxmlformats.org/drawingml/2006/main">
            <a:off x="609600" y="2695575"/>
            <a:ext cx="57150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developer_profiles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user_id FK/UK, bio, phone, location, education, experience, github_url, linkedin_url, resume_path</a:t>
            </a:r>
          </a:p>
        </p:txBody>
      </p:sp>
      <p:sp>
        <p:nvSpPr>
          <p:cNvPr id="7" name="">
            <a:extLst xmlns:a="http://schemas.openxmlformats.org/drawingml/2006/main">
              <a:ext uri="{FF2B5EF4-FFF2-40B4-BE49-F238E27FC236}">
                <a16:creationId xmlns:a16="http://schemas.microsoft.com/office/drawing/2014/main" id="{C76BA229-7F76-47BA-B44D-232B35B9F71E}"/>
              </a:ext>
            </a:extLst>
          </p:cNvPr>
          <p:cNvSpPr>
            <a:spLocks xmlns:a="http://schemas.openxmlformats.org/drawingml/2006/main" noGrp="1"/>
          </p:cNvSpPr>
          <p:nvPr/>
        </p:nvSpPr>
        <p:spPr>
          <a:xfrm xmlns:a="http://schemas.openxmlformats.org/drawingml/2006/main">
            <a:off x="6705600" y="2695575"/>
            <a:ext cx="48768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recruiter_profiles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user_id FK/UK, company_name, company_description, location, website</a:t>
            </a:r>
          </a:p>
        </p:txBody>
      </p:sp>
      <p:sp>
        <p:nvSpPr>
          <p:cNvPr id="8" name="">
            <a:extLst xmlns:a="http://schemas.openxmlformats.org/drawingml/2006/main">
              <a:ext uri="{FF2B5EF4-FFF2-40B4-BE49-F238E27FC236}">
                <a16:creationId xmlns:a16="http://schemas.microsoft.com/office/drawing/2014/main" id="{F5403CA2-5FE1-41D2-9CB9-D465291F068E}"/>
              </a:ext>
            </a:extLst>
          </p:cNvPr>
          <p:cNvSpPr>
            <a:spLocks xmlns:a="http://schemas.openxmlformats.org/drawingml/2006/main" noGrp="1"/>
          </p:cNvSpPr>
          <p:nvPr/>
        </p:nvSpPr>
        <p:spPr>
          <a:xfrm xmlns:a="http://schemas.openxmlformats.org/drawingml/2006/main">
            <a:off x="609600" y="4257675"/>
            <a:ext cx="3286125"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skills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name, level, years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(developer_id, name)</a:t>
            </a:r>
          </a:p>
        </p:txBody>
      </p:sp>
      <p:sp>
        <p:nvSpPr>
          <p:cNvPr id="9" name="">
            <a:extLst xmlns:a="http://schemas.openxmlformats.org/drawingml/2006/main">
              <a:ext uri="{FF2B5EF4-FFF2-40B4-BE49-F238E27FC236}">
                <a16:creationId xmlns:a16="http://schemas.microsoft.com/office/drawing/2014/main" id="{D8D3FDF6-8083-4554-BD52-DC20EEB1BA65}"/>
              </a:ext>
            </a:extLst>
          </p:cNvPr>
          <p:cNvSpPr>
            <a:spLocks xmlns:a="http://schemas.openxmlformats.org/drawingml/2006/main" noGrp="1"/>
          </p:cNvSpPr>
          <p:nvPr/>
        </p:nvSpPr>
        <p:spPr>
          <a:xfrm xmlns:a="http://schemas.openxmlformats.org/drawingml/2006/main">
            <a:off x="4200525" y="4257675"/>
            <a:ext cx="3286125"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projects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name, description, github_link, project_link</a:t>
            </a:r>
          </a:p>
        </p:txBody>
      </p:sp>
      <p:sp>
        <p:nvSpPr>
          <p:cNvPr id="10" name="">
            <a:extLst xmlns:a="http://schemas.openxmlformats.org/drawingml/2006/main">
              <a:ext uri="{FF2B5EF4-FFF2-40B4-BE49-F238E27FC236}">
                <a16:creationId xmlns:a16="http://schemas.microsoft.com/office/drawing/2014/main" id="{73BB16BB-33B5-4338-98C5-5D8DA9EED1B5}"/>
              </a:ext>
            </a:extLst>
          </p:cNvPr>
          <p:cNvSpPr>
            <a:spLocks xmlns:a="http://schemas.openxmlformats.org/drawingml/2006/main" noGrp="1"/>
          </p:cNvSpPr>
          <p:nvPr/>
        </p:nvSpPr>
        <p:spPr>
          <a:xfrm xmlns:a="http://schemas.openxmlformats.org/drawingml/2006/main">
            <a:off x="7791450" y="4257675"/>
            <a:ext cx="3790950"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project_technologies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project_id FK, name, category, version, added_at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(project_id, name)</a:t>
            </a:r>
          </a:p>
        </p:txBody>
      </p:sp>
      <p:sp>
        <p:nvSpPr>
          <p:cNvPr id="16" name="">
            <a:extLst xmlns:a="http://schemas.openxmlformats.org/drawingml/2006/main">
              <a:ext uri="{FF2B5EF4-FFF2-40B4-BE49-F238E27FC236}">
                <a16:creationId xmlns:a16="http://schemas.microsoft.com/office/drawing/2014/main" id="{0529C2EB-EB37-4A36-A570-66272B54C05A}"/>
              </a:ext>
            </a:extLst>
          </p:cNvPr>
          <p:cNvSpPr>
            <a:spLocks xmlns:a="http://schemas.openxmlformats.org/drawingml/2006/main" noGrp="1"/>
          </p:cNvSpPr>
          <p:nvPr/>
        </p:nvSpPr>
        <p:spPr>
          <a:xfrm xmlns:a="http://schemas.openxmlformats.org/drawingml/2006/main">
            <a:off x="609600" y="60864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FK links: profiles.user_id = users.id; skills/projects.developer_id = developer_profiles.id; technologies.project_id = projects.id</a:t>
            </a:r>
          </a:p>
        </p:txBody>
      </p:sp>
    </p:spTree>
    <p:extLst>
      <p:ext uri="{BB962C8B-B14F-4D97-AF65-F5344CB8AC3E}">
        <p14:creationId xmlns:p14="http://schemas.microsoft.com/office/powerpoint/2010/main" val="1857530144"/>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CDD504C-06C6-4C5D-940D-B9085DB72E0B}"/>
              </a:ext>
            </a:extLst>
          </p:cNvPr>
          <p:cNvCxnSpPr>
            <a:stCxn xmlns:a="http://schemas.openxmlformats.org/drawingml/2006/main" id="7" idx="2"/>
            <a:endCxn xmlns:a="http://schemas.openxmlformats.org/drawingml/2006/main" id="9" idx="0"/>
          </p:cNvCxnSpPr>
          <p:nvPr/>
        </p:nvCxnSpPr>
        <p:spPr>
          <a:xfrm xmlns:a="http://schemas.openxmlformats.org/drawingml/2006/main">
            <a:off x="3276600" y="4533900"/>
            <a:ext cx="2819400" cy="31432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1" name="">
            <a:extLst xmlns:a="http://schemas.openxmlformats.org/drawingml/2006/main">
              <a:ext uri="{FF2B5EF4-FFF2-40B4-BE49-F238E27FC236}">
                <a16:creationId xmlns:a16="http://schemas.microsoft.com/office/drawing/2014/main" id="{A10FF7AF-C2BC-4AD2-B4F2-A98EA8D9B85B}"/>
              </a:ext>
            </a:extLst>
          </p:cNvPr>
          <p:cNvCxnSpPr>
            <a:stCxn xmlns:a="http://schemas.openxmlformats.org/drawingml/2006/main" id="5" idx="2"/>
            <a:endCxn xmlns:a="http://schemas.openxmlformats.org/drawingml/2006/main" id="7" idx="0"/>
          </p:cNvCxnSpPr>
          <p:nvPr/>
        </p:nvCxnSpPr>
        <p:spPr>
          <a:xfrm xmlns:a="http://schemas.openxmlformats.org/drawingml/2006/main">
            <a:off x="3276600" y="3048000"/>
            <a:ext cx="0" cy="3048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10" name="">
            <a:extLst xmlns:a="http://schemas.openxmlformats.org/drawingml/2006/main">
              <a:ext uri="{FF2B5EF4-FFF2-40B4-BE49-F238E27FC236}">
                <a16:creationId xmlns:a16="http://schemas.microsoft.com/office/drawing/2014/main" id="{F5C06384-DE3F-4768-A568-29643E4D0531}"/>
              </a:ext>
            </a:extLst>
          </p:cNvPr>
          <p:cNvCxnSpPr>
            <a:stCxn xmlns:a="http://schemas.openxmlformats.org/drawingml/2006/main" id="5" idx="3"/>
            <a:endCxn xmlns:a="http://schemas.openxmlformats.org/drawingml/2006/main" id="6" idx="1"/>
          </p:cNvCxnSpPr>
          <p:nvPr/>
        </p:nvCxnSpPr>
        <p:spPr>
          <a:xfrm xmlns:a="http://schemas.openxmlformats.org/drawingml/2006/main">
            <a:off x="5943600" y="2386013"/>
            <a:ext cx="4000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sp>
        <p:nvSpPr>
          <p:cNvPr id="14" name="">
            <a:extLst xmlns:a="http://schemas.openxmlformats.org/drawingml/2006/main">
              <a:ext uri="{FF2B5EF4-FFF2-40B4-BE49-F238E27FC236}">
                <a16:creationId xmlns:a16="http://schemas.microsoft.com/office/drawing/2014/main" id="{50A5FF21-D77F-41EE-A658-7F650B00610E}"/>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35F93977-84CE-4E16-B0FF-04D36E05520D}"/>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Relational schema: hiring and analysis</a:t>
            </a:r>
          </a:p>
        </p:txBody>
      </p:sp>
      <p:sp>
        <p:nvSpPr>
          <p:cNvPr id="3" name="">
            <a:extLst xmlns:a="http://schemas.openxmlformats.org/drawingml/2006/main">
              <a:ext uri="{FF2B5EF4-FFF2-40B4-BE49-F238E27FC236}">
                <a16:creationId xmlns:a16="http://schemas.microsoft.com/office/drawing/2014/main" id="{352819AA-EB4F-4082-97DA-32B99A6FC922}"/>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F230EE61-989D-44DE-9CFA-E674874A7BFC}"/>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CEEA46F-340F-44E9-8FAC-F9A2014DA29B}"/>
              </a:ext>
            </a:extLst>
          </p:cNvPr>
          <p:cNvSpPr>
            <a:spLocks xmlns:a="http://schemas.openxmlformats.org/drawingml/2006/main" noGrp="1"/>
          </p:cNvSpPr>
          <p:nvPr/>
        </p:nvSpPr>
        <p:spPr>
          <a:xfrm xmlns:a="http://schemas.openxmlformats.org/drawingml/2006/main">
            <a:off x="609600" y="1724025"/>
            <a:ext cx="5334000" cy="1323975"/>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jobs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recruiter_id FK, title, description, location, salary, experience_required, job_type, deadline, created_at</a:t>
            </a:r>
          </a:p>
        </p:txBody>
      </p:sp>
      <p:sp>
        <p:nvSpPr>
          <p:cNvPr id="6" name="">
            <a:extLst xmlns:a="http://schemas.openxmlformats.org/drawingml/2006/main">
              <a:ext uri="{FF2B5EF4-FFF2-40B4-BE49-F238E27FC236}">
                <a16:creationId xmlns:a16="http://schemas.microsoft.com/office/drawing/2014/main" id="{C4014969-CE1F-4901-9944-1C8C5B1EDE00}"/>
              </a:ext>
            </a:extLst>
          </p:cNvPr>
          <p:cNvSpPr>
            <a:spLocks xmlns:a="http://schemas.openxmlformats.org/drawingml/2006/main" noGrp="1"/>
          </p:cNvSpPr>
          <p:nvPr/>
        </p:nvSpPr>
        <p:spPr>
          <a:xfrm xmlns:a="http://schemas.openxmlformats.org/drawingml/2006/main">
            <a:off x="6343650" y="1724025"/>
            <a:ext cx="5238750" cy="1323975"/>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job_skills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job_id FK, name, importance, minimum_years, added_at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(job_id, name)</a:t>
            </a:r>
          </a:p>
        </p:txBody>
      </p:sp>
      <p:sp>
        <p:nvSpPr>
          <p:cNvPr id="7" name="">
            <a:extLst xmlns:a="http://schemas.openxmlformats.org/drawingml/2006/main">
              <a:ext uri="{FF2B5EF4-FFF2-40B4-BE49-F238E27FC236}">
                <a16:creationId xmlns:a16="http://schemas.microsoft.com/office/drawing/2014/main" id="{0D7D8B80-3180-48F7-BCE9-C940FCB4DD70}"/>
              </a:ext>
            </a:extLst>
          </p:cNvPr>
          <p:cNvSpPr>
            <a:spLocks xmlns:a="http://schemas.openxmlformats.org/drawingml/2006/main" noGrp="1"/>
          </p:cNvSpPr>
          <p:nvPr/>
        </p:nvSpPr>
        <p:spPr>
          <a:xfrm xmlns:a="http://schemas.openxmlformats.org/drawingml/2006/main">
            <a:off x="609600" y="3352800"/>
            <a:ext cx="53340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applications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job_id FK, status, created_at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(developer_id, job_id)</a:t>
            </a:r>
          </a:p>
        </p:txBody>
      </p:sp>
      <p:sp>
        <p:nvSpPr>
          <p:cNvPr id="8" name="">
            <a:extLst xmlns:a="http://schemas.openxmlformats.org/drawingml/2006/main">
              <a:ext uri="{FF2B5EF4-FFF2-40B4-BE49-F238E27FC236}">
                <a16:creationId xmlns:a16="http://schemas.microsoft.com/office/drawing/2014/main" id="{12D62B8E-B48F-434A-91AA-3B313CFD2FC5}"/>
              </a:ext>
            </a:extLst>
          </p:cNvPr>
          <p:cNvSpPr>
            <a:spLocks xmlns:a="http://schemas.openxmlformats.org/drawingml/2006/main" noGrp="1"/>
          </p:cNvSpPr>
          <p:nvPr/>
        </p:nvSpPr>
        <p:spPr>
          <a:xfrm xmlns:a="http://schemas.openxmlformats.org/drawingml/2006/main">
            <a:off x="6343650" y="3352800"/>
            <a:ext cx="523875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resume_analysis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summary, strengths, missing_skills, extracted_skills, created_at</a:t>
            </a:r>
          </a:p>
        </p:txBody>
      </p:sp>
      <p:sp>
        <p:nvSpPr>
          <p:cNvPr id="9" name="">
            <a:extLst xmlns:a="http://schemas.openxmlformats.org/drawingml/2006/main">
              <a:ext uri="{FF2B5EF4-FFF2-40B4-BE49-F238E27FC236}">
                <a16:creationId xmlns:a16="http://schemas.microsoft.com/office/drawing/2014/main" id="{4062A0EA-ED37-42D1-BF8E-24E15197D8ED}"/>
              </a:ext>
            </a:extLst>
          </p:cNvPr>
          <p:cNvSpPr>
            <a:spLocks xmlns:a="http://schemas.openxmlformats.org/drawingml/2006/main" noGrp="1"/>
          </p:cNvSpPr>
          <p:nvPr/>
        </p:nvSpPr>
        <p:spPr>
          <a:xfrm xmlns:a="http://schemas.openxmlformats.org/drawingml/2006/main">
            <a:off x="609600" y="4848225"/>
            <a:ext cx="109728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application_status_history (SQL audit extension)</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application_id FK, old_status, new_status, changed_at</a:t>
            </a:r>
          </a:p>
        </p:txBody>
      </p:sp>
      <p:sp>
        <p:nvSpPr>
          <p:cNvPr id="13" name="">
            <a:extLst xmlns:a="http://schemas.openxmlformats.org/drawingml/2006/main">
              <a:ext uri="{FF2B5EF4-FFF2-40B4-BE49-F238E27FC236}">
                <a16:creationId xmlns:a16="http://schemas.microsoft.com/office/drawing/2014/main" id="{A612085B-1963-4F7C-AEF2-9A6FE69BE6AA}"/>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FK parents: jobs / recruiter_profiles; job_skills / jobs; applications / developers and jobs; analysis / developers; history / applications</a:t>
            </a:r>
          </a:p>
        </p:txBody>
      </p:sp>
    </p:spTree>
    <p:extLst>
      <p:ext uri="{BB962C8B-B14F-4D97-AF65-F5344CB8AC3E}">
        <p14:creationId xmlns:p14="http://schemas.microsoft.com/office/powerpoint/2010/main" val="724141676"/>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452BB-D98A-45A6-AEC4-3450B91D42E3}"/>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2B12BF28-786D-4C6D-A1E5-39E96512A28F}"/>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ER-to-relational mapping</a:t>
            </a:r>
          </a:p>
        </p:txBody>
      </p:sp>
      <p:sp>
        <p:nvSpPr>
          <p:cNvPr id="3" name="">
            <a:extLst xmlns:a="http://schemas.openxmlformats.org/drawingml/2006/main">
              <a:ext uri="{FF2B5EF4-FFF2-40B4-BE49-F238E27FC236}">
                <a16:creationId xmlns:a16="http://schemas.microsoft.com/office/drawing/2014/main" id="{8491C60A-A6A7-4EFE-A3BA-6ED4F82CFB9C}"/>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6AE186AA-8279-464B-A71D-FF6B58D18ED6}"/>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F080F0AB-68EB-4D92-B191-145C9A9AEC8D}"/>
              </a:ext>
            </a:extLst>
          </p:cNvPr>
          <p:cNvGraphicFramePr/>
          <p:nvPr/>
        </p:nvGraphicFramePr>
        <p:xfrm>
          <a:off xmlns:a="http://schemas.openxmlformats.org/drawingml/2006/main" x="609600" y="1743075"/>
          <a:ext xmlns:a="http://schemas.openxmlformats.org/drawingml/2006/main" cx="10972800" cy="4010025"/>
        </p:xfrm>
        <a:graphic xmlns:a="http://schemas.openxmlformats.org/drawingml/2006/main">
          <a:graphicData uri="http://schemas.openxmlformats.org/drawingml/2006/table">
            <a:tbl>
              <a:tblPr/>
              <a:tblGrid>
                <a:gridCol w="2143125"/>
                <a:gridCol w="3952875"/>
                <a:gridCol w="4876800"/>
              </a:tblGrid>
              <a:tr h="668338">
                <a:tc>
                  <a:txBody>
                    <a:bodyPr lIns="95250" tIns="95250" rIns="95250" bIns="95250"/>
                    <a:lstStyle/>
                    <a:p>
                      <a:r>
                        <a:rPr sz="1650" b="1">
                          <a:solidFill>
                            <a:srgbClr val="FFFFFF"/>
                          </a:solidFill>
                          <a:latin typeface="Arial"/>
                          <a:ea typeface="Arial"/>
                          <a:cs typeface="Arial"/>
                        </a:rPr>
                        <a:t>Relationship</a:t>
                      </a:r>
                    </a:p>
                  </a:txBody>
                  <a:tcPr marL="91440" marR="91440" marT="45720" marB="45720"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lIns="95250" tIns="95250" rIns="95250" bIns="95250"/>
                    <a:lstStyle/>
                    <a:p>
                      <a:r>
                        <a:rPr sz="1650" b="1">
                          <a:solidFill>
                            <a:srgbClr val="FFFFFF"/>
                          </a:solidFill>
                          <a:latin typeface="Arial"/>
                          <a:ea typeface="Arial"/>
                          <a:cs typeface="Arial"/>
                        </a:rPr>
                        <a:t>Mapping rule</a:t>
                      </a:r>
                    </a:p>
                  </a:txBody>
                  <a:tcPr marL="91440" marR="91440" marT="45720" marB="45720" anchor="ctr">
                    <a:lnR w="9525">
                      <a:solidFill>
                        <a:srgbClr val="D5DDE8"/>
                      </a:solidFill>
                    </a:lnR>
                    <a:lnT w="9525">
                      <a:solidFill>
                        <a:srgbClr val="D5DDE8"/>
                      </a:solidFill>
                    </a:lnT>
                    <a:lnB w="9525">
                      <a:solidFill>
                        <a:srgbClr val="D5DDE8"/>
                      </a:solidFill>
                    </a:lnB>
                    <a:solidFill>
                      <a:srgbClr val="10213A"/>
                    </a:solidFill>
                  </a:tcPr>
                </a:tc>
                <a:tc>
                  <a:txBody>
                    <a:bodyPr lIns="95250" tIns="95250" rIns="95250" bIns="95250"/>
                    <a:lstStyle/>
                    <a:p>
                      <a:r>
                        <a:rPr sz="1650" b="1">
                          <a:solidFill>
                            <a:srgbClr val="FFFFFF"/>
                          </a:solidFill>
                          <a:latin typeface="Arial"/>
                          <a:ea typeface="Arial"/>
                          <a:cs typeface="Arial"/>
                        </a:rPr>
                        <a:t>Project example</a:t>
                      </a:r>
                    </a:p>
                  </a:txBody>
                  <a:tcPr marL="91440" marR="91440" marT="45720" marB="45720" anchor="ctr">
                    <a:lnR w="9525">
                      <a:solidFill>
                        <a:srgbClr val="D5DDE8"/>
                      </a:solidFill>
                    </a:lnR>
                    <a:lnT w="9525">
                      <a:solidFill>
                        <a:srgbClr val="D5DDE8"/>
                      </a:solidFill>
                    </a:lnT>
                    <a:lnB w="9525">
                      <a:solidFill>
                        <a:srgbClr val="D5DDE8"/>
                      </a:solidFill>
                    </a:lnB>
                    <a:solidFill>
                      <a:srgbClr val="10213A"/>
                    </a:solidFill>
                  </a:tcPr>
                </a:tc>
              </a:tr>
              <a:tr h="668338">
                <a:tc>
                  <a:txBody>
                    <a:bodyPr lIns="95250" tIns="95250" rIns="95250" bIns="95250"/>
                    <a:lstStyle/>
                    <a:p>
                      <a:r>
                        <a:rPr sz="1650" b="0">
                          <a:solidFill>
                            <a:srgbClr val="15283F"/>
                          </a:solidFill>
                          <a:latin typeface="Arial"/>
                          <a:ea typeface="Arial"/>
                          <a:cs typeface="Arial"/>
                        </a:rPr>
                        <a:t>Entity</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Create table with a primary key</a:t>
                      </a:r>
                    </a:p>
                  </a:txBody>
                  <a:tcPr marL="91440" marR="91440" marT="45720" marB="45720" anchor="ctr">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users.id</a:t>
                      </a:r>
                    </a:p>
                  </a:txBody>
                  <a:tcPr marL="91440" marR="91440" marT="45720" marB="45720" anchor="ctr">
                    <a:lnR w="9525">
                      <a:solidFill>
                        <a:srgbClr val="D5DDE8"/>
                      </a:solidFill>
                    </a:lnR>
                    <a:lnB w="9525">
                      <a:solidFill>
                        <a:srgbClr val="D5DDE8"/>
                      </a:solidFill>
                    </a:lnB>
                    <a:solidFill>
                      <a:srgbClr val="FFFFFF"/>
                    </a:solidFill>
                  </a:tcPr>
                </a:tc>
              </a:tr>
              <a:tr h="668338">
                <a:tc>
                  <a:txBody>
                    <a:bodyPr lIns="95250" tIns="95250" rIns="95250" bIns="95250"/>
                    <a:lstStyle/>
                    <a:p>
                      <a:r>
                        <a:rPr sz="1650" b="0">
                          <a:solidFill>
                            <a:srgbClr val="15283F"/>
                          </a:solidFill>
                          <a:latin typeface="Arial"/>
                          <a:ea typeface="Arial"/>
                          <a:cs typeface="Arial"/>
                        </a:rPr>
                        <a:t>1 : 0..1</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Unique FK in the profile table</a:t>
                      </a:r>
                    </a:p>
                  </a:txBody>
                  <a:tcPr marL="91440" marR="91440" marT="45720" marB="45720" anchor="ctr">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developer_profiles.user_id</a:t>
                      </a:r>
                    </a:p>
                  </a:txBody>
                  <a:tcPr marL="91440" marR="91440" marT="45720" marB="45720" anchor="ctr">
                    <a:lnR w="9525">
                      <a:solidFill>
                        <a:srgbClr val="D5DDE8"/>
                      </a:solidFill>
                    </a:lnR>
                    <a:lnB w="9525">
                      <a:solidFill>
                        <a:srgbClr val="D5DDE8"/>
                      </a:solidFill>
                    </a:lnB>
                    <a:solidFill>
                      <a:srgbClr val="EDF1F6"/>
                    </a:solidFill>
                  </a:tcPr>
                </a:tc>
              </a:tr>
              <a:tr h="668338">
                <a:tc>
                  <a:txBody>
                    <a:bodyPr lIns="95250" tIns="95250" rIns="95250" bIns="95250"/>
                    <a:lstStyle/>
                    <a:p>
                      <a:r>
                        <a:rPr sz="1650" b="0">
                          <a:solidFill>
                            <a:srgbClr val="15283F"/>
                          </a:solidFill>
                          <a:latin typeface="Arial"/>
                          <a:ea typeface="Arial"/>
                          <a:cs typeface="Arial"/>
                        </a:rPr>
                        <a:t>1 : N</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FK in the child table</a:t>
                      </a:r>
                    </a:p>
                  </a:txBody>
                  <a:tcPr marL="91440" marR="91440" marT="45720" marB="45720" anchor="ctr">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jobs.recruiter_id</a:t>
                      </a:r>
                    </a:p>
                  </a:txBody>
                  <a:tcPr marL="91440" marR="91440" marT="45720" marB="45720" anchor="ctr">
                    <a:lnR w="9525">
                      <a:solidFill>
                        <a:srgbClr val="D5DDE8"/>
                      </a:solidFill>
                    </a:lnR>
                    <a:lnB w="9525">
                      <a:solidFill>
                        <a:srgbClr val="D5DDE8"/>
                      </a:solidFill>
                    </a:lnB>
                    <a:solidFill>
                      <a:srgbClr val="FFFFFF"/>
                    </a:solidFill>
                  </a:tcPr>
                </a:tc>
              </a:tr>
              <a:tr h="668338">
                <a:tc>
                  <a:txBody>
                    <a:bodyPr lIns="95250" tIns="95250" rIns="95250" bIns="95250"/>
                    <a:lstStyle/>
                    <a:p>
                      <a:r>
                        <a:rPr sz="1650" b="0">
                          <a:solidFill>
                            <a:srgbClr val="15283F"/>
                          </a:solidFill>
                          <a:latin typeface="Arial"/>
                          <a:ea typeface="Arial"/>
                          <a:cs typeface="Arial"/>
                        </a:rPr>
                        <a:t>M : N</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Bridge table with both FKs</a:t>
                      </a:r>
                    </a:p>
                  </a:txBody>
                  <a:tcPr marL="91440" marR="91440" marT="45720" marB="45720" anchor="ctr">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applications</a:t>
                      </a:r>
                    </a:p>
                  </a:txBody>
                  <a:tcPr marL="91440" marR="91440" marT="45720" marB="45720" anchor="ctr">
                    <a:lnR w="9525">
                      <a:solidFill>
                        <a:srgbClr val="D5DDE8"/>
                      </a:solidFill>
                    </a:lnR>
                    <a:lnB w="9525">
                      <a:solidFill>
                        <a:srgbClr val="D5DDE8"/>
                      </a:solidFill>
                    </a:lnB>
                    <a:solidFill>
                      <a:srgbClr val="EDF1F6"/>
                    </a:solidFill>
                  </a:tcPr>
                </a:tc>
              </a:tr>
              <a:tr h="668338">
                <a:tc>
                  <a:txBody>
                    <a:bodyPr lIns="95250" tIns="95250" rIns="95250" bIns="95250"/>
                    <a:lstStyle/>
                    <a:p>
                      <a:r>
                        <a:rPr sz="1650" b="0">
                          <a:solidFill>
                            <a:srgbClr val="15283F"/>
                          </a:solidFill>
                          <a:latin typeface="Arial"/>
                          <a:ea typeface="Arial"/>
                          <a:cs typeface="Arial"/>
                        </a:rPr>
                        <a:t>Repeated value</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Separate child records</a:t>
                      </a:r>
                    </a:p>
                  </a:txBody>
                  <a:tcPr marL="91440" marR="91440" marT="45720" marB="45720" anchor="ctr">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job_skills, project_technologies</a:t>
                      </a:r>
                    </a:p>
                  </a:txBody>
                  <a:tcPr marL="91440" marR="91440" marT="45720" marB="45720" anchor="ctr">
                    <a:lnR w="9525">
                      <a:solidFill>
                        <a:srgbClr val="D5DDE8"/>
                      </a:solidFill>
                    </a:lnR>
                    <a:lnB w="9525">
                      <a:solidFill>
                        <a:srgbClr val="D5DDE8"/>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5D10825-A29A-45EF-8AFF-77BB756EAAD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15BDF"/>
                </a:solidFill>
                <a:latin typeface="Arial"/>
                <a:ea typeface="Arial"/>
                <a:cs typeface="Arial"/>
              </a:defRPr>
            </a:defPPr>
          </a:lstStyle>
          <a:p xmlns:a="http://schemas.openxmlformats.org/drawingml/2006/main">
            <a:pPr>
              <a:defRPr sz="1875" b="1">
                <a:solidFill>
                  <a:srgbClr val="315BDF"/>
                </a:solidFill>
                <a:latin typeface="Arial"/>
                <a:ea typeface="Arial"/>
                <a:cs typeface="Arial"/>
              </a:defRPr>
            </a:pPr>
            <a:r>
              <a:rPr sz="1875" b="1">
                <a:solidFill>
                  <a:srgbClr val="315BDF"/>
                </a:solidFill>
                <a:latin typeface="Arial"/>
                <a:ea typeface="Arial"/>
                <a:cs typeface="Arial"/>
              </a:rPr>
              <a:t>UNIQUE (developer_id, job_id) allows one application per developer per job</a:t>
            </a:r>
          </a:p>
        </p:txBody>
      </p:sp>
    </p:spTree>
    <p:extLst>
      <p:ext uri="{BB962C8B-B14F-4D97-AF65-F5344CB8AC3E}">
        <p14:creationId xmlns:p14="http://schemas.microsoft.com/office/powerpoint/2010/main" val="473382579"/>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CD97F5-0A3B-48E0-B34F-5EB77CFA0FE4}"/>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9F899DEE-E120-4236-970D-DA24E167868A}"/>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Normalization of the relations</a:t>
            </a:r>
          </a:p>
        </p:txBody>
      </p:sp>
      <p:sp>
        <p:nvSpPr>
          <p:cNvPr id="3" name="">
            <a:extLst xmlns:a="http://schemas.openxmlformats.org/drawingml/2006/main">
              <a:ext uri="{FF2B5EF4-FFF2-40B4-BE49-F238E27FC236}">
                <a16:creationId xmlns:a16="http://schemas.microsoft.com/office/drawing/2014/main" id="{474E06FC-39AA-448B-9AF4-91ABC190EE1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7222C06C-0A98-405A-86AC-54AB8BF25CD5}"/>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2AE0CED-7028-4A8F-B2CD-FFD6A0F7E1BD}"/>
              </a:ext>
            </a:extLst>
          </p:cNvPr>
          <p:cNvSpPr>
            <a:spLocks xmlns:a="http://schemas.openxmlformats.org/drawingml/2006/main" noGrp="1"/>
          </p:cNvSpPr>
          <p:nvPr/>
        </p:nvSpPr>
        <p:spPr>
          <a:xfrm xmlns:a="http://schemas.openxmlformats.org/drawingml/2006/main">
            <a:off x="609600"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1NF: one skill or technology per child row</a:t>
            </a:r>
          </a:p>
        </p:txBody>
      </p:sp>
      <p:sp>
        <p:nvSpPr>
          <p:cNvPr id="6" name="">
            <a:extLst xmlns:a="http://schemas.openxmlformats.org/drawingml/2006/main">
              <a:ext uri="{FF2B5EF4-FFF2-40B4-BE49-F238E27FC236}">
                <a16:creationId xmlns:a16="http://schemas.microsoft.com/office/drawing/2014/main" id="{E28F447A-89A5-49C8-8459-CA22FD9855DF}"/>
              </a:ext>
            </a:extLst>
          </p:cNvPr>
          <p:cNvSpPr>
            <a:spLocks xmlns:a="http://schemas.openxmlformats.org/drawingml/2006/main" noGrp="1"/>
          </p:cNvSpPr>
          <p:nvPr/>
        </p:nvSpPr>
        <p:spPr>
          <a:xfrm xmlns:a="http://schemas.openxmlformats.org/drawingml/2006/main">
            <a:off x="609600" y="2143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job_skills and project_technologies replace comma-separated operational lists.</a:t>
            </a:r>
          </a:p>
        </p:txBody>
      </p:sp>
      <p:sp>
        <p:nvSpPr>
          <p:cNvPr id="7" name="">
            <a:extLst xmlns:a="http://schemas.openxmlformats.org/drawingml/2006/main">
              <a:ext uri="{FF2B5EF4-FFF2-40B4-BE49-F238E27FC236}">
                <a16:creationId xmlns:a16="http://schemas.microsoft.com/office/drawing/2014/main" id="{2C83FC43-4F98-4BB1-BA0D-069FEAB9FFD6}"/>
              </a:ext>
            </a:extLst>
          </p:cNvPr>
          <p:cNvSpPr>
            <a:spLocks xmlns:a="http://schemas.openxmlformats.org/drawingml/2006/main" noGrp="1"/>
          </p:cNvSpPr>
          <p:nvPr/>
        </p:nvSpPr>
        <p:spPr>
          <a:xfrm xmlns:a="http://schemas.openxmlformats.org/drawingml/2006/main">
            <a:off x="609600" y="3209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2NF: facts depend on the complete key</a:t>
            </a:r>
          </a:p>
        </p:txBody>
      </p:sp>
      <p:sp>
        <p:nvSpPr>
          <p:cNvPr id="8" name="">
            <a:extLst xmlns:a="http://schemas.openxmlformats.org/drawingml/2006/main">
              <a:ext uri="{FF2B5EF4-FFF2-40B4-BE49-F238E27FC236}">
                <a16:creationId xmlns:a16="http://schemas.microsoft.com/office/drawing/2014/main" id="{93910F1C-2566-47C9-92DD-0E2DEE59F198}"/>
              </a:ext>
            </a:extLst>
          </p:cNvPr>
          <p:cNvSpPr>
            <a:spLocks xmlns:a="http://schemas.openxmlformats.org/drawingml/2006/main" noGrp="1"/>
          </p:cNvSpPr>
          <p:nvPr/>
        </p:nvSpPr>
        <p:spPr>
          <a:xfrm xmlns:a="http://schemas.openxmlformats.org/drawingml/2006/main">
            <a:off x="609600" y="3667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Skill level and years describe a developer-skill pair. Application status describes a developer-job application.</a:t>
            </a:r>
          </a:p>
        </p:txBody>
      </p:sp>
      <p:sp>
        <p:nvSpPr>
          <p:cNvPr id="9" name="">
            <a:extLst xmlns:a="http://schemas.openxmlformats.org/drawingml/2006/main">
              <a:ext uri="{FF2B5EF4-FFF2-40B4-BE49-F238E27FC236}">
                <a16:creationId xmlns:a16="http://schemas.microsoft.com/office/drawing/2014/main" id="{FEEE186B-0F0E-4138-8D11-04930503B619}"/>
              </a:ext>
            </a:extLst>
          </p:cNvPr>
          <p:cNvSpPr>
            <a:spLocks xmlns:a="http://schemas.openxmlformats.org/drawingml/2006/main" noGrp="1"/>
          </p:cNvSpPr>
          <p:nvPr/>
        </p:nvSpPr>
        <p:spPr>
          <a:xfrm xmlns:a="http://schemas.openxmlformats.org/drawingml/2006/main">
            <a:off x="609600" y="4733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3NF: separate facts about separate entities</a:t>
            </a:r>
          </a:p>
        </p:txBody>
      </p:sp>
      <p:sp>
        <p:nvSpPr>
          <p:cNvPr id="10" name="">
            <a:extLst xmlns:a="http://schemas.openxmlformats.org/drawingml/2006/main">
              <a:ext uri="{FF2B5EF4-FFF2-40B4-BE49-F238E27FC236}">
                <a16:creationId xmlns:a16="http://schemas.microsoft.com/office/drawing/2014/main" id="{7A7070F3-944A-4A96-880C-98BB3C26472C}"/>
              </a:ext>
            </a:extLst>
          </p:cNvPr>
          <p:cNvSpPr>
            <a:spLocks xmlns:a="http://schemas.openxmlformats.org/drawingml/2006/main" noGrp="1"/>
          </p:cNvSpPr>
          <p:nvPr/>
        </p:nvSpPr>
        <p:spPr>
          <a:xfrm xmlns:a="http://schemas.openxmlformats.org/drawingml/2006/main">
            <a:off x="609600" y="5191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User credentials, company details and job details stay in their own tables. Applications reference developers and jobs through foreign keys.</a:t>
            </a:r>
          </a:p>
        </p:txBody>
      </p:sp>
    </p:spTree>
    <p:extLst>
      <p:ext uri="{BB962C8B-B14F-4D97-AF65-F5344CB8AC3E}">
        <p14:creationId xmlns:p14="http://schemas.microsoft.com/office/powerpoint/2010/main" val="56016232"/>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C9F285-585B-4F77-A245-49DD4440DBBD}"/>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04 / DBMS EVIDENCE</a:t>
            </a:r>
          </a:p>
        </p:txBody>
      </p:sp>
      <p:sp>
        <p:nvSpPr>
          <p:cNvPr id="2" name="">
            <a:extLst xmlns:a="http://schemas.openxmlformats.org/drawingml/2006/main">
              <a:ext uri="{FF2B5EF4-FFF2-40B4-BE49-F238E27FC236}">
                <a16:creationId xmlns:a16="http://schemas.microsoft.com/office/drawing/2014/main" id="{F17B722A-B2CF-4227-98ED-C7C5297E7F21}"/>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Keys and integrity constraints</a:t>
            </a:r>
          </a:p>
        </p:txBody>
      </p:sp>
      <p:sp>
        <p:nvSpPr>
          <p:cNvPr id="3" name="">
            <a:extLst xmlns:a="http://schemas.openxmlformats.org/drawingml/2006/main">
              <a:ext uri="{FF2B5EF4-FFF2-40B4-BE49-F238E27FC236}">
                <a16:creationId xmlns:a16="http://schemas.microsoft.com/office/drawing/2014/main" id="{2131E971-923D-4B09-BAAC-21640A0C7AB7}"/>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18548D9F-C0E0-4F8B-9526-1B37C4CE0CED}"/>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7A006826-3044-4B37-9C54-4C7036C8293A}"/>
              </a:ext>
            </a:extLst>
          </p:cNvPr>
          <p:cNvGraphicFramePr/>
          <p:nvPr/>
        </p:nvGraphicFramePr>
        <p:xfrm>
          <a:off xmlns:a="http://schemas.openxmlformats.org/drawingml/2006/main" x="609600" y="1743075"/>
          <a:ext xmlns:a="http://schemas.openxmlformats.org/drawingml/2006/main" cx="10972800" cy="3857625"/>
        </p:xfrm>
        <a:graphic xmlns:a="http://schemas.openxmlformats.org/drawingml/2006/main">
          <a:graphicData uri="http://schemas.openxmlformats.org/drawingml/2006/table">
            <a:tbl>
              <a:tblPr/>
              <a:tblGrid>
                <a:gridCol w="5334000"/>
                <a:gridCol w="5638800"/>
              </a:tblGrid>
              <a:tr h="642938">
                <a:tc>
                  <a:txBody>
                    <a:bodyPr lIns="95250" tIns="95250" rIns="95250" bIns="95250"/>
                    <a:lstStyle/>
                    <a:p>
                      <a:r>
                        <a:rPr sz="1650" b="1">
                          <a:solidFill>
                            <a:srgbClr val="FFFFFF"/>
                          </a:solidFill>
                          <a:latin typeface="Arial"/>
                          <a:ea typeface="Arial"/>
                          <a:cs typeface="Arial"/>
                        </a:rPr>
                        <a:t>Constraint</a:t>
                      </a:r>
                    </a:p>
                  </a:txBody>
                  <a:tcPr marL="91440" marR="91440" marT="45720" marB="45720"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lIns="95250" tIns="95250" rIns="95250" bIns="95250"/>
                    <a:lstStyle/>
                    <a:p>
                      <a:r>
                        <a:rPr sz="1650" b="1">
                          <a:solidFill>
                            <a:srgbClr val="FFFFFF"/>
                          </a:solidFill>
                          <a:latin typeface="Arial"/>
                          <a:ea typeface="Arial"/>
                          <a:cs typeface="Arial"/>
                        </a:rPr>
                        <a:t>Purpose</a:t>
                      </a:r>
                    </a:p>
                  </a:txBody>
                  <a:tcPr marL="91440" marR="91440" marT="45720" marB="45720" anchor="ctr">
                    <a:lnR w="9525">
                      <a:solidFill>
                        <a:srgbClr val="D5DDE8"/>
                      </a:solidFill>
                    </a:lnR>
                    <a:lnT w="9525">
                      <a:solidFill>
                        <a:srgbClr val="D5DDE8"/>
                      </a:solidFill>
                    </a:lnT>
                    <a:lnB w="9525">
                      <a:solidFill>
                        <a:srgbClr val="D5DDE8"/>
                      </a:solidFill>
                    </a:lnB>
                    <a:solidFill>
                      <a:srgbClr val="10213A"/>
                    </a:solidFill>
                  </a:tcPr>
                </a:tc>
              </a:tr>
              <a:tr h="642938">
                <a:tc>
                  <a:txBody>
                    <a:bodyPr lIns="95250" tIns="95250" rIns="95250" bIns="95250"/>
                    <a:lstStyle/>
                    <a:p>
                      <a:r>
                        <a:rPr sz="1650" b="0">
                          <a:solidFill>
                            <a:srgbClr val="15283F"/>
                          </a:solidFill>
                          <a:latin typeface="Arial"/>
                          <a:ea typeface="Arial"/>
                          <a:cs typeface="Arial"/>
                        </a:rPr>
                        <a:t>Primary key id on every table</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Identify each record uniquely</a:t>
                      </a:r>
                    </a:p>
                  </a:txBody>
                  <a:tcPr marL="91440" marR="91440" marT="45720" marB="45720" anchor="ctr">
                    <a:lnR w="9525">
                      <a:solidFill>
                        <a:srgbClr val="D5DDE8"/>
                      </a:solidFill>
                    </a:lnR>
                    <a:lnB w="9525">
                      <a:solidFill>
                        <a:srgbClr val="D5DDE8"/>
                      </a:solidFill>
                    </a:lnB>
                    <a:solidFill>
                      <a:srgbClr val="FFFFFF"/>
                    </a:solidFill>
                  </a:tcPr>
                </a:tc>
              </a:tr>
              <a:tr h="642938">
                <a:tc>
                  <a:txBody>
                    <a:bodyPr lIns="95250" tIns="95250" rIns="95250" bIns="95250"/>
                    <a:lstStyle/>
                    <a:p>
                      <a:r>
                        <a:rPr sz="1650" b="0">
                          <a:solidFill>
                            <a:srgbClr val="15283F"/>
                          </a:solidFill>
                          <a:latin typeface="Arial"/>
                          <a:ea typeface="Arial"/>
                          <a:cs typeface="Arial"/>
                        </a:rPr>
                        <a:t>Foreign keys between related tables</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Keep references tied to their parent entity</a:t>
                      </a:r>
                    </a:p>
                  </a:txBody>
                  <a:tcPr marL="91440" marR="91440" marT="45720" marB="45720" anchor="ctr">
                    <a:lnR w="9525">
                      <a:solidFill>
                        <a:srgbClr val="D5DDE8"/>
                      </a:solidFill>
                    </a:lnR>
                    <a:lnB w="9525">
                      <a:solidFill>
                        <a:srgbClr val="D5DDE8"/>
                      </a:solidFill>
                    </a:lnB>
                    <a:solidFill>
                      <a:srgbClr val="EDF1F6"/>
                    </a:solidFill>
                  </a:tcPr>
                </a:tc>
              </a:tr>
              <a:tr h="642938">
                <a:tc>
                  <a:txBody>
                    <a:bodyPr lIns="95250" tIns="95250" rIns="95250" bIns="95250"/>
                    <a:lstStyle/>
                    <a:p>
                      <a:r>
                        <a:rPr sz="1650" b="0">
                          <a:solidFill>
                            <a:srgbClr val="15283F"/>
                          </a:solidFill>
                          <a:latin typeface="Arial"/>
                          <a:ea typeface="Arial"/>
                          <a:cs typeface="Arial"/>
                        </a:rPr>
                        <a:t>Unique email and profile user_id</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Prevent duplicate accounts and same-role profiles</a:t>
                      </a:r>
                    </a:p>
                  </a:txBody>
                  <a:tcPr marL="91440" marR="91440" marT="45720" marB="45720" anchor="ctr">
                    <a:lnR w="9525">
                      <a:solidFill>
                        <a:srgbClr val="D5DDE8"/>
                      </a:solidFill>
                    </a:lnR>
                    <a:lnB w="9525">
                      <a:solidFill>
                        <a:srgbClr val="D5DDE8"/>
                      </a:solidFill>
                    </a:lnB>
                    <a:solidFill>
                      <a:srgbClr val="FFFFFF"/>
                    </a:solidFill>
                  </a:tcPr>
                </a:tc>
              </a:tr>
              <a:tr h="642938">
                <a:tc>
                  <a:txBody>
                    <a:bodyPr lIns="95250" tIns="95250" rIns="95250" bIns="95250"/>
                    <a:lstStyle/>
                    <a:p>
                      <a:r>
                        <a:rPr sz="1650" b="0">
                          <a:solidFill>
                            <a:srgbClr val="15283F"/>
                          </a:solidFill>
                          <a:latin typeface="Arial"/>
                          <a:ea typeface="Arial"/>
                          <a:cs typeface="Arial"/>
                        </a:rPr>
                        <a:t>Unique developer_id + job_id</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Prevent repeat applications to the same job</a:t>
                      </a:r>
                    </a:p>
                  </a:txBody>
                  <a:tcPr marL="91440" marR="91440" marT="45720" marB="45720" anchor="ctr">
                    <a:lnR w="9525">
                      <a:solidFill>
                        <a:srgbClr val="D5DDE8"/>
                      </a:solidFill>
                    </a:lnR>
                    <a:lnB w="9525">
                      <a:solidFill>
                        <a:srgbClr val="D5DDE8"/>
                      </a:solidFill>
                    </a:lnB>
                    <a:solidFill>
                      <a:srgbClr val="EDF1F6"/>
                    </a:solidFill>
                  </a:tcPr>
                </a:tc>
              </a:tr>
              <a:tr h="642938">
                <a:tc>
                  <a:txBody>
                    <a:bodyPr lIns="95250" tIns="95250" rIns="95250" bIns="95250"/>
                    <a:lstStyle/>
                    <a:p>
                      <a:r>
                        <a:rPr sz="1650" b="0">
                          <a:solidFill>
                            <a:srgbClr val="15283F"/>
                          </a:solidFill>
                          <a:latin typeface="Arial"/>
                          <a:ea typeface="Arial"/>
                          <a:cs typeface="Arial"/>
                        </a:rPr>
                        <a:t>Unique parent_id + skill/technology name</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Prevent duplicate values within a parent</a:t>
                      </a:r>
                    </a:p>
                  </a:txBody>
                  <a:tcPr marL="91440" marR="91440" marT="45720" marB="45720" anchor="ctr">
                    <a:lnR w="9525">
                      <a:solidFill>
                        <a:srgbClr val="D5DDE8"/>
                      </a:solidFill>
                    </a:lnR>
                    <a:lnB w="9525">
                      <a:solidFill>
                        <a:srgbClr val="D5DDE8"/>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326C1A-A8AD-4290-A5D5-20F8693E3B19}"/>
              </a:ext>
            </a:extLst>
          </p:cNvPr>
          <p:cNvSpPr>
            <a:spLocks xmlns:a="http://schemas.openxmlformats.org/drawingml/2006/main" noGrp="1"/>
          </p:cNvSpPr>
          <p:nvPr/>
        </p:nvSpPr>
        <p:spPr>
          <a:xfrm xmlns:a="http://schemas.openxmlformats.org/drawingml/2006/main">
            <a:off x="609600" y="5895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76980"/>
                </a:solidFill>
                <a:latin typeface="Arial"/>
                <a:ea typeface="Arial"/>
                <a:cs typeface="Arial"/>
              </a:defRPr>
            </a:defPPr>
          </a:lstStyle>
          <a:p xmlns:a="http://schemas.openxmlformats.org/drawingml/2006/main">
            <a:pPr>
              <a:defRPr sz="1875" b="0">
                <a:solidFill>
                  <a:srgbClr val="576980"/>
                </a:solidFill>
                <a:latin typeface="Arial"/>
                <a:ea typeface="Arial"/>
                <a:cs typeface="Arial"/>
              </a:defRPr>
            </a:pPr>
            <a:r>
              <a:rPr sz="1875" b="0">
                <a:solidFill>
                  <a:srgbClr val="576980"/>
                </a:solidFill>
                <a:latin typeface="Arial"/>
                <a:ea typeface="Arial"/>
                <a:cs typeface="Arial"/>
              </a:rPr>
              <a:t>Application controls also check user roles, ownership and form submissions.</a:t>
            </a:r>
          </a:p>
        </p:txBody>
      </p:sp>
    </p:spTree>
    <p:extLst>
      <p:ext uri="{BB962C8B-B14F-4D97-AF65-F5344CB8AC3E}">
        <p14:creationId xmlns:p14="http://schemas.microsoft.com/office/powerpoint/2010/main" val="69905462"/>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DDB94D-0578-4D27-9950-CC2360C4A464}"/>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8D3D60B5-5CF9-4B57-900C-707C89273066}"/>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MySQL CRUD demonstration</a:t>
            </a:r>
          </a:p>
        </p:txBody>
      </p:sp>
      <p:sp>
        <p:nvSpPr>
          <p:cNvPr id="3" name="">
            <a:extLst xmlns:a="http://schemas.openxmlformats.org/drawingml/2006/main">
              <a:ext uri="{FF2B5EF4-FFF2-40B4-BE49-F238E27FC236}">
                <a16:creationId xmlns:a16="http://schemas.microsoft.com/office/drawing/2014/main" id="{15B0B694-B9E4-4985-84B4-8B68535A8F1B}"/>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49F59C67-9EC0-49B1-A304-7F1E7A84772B}"/>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BA3A5D6-E7A9-45CE-A6A5-21CA90B6D6BB}"/>
              </a:ext>
            </a:extLst>
          </p:cNvPr>
          <p:cNvSpPr>
            <a:spLocks xmlns:a="http://schemas.openxmlformats.org/drawingml/2006/main" noGrp="1"/>
          </p:cNvSpPr>
          <p:nvPr/>
        </p:nvSpPr>
        <p:spPr>
          <a:xfrm xmlns:a="http://schemas.openxmlformats.org/drawingml/2006/main">
            <a:off x="609600" y="1724025"/>
            <a:ext cx="109728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INSERT INTO jobs (recruiter_id, title, description, location)</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VALUES ((SELECT id FROM recruiter_profiles ORDER BY id LIMIT 1),</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        'Final Demo Job', 'DBMS demonstration', 'Bengaluru');</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SET @demo_job_id = LAST_INSERT_ID();</a:t>
            </a:r>
          </a:p>
          <a:p xmlns:a="http://schemas.openxmlformats.org/drawingml/2006/main">
            <a:r>
              <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SELECT id, title, location FROM jobs WHERE id = @demo_job_id;</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UPDATE jobs SET location = 'Hyderabad' WHERE id = @demo_job_id;</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DELETE FROM jobs WHERE id = @demo_job_id;</a:t>
            </a:r>
          </a:p>
        </p:txBody>
      </p:sp>
      <p:sp>
        <p:nvSpPr>
          <p:cNvPr id="6" name="">
            <a:extLst xmlns:a="http://schemas.openxmlformats.org/drawingml/2006/main">
              <a:ext uri="{FF2B5EF4-FFF2-40B4-BE49-F238E27FC236}">
                <a16:creationId xmlns:a16="http://schemas.microsoft.com/office/drawing/2014/main" id="{0FBD3750-C573-459E-BCFB-97476C70E40D}"/>
              </a:ext>
            </a:extLst>
          </p:cNvPr>
          <p:cNvSpPr>
            <a:spLocks xmlns:a="http://schemas.openxmlformats.org/drawingml/2006/main" noGrp="1"/>
          </p:cNvSpPr>
          <p:nvPr/>
        </p:nvSpPr>
        <p:spPr>
          <a:xfrm xmlns:a="http://schemas.openxmlformats.org/drawingml/2006/main">
            <a:off x="609600" y="5648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BDF"/>
                </a:solidFill>
                <a:latin typeface="Arial"/>
                <a:ea typeface="Arial"/>
                <a:cs typeface="Arial"/>
              </a:defRPr>
            </a:defPPr>
          </a:lstStyle>
          <a:p xmlns:a="http://schemas.openxmlformats.org/drawingml/2006/main">
            <a:pPr>
              <a:defRPr sz="2025" b="1">
                <a:solidFill>
                  <a:srgbClr val="315BDF"/>
                </a:solidFill>
                <a:latin typeface="Arial"/>
                <a:ea typeface="Arial"/>
                <a:cs typeface="Arial"/>
              </a:defRPr>
            </a:pPr>
            <a:r>
              <a:rPr sz="2025" b="1">
                <a:solidFill>
                  <a:srgbClr val="315BDF"/>
                </a:solidFill>
                <a:latin typeface="Arial"/>
                <a:ea typeface="Arial"/>
                <a:cs typeface="Arial"/>
              </a:rPr>
              <a:t>Refresh /dbms-demo after each committed change to show insert, update and delete.</a:t>
            </a:r>
          </a:p>
        </p:txBody>
      </p:sp>
    </p:spTree>
    <p:extLst>
      <p:ext uri="{BB962C8B-B14F-4D97-AF65-F5344CB8AC3E}">
        <p14:creationId xmlns:p14="http://schemas.microsoft.com/office/powerpoint/2010/main" val="624640324"/>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042691-0810-4EE3-BE75-A1044B7A1715}"/>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3DB97259-CBCF-4DF0-8B65-46CB7125B13C}"/>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SELECT, JOIN, LIKE and aggregation</a:t>
            </a:r>
          </a:p>
        </p:txBody>
      </p:sp>
      <p:sp>
        <p:nvSpPr>
          <p:cNvPr id="3" name="">
            <a:extLst xmlns:a="http://schemas.openxmlformats.org/drawingml/2006/main">
              <a:ext uri="{FF2B5EF4-FFF2-40B4-BE49-F238E27FC236}">
                <a16:creationId xmlns:a16="http://schemas.microsoft.com/office/drawing/2014/main" id="{F192CECD-0EBE-41B9-8CF9-A2499E32583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BD138774-18A8-4C95-B610-7054166C1463}"/>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8BE42F3-A281-480B-AF05-5CEE1548EBBF}"/>
              </a:ext>
            </a:extLst>
          </p:cNvPr>
          <p:cNvSpPr>
            <a:spLocks xmlns:a="http://schemas.openxmlformats.org/drawingml/2006/main" noGrp="1"/>
          </p:cNvSpPr>
          <p:nvPr/>
        </p:nvSpPr>
        <p:spPr>
          <a:xfrm xmlns:a="http://schemas.openxmlformats.org/drawingml/2006/main">
            <a:off x="609600" y="1695450"/>
            <a:ext cx="109728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SELECT u.name, s.name AS skill, s.level</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FROM users u</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JOIN developer_profiles d ON d.user_id = u.id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JOIN skills s ON s.developer_id = d.id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WHERE s.name LIKE '%Python%'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ORDER BY u.name;</a:t>
            </a:r>
          </a:p>
          <a:p xmlns:a="http://schemas.openxmlformats.org/drawingml/2006/main">
            <a:r>
              <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SELECT status, COUNT(*) AS total</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FROM applications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GROUP BY status ORDER BY total DESC;</a:t>
            </a:r>
          </a:p>
        </p:txBody>
      </p:sp>
      <p:sp>
        <p:nvSpPr>
          <p:cNvPr id="6" name="">
            <a:extLst xmlns:a="http://schemas.openxmlformats.org/drawingml/2006/main">
              <a:ext uri="{FF2B5EF4-FFF2-40B4-BE49-F238E27FC236}">
                <a16:creationId xmlns:a16="http://schemas.microsoft.com/office/drawing/2014/main" id="{0DE3DB5A-D921-429D-B1A5-BDDFAF20B937}"/>
              </a:ext>
            </a:extLst>
          </p:cNvPr>
          <p:cNvSpPr>
            <a:spLocks xmlns:a="http://schemas.openxmlformats.org/drawingml/2006/main" noGrp="1"/>
          </p:cNvSpPr>
          <p:nvPr/>
        </p:nvSpPr>
        <p:spPr>
          <a:xfrm xmlns:a="http://schemas.openxmlformats.org/drawingml/2006/main">
            <a:off x="609600" y="58293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Search candidate skills and summarize application decisions with relational queries.</a:t>
            </a:r>
          </a:p>
        </p:txBody>
      </p:sp>
    </p:spTree>
    <p:extLst>
      <p:ext uri="{BB962C8B-B14F-4D97-AF65-F5344CB8AC3E}">
        <p14:creationId xmlns:p14="http://schemas.microsoft.com/office/powerpoint/2010/main" val="1173551817"/>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C91052-77F6-4F2E-B722-6125E10F62FB}"/>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C13DAF7B-FF54-4053-945B-BC9EEFD77162}"/>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ALTER, MODIFY and VIEW</a:t>
            </a:r>
          </a:p>
        </p:txBody>
      </p:sp>
      <p:sp>
        <p:nvSpPr>
          <p:cNvPr id="3" name="">
            <a:extLst xmlns:a="http://schemas.openxmlformats.org/drawingml/2006/main">
              <a:ext uri="{FF2B5EF4-FFF2-40B4-BE49-F238E27FC236}">
                <a16:creationId xmlns:a16="http://schemas.microsoft.com/office/drawing/2014/main" id="{A816CD12-848F-4D6B-A6BB-7FFE4C4D82D7}"/>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B8F51495-FB80-4CFB-A0E5-70B7F4A5A4F9}"/>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C1E3EA1-AD63-48BC-B4FA-32062E8FAF86}"/>
              </a:ext>
            </a:extLst>
          </p:cNvPr>
          <p:cNvSpPr>
            <a:spLocks xmlns:a="http://schemas.openxmlformats.org/drawingml/2006/main" noGrp="1"/>
          </p:cNvSpPr>
          <p:nvPr/>
        </p:nvSpPr>
        <p:spPr>
          <a:xfrm xmlns:a="http://schemas.openxmlformats.org/drawingml/2006/main">
            <a:off x="609600" y="1695450"/>
            <a:ext cx="109728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83F"/>
                </a:solidFill>
                <a:latin typeface="Arial"/>
                <a:ea typeface="Arial"/>
                <a:cs typeface="Arial"/>
              </a:defRPr>
            </a:defPPr>
          </a:lstStyle>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ALTER TABLE jobs</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MODIFY COLUMN salary VARCHAR(150) NULL DEFAULT 'Not disclosed';</a:t>
            </a:r>
          </a:p>
          <a:p xmlns:a="http://schemas.openxmlformats.org/drawingml/2006/main">
            <a:r>
              <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CREATE OR REPLACE VIEW job_application_summary AS</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SELECT j.id AS job_id, j.title, r.company_name,</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       COUNT(a.id) AS applicant_count</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FROM jobs j</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JOIN recruiter_profiles r ON r.id = j.recruiter_id</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LEFT JOIN applications a ON a.job_id = j.id</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GROUP BY j.id, j.title, r.company_name;</a:t>
            </a:r>
          </a:p>
          <a:p xmlns:a="http://schemas.openxmlformats.org/drawingml/2006/main">
            <a:r>
              <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SELECT * FROM job_application_summary;</a:t>
            </a:r>
          </a:p>
        </p:txBody>
      </p:sp>
    </p:spTree>
    <p:extLst>
      <p:ext uri="{BB962C8B-B14F-4D97-AF65-F5344CB8AC3E}">
        <p14:creationId xmlns:p14="http://schemas.microsoft.com/office/powerpoint/2010/main" val="1642241537"/>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D1CD92-4C6E-4D97-82BD-8D353CFA80F7}"/>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4CBAB7A5-AA7B-420A-A9CB-6204896A9B7B}"/>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TRIGGER for application status history</a:t>
            </a:r>
          </a:p>
        </p:txBody>
      </p:sp>
      <p:sp>
        <p:nvSpPr>
          <p:cNvPr id="3" name="">
            <a:extLst xmlns:a="http://schemas.openxmlformats.org/drawingml/2006/main">
              <a:ext uri="{FF2B5EF4-FFF2-40B4-BE49-F238E27FC236}">
                <a16:creationId xmlns:a16="http://schemas.microsoft.com/office/drawing/2014/main" id="{E0AE208C-4F8E-47F0-A70E-D1DC2B93690F}"/>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46CB131-4B49-4180-8222-74D2A3BADD9F}"/>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E9314E63-F804-4734-A3E3-6443F4BC8E8A}"/>
              </a:ext>
            </a:extLst>
          </p:cNvPr>
          <p:cNvSpPr>
            <a:spLocks xmlns:a="http://schemas.openxmlformats.org/drawingml/2006/main" noGrp="1"/>
          </p:cNvSpPr>
          <p:nvPr/>
        </p:nvSpPr>
        <p:spPr>
          <a:xfrm xmlns:a="http://schemas.openxmlformats.org/drawingml/2006/main">
            <a:off x="609600" y="1676400"/>
            <a:ext cx="10972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DELIMITER $$</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CREATE TRIGGER log_application_status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AFTER UPDATE ON applications FOR EACH ROW</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BEGIN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IF OLD.status &lt;&gt; NEW.status THEN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INSERT INTO application_status_history</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(application_id, old_status, new_status)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VALUES (NEW.id, OLD.status, NEW.status);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END IF;</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END$$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DELIMITER ;</a:t>
            </a:r>
          </a:p>
        </p:txBody>
      </p:sp>
      <p:sp>
        <p:nvSpPr>
          <p:cNvPr id="6" name="">
            <a:extLst xmlns:a="http://schemas.openxmlformats.org/drawingml/2006/main">
              <a:ext uri="{FF2B5EF4-FFF2-40B4-BE49-F238E27FC236}">
                <a16:creationId xmlns:a16="http://schemas.microsoft.com/office/drawing/2014/main" id="{ED2F7D1E-1CCE-4D47-B02A-56BE3BD7BEE9}"/>
              </a:ext>
            </a:extLst>
          </p:cNvPr>
          <p:cNvSpPr>
            <a:spLocks xmlns:a="http://schemas.openxmlformats.org/drawingml/2006/main" noGrp="1"/>
          </p:cNvSpPr>
          <p:nvPr/>
        </p:nvSpPr>
        <p:spPr>
          <a:xfrm xmlns:a="http://schemas.openxmlformats.org/drawingml/2006/main">
            <a:off x="609600" y="57816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A saved status change creates an audit row with the old status, new status and time.</a:t>
            </a:r>
          </a:p>
        </p:txBody>
      </p:sp>
    </p:spTree>
    <p:extLst>
      <p:ext uri="{BB962C8B-B14F-4D97-AF65-F5344CB8AC3E}">
        <p14:creationId xmlns:p14="http://schemas.microsoft.com/office/powerpoint/2010/main" val="868581679"/>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8FE91E-98F4-4208-9D63-EBF0B0DE7DC3}"/>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06 / APPLICATION RESULTS</a:t>
            </a:r>
          </a:p>
        </p:txBody>
      </p:sp>
      <p:sp>
        <p:nvSpPr>
          <p:cNvPr id="2" name="">
            <a:extLst xmlns:a="http://schemas.openxmlformats.org/drawingml/2006/main">
              <a:ext uri="{FF2B5EF4-FFF2-40B4-BE49-F238E27FC236}">
                <a16:creationId xmlns:a16="http://schemas.microsoft.com/office/drawing/2014/main" id="{163A71CB-D118-4717-A785-3B433B66D7E0}"/>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Skill match calculation</a:t>
            </a:r>
          </a:p>
        </p:txBody>
      </p:sp>
      <p:sp>
        <p:nvSpPr>
          <p:cNvPr id="3" name="">
            <a:extLst xmlns:a="http://schemas.openxmlformats.org/drawingml/2006/main">
              <a:ext uri="{FF2B5EF4-FFF2-40B4-BE49-F238E27FC236}">
                <a16:creationId xmlns:a16="http://schemas.microsoft.com/office/drawing/2014/main" id="{A934FA7B-457B-4166-9C65-C28F34A62DAA}"/>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E9D53312-5E00-4162-A50A-C77A9601064B}"/>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DC32F73-E789-4D44-B9FB-94D1229CD0C2}"/>
              </a:ext>
            </a:extLst>
          </p:cNvPr>
          <p:cNvSpPr>
            <a:spLocks xmlns:a="http://schemas.openxmlformats.org/drawingml/2006/main" noGrp="1"/>
          </p:cNvSpPr>
          <p:nvPr/>
        </p:nvSpPr>
        <p:spPr>
          <a:xfrm xmlns:a="http://schemas.openxmlformats.org/drawingml/2006/main">
            <a:off x="609600" y="18288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15BDF"/>
                </a:solidFill>
                <a:latin typeface="Arial"/>
                <a:ea typeface="Arial"/>
                <a:cs typeface="Arial"/>
              </a:defRPr>
            </a:defPPr>
          </a:lstStyle>
          <a:p xmlns:a="http://schemas.openxmlformats.org/drawingml/2006/main">
            <a:pPr>
              <a:defRPr sz="2625" b="1">
                <a:solidFill>
                  <a:srgbClr val="315BDF"/>
                </a:solidFill>
                <a:latin typeface="Arial"/>
                <a:ea typeface="Arial"/>
                <a:cs typeface="Arial"/>
              </a:defRPr>
            </a:pPr>
            <a:r>
              <a:rPr sz="2625" b="1">
                <a:solidFill>
                  <a:srgbClr val="315BDF"/>
                </a:solidFill>
                <a:latin typeface="Arial"/>
                <a:ea typeface="Arial"/>
                <a:cs typeface="Arial"/>
              </a:rPr>
              <a:t>Match (%) = matched required skills ÷ total required skills × 100</a:t>
            </a:r>
          </a:p>
        </p:txBody>
      </p:sp>
      <p:graphicFrame>
        <p:nvGraphicFramePr>
          <p:cNvPr id="6" name="">
            <a:extLst xmlns:a="http://schemas.openxmlformats.org/drawingml/2006/main">
              <a:ext uri="{FF2B5EF4-FFF2-40B4-BE49-F238E27FC236}">
                <a16:creationId xmlns:a16="http://schemas.microsoft.com/office/drawing/2014/main" id="{F661C2A8-77EA-4F50-B5A1-1205709DE867}"/>
              </a:ext>
            </a:extLst>
          </p:cNvPr>
          <p:cNvGraphicFramePr/>
          <p:nvPr/>
        </p:nvGraphicFramePr>
        <p:xfrm>
          <a:off xmlns:a="http://schemas.openxmlformats.org/drawingml/2006/main" x="609600" y="2981325"/>
          <a:ext xmlns:a="http://schemas.openxmlformats.org/drawingml/2006/main" cx="10972800" cy="2552700"/>
        </p:xfrm>
        <a:graphic xmlns:a="http://schemas.openxmlformats.org/drawingml/2006/main">
          <a:graphicData uri="http://schemas.openxmlformats.org/drawingml/2006/table">
            <a:tbl>
              <a:tblPr/>
              <a:tblGrid>
                <a:gridCol w="4429125"/>
                <a:gridCol w="6543675"/>
              </a:tblGrid>
              <a:tr h="510540">
                <a:tc>
                  <a:txBody>
                    <a:bodyPr lIns="95250" tIns="95250" rIns="95250" bIns="95250"/>
                    <a:lstStyle/>
                    <a:p>
                      <a:r>
                        <a:rPr sz="1650" b="1">
                          <a:solidFill>
                            <a:srgbClr val="FFFFFF"/>
                          </a:solidFill>
                          <a:latin typeface="Arial"/>
                          <a:ea typeface="Arial"/>
                          <a:cs typeface="Arial"/>
                        </a:rPr>
                        <a:t>Illustrative example</a:t>
                      </a:r>
                    </a:p>
                  </a:txBody>
                  <a:tcPr marL="91440" marR="91440" marT="45720" marB="45720"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lIns="95250" tIns="95250" rIns="95250" bIns="95250"/>
                    <a:lstStyle/>
                    <a:p>
                      <a:r>
                        <a:rPr sz="1650" b="1">
                          <a:solidFill>
                            <a:srgbClr val="FFFFFF"/>
                          </a:solidFill>
                          <a:latin typeface="Arial"/>
                          <a:ea typeface="Arial"/>
                          <a:cs typeface="Arial"/>
                        </a:rPr>
                        <a:t>Value</a:t>
                      </a:r>
                    </a:p>
                  </a:txBody>
                  <a:tcPr marL="91440" marR="91440" marT="45720" marB="45720" anchor="ctr">
                    <a:lnR w="9525">
                      <a:solidFill>
                        <a:srgbClr val="D5DDE8"/>
                      </a:solidFill>
                    </a:lnR>
                    <a:lnT w="9525">
                      <a:solidFill>
                        <a:srgbClr val="D5DDE8"/>
                      </a:solidFill>
                    </a:lnT>
                    <a:lnB w="9525">
                      <a:solidFill>
                        <a:srgbClr val="D5DDE8"/>
                      </a:solidFill>
                    </a:lnB>
                    <a:solidFill>
                      <a:srgbClr val="10213A"/>
                    </a:solidFill>
                  </a:tcPr>
                </a:tc>
              </a:tr>
              <a:tr h="510540">
                <a:tc>
                  <a:txBody>
                    <a:bodyPr lIns="95250" tIns="95250" rIns="95250" bIns="95250"/>
                    <a:lstStyle/>
                    <a:p>
                      <a:r>
                        <a:rPr sz="1650" b="0">
                          <a:solidFill>
                            <a:srgbClr val="15283F"/>
                          </a:solidFill>
                          <a:latin typeface="Arial"/>
                          <a:ea typeface="Arial"/>
                          <a:cs typeface="Arial"/>
                        </a:rPr>
                        <a:t>Job requirements</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Python, Flask, MySQL</a:t>
                      </a:r>
                    </a:p>
                  </a:txBody>
                  <a:tcPr marL="91440" marR="91440" marT="45720" marB="45720" anchor="ctr">
                    <a:lnR w="9525">
                      <a:solidFill>
                        <a:srgbClr val="D5DDE8"/>
                      </a:solidFill>
                    </a:lnR>
                    <a:lnB w="9525">
                      <a:solidFill>
                        <a:srgbClr val="D5DDE8"/>
                      </a:solidFill>
                    </a:lnB>
                    <a:solidFill>
                      <a:srgbClr val="FFFFFF"/>
                    </a:solidFill>
                  </a:tcPr>
                </a:tc>
              </a:tr>
              <a:tr h="510540">
                <a:tc>
                  <a:txBody>
                    <a:bodyPr lIns="95250" tIns="95250" rIns="95250" bIns="95250"/>
                    <a:lstStyle/>
                    <a:p>
                      <a:r>
                        <a:rPr sz="1650" b="0">
                          <a:solidFill>
                            <a:srgbClr val="15283F"/>
                          </a:solidFill>
                          <a:latin typeface="Arial"/>
                          <a:ea typeface="Arial"/>
                          <a:cs typeface="Arial"/>
                        </a:rPr>
                        <a:t>Candidate evidence</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Python, Flask</a:t>
                      </a:r>
                    </a:p>
                  </a:txBody>
                  <a:tcPr marL="91440" marR="91440" marT="45720" marB="45720" anchor="ctr">
                    <a:lnR w="9525">
                      <a:solidFill>
                        <a:srgbClr val="D5DDE8"/>
                      </a:solidFill>
                    </a:lnR>
                    <a:lnB w="9525">
                      <a:solidFill>
                        <a:srgbClr val="D5DDE8"/>
                      </a:solidFill>
                    </a:lnB>
                    <a:solidFill>
                      <a:srgbClr val="EDF1F6"/>
                    </a:solidFill>
                  </a:tcPr>
                </a:tc>
              </a:tr>
              <a:tr h="510540">
                <a:tc>
                  <a:txBody>
                    <a:bodyPr lIns="95250" tIns="95250" rIns="95250" bIns="95250"/>
                    <a:lstStyle/>
                    <a:p>
                      <a:r>
                        <a:rPr sz="1650" b="0">
                          <a:solidFill>
                            <a:srgbClr val="15283F"/>
                          </a:solidFill>
                          <a:latin typeface="Arial"/>
                          <a:ea typeface="Arial"/>
                          <a:cs typeface="Arial"/>
                        </a:rPr>
                        <a:t>Result</a:t>
                      </a:r>
                    </a:p>
                  </a:txBody>
                  <a:tcPr marL="91440" marR="91440" marT="45720" marB="45720" anchor="ctr">
                    <a:lnL w="9525">
                      <a:solidFill>
                        <a:srgbClr val="D5DDE8"/>
                      </a:solidFill>
                    </a:lnL>
                    <a:lnR w="9525">
                      <a:solidFill>
                        <a:srgbClr val="D5DDE8"/>
                      </a:solidFill>
                    </a:lnR>
                    <a:lnB w="9525">
                      <a:solidFill>
                        <a:srgbClr val="D5DDE8"/>
                      </a:solidFill>
                    </a:lnB>
                    <a:solidFill>
                      <a:srgbClr val="FFFFFF"/>
                    </a:solidFill>
                  </a:tcPr>
                </a:tc>
                <a:tc>
                  <a:txBody>
                    <a:bodyPr lIns="95250" tIns="95250" rIns="95250" bIns="95250"/>
                    <a:lstStyle/>
                    <a:p>
                      <a:r>
                        <a:rPr sz="1650" b="0">
                          <a:solidFill>
                            <a:srgbClr val="15283F"/>
                          </a:solidFill>
                          <a:latin typeface="Arial"/>
                          <a:ea typeface="Arial"/>
                          <a:cs typeface="Arial"/>
                        </a:rPr>
                        <a:t>2 ÷ 3 × 100 = 66.7% (display: 67%)</a:t>
                      </a:r>
                    </a:p>
                  </a:txBody>
                  <a:tcPr marL="91440" marR="91440" marT="45720" marB="45720" anchor="ctr">
                    <a:lnR w="9525">
                      <a:solidFill>
                        <a:srgbClr val="D5DDE8"/>
                      </a:solidFill>
                    </a:lnR>
                    <a:lnB w="9525">
                      <a:solidFill>
                        <a:srgbClr val="D5DDE8"/>
                      </a:solidFill>
                    </a:lnB>
                    <a:solidFill>
                      <a:srgbClr val="FFFFFF"/>
                    </a:solidFill>
                  </a:tcPr>
                </a:tc>
              </a:tr>
              <a:tr h="510540">
                <a:tc>
                  <a:txBody>
                    <a:bodyPr lIns="95250" tIns="95250" rIns="95250" bIns="95250"/>
                    <a:lstStyle/>
                    <a:p>
                      <a:r>
                        <a:rPr sz="1650" b="0">
                          <a:solidFill>
                            <a:srgbClr val="15283F"/>
                          </a:solidFill>
                          <a:latin typeface="Arial"/>
                          <a:ea typeface="Arial"/>
                          <a:cs typeface="Arial"/>
                        </a:rPr>
                        <a:t>Initial status for this example</a:t>
                      </a:r>
                    </a:p>
                  </a:txBody>
                  <a:tcPr marL="91440" marR="91440" marT="45720" marB="45720" anchor="ctr">
                    <a:lnL w="9525">
                      <a:solidFill>
                        <a:srgbClr val="D5DDE8"/>
                      </a:solidFill>
                    </a:lnL>
                    <a:lnR w="9525">
                      <a:solidFill>
                        <a:srgbClr val="D5DDE8"/>
                      </a:solidFill>
                    </a:lnR>
                    <a:lnB w="9525">
                      <a:solidFill>
                        <a:srgbClr val="D5DDE8"/>
                      </a:solidFill>
                    </a:lnB>
                    <a:solidFill>
                      <a:srgbClr val="EDF1F6"/>
                    </a:solidFill>
                  </a:tcPr>
                </a:tc>
                <a:tc>
                  <a:txBody>
                    <a:bodyPr lIns="95250" tIns="95250" rIns="95250" bIns="95250"/>
                    <a:lstStyle/>
                    <a:p>
                      <a:r>
                        <a:rPr sz="1650" b="0">
                          <a:solidFill>
                            <a:srgbClr val="15283F"/>
                          </a:solidFill>
                          <a:latin typeface="Arial"/>
                          <a:ea typeface="Arial"/>
                          <a:cs typeface="Arial"/>
                        </a:rPr>
                        <a:t>Rejected, because the score is at or below 70%</a:t>
                      </a:r>
                    </a:p>
                  </a:txBody>
                  <a:tcPr marL="91440" marR="91440" marT="45720" marB="45720" anchor="ctr">
                    <a:lnR w="9525">
                      <a:solidFill>
                        <a:srgbClr val="D5DDE8"/>
                      </a:solidFill>
                    </a:lnR>
                    <a:lnB w="9525">
                      <a:solidFill>
                        <a:srgbClr val="D5DDE8"/>
                      </a:solidFill>
                    </a:lnB>
                    <a:solidFill>
                      <a:srgbClr val="EDF1F6"/>
                    </a:solidFill>
                  </a:tcPr>
                </a:tc>
              </a:tr>
            </a:tbl>
          </a:graphicData>
        </a:graphic>
      </p:graphicFrame>
      <p:sp>
        <p:nvSpPr>
          <p:cNvPr id="7" name="">
            <a:extLst xmlns:a="http://schemas.openxmlformats.org/drawingml/2006/main">
              <a:ext uri="{FF2B5EF4-FFF2-40B4-BE49-F238E27FC236}">
                <a16:creationId xmlns:a16="http://schemas.microsoft.com/office/drawing/2014/main" id="{154A6EF8-CF35-4A17-BADB-AEFAF5AB8B56}"/>
              </a:ext>
            </a:extLst>
          </p:cNvPr>
          <p:cNvSpPr>
            <a:spLocks xmlns:a="http://schemas.openxmlformats.org/drawingml/2006/main" noGrp="1"/>
          </p:cNvSpPr>
          <p:nvPr/>
        </p:nvSpPr>
        <p:spPr>
          <a:xfrm xmlns:a="http://schemas.openxmlformats.org/drawingml/2006/main">
            <a:off x="609600" y="5838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76980"/>
                </a:solidFill>
                <a:latin typeface="Arial"/>
                <a:ea typeface="Arial"/>
                <a:cs typeface="Arial"/>
              </a:defRPr>
            </a:defPPr>
          </a:lstStyle>
          <a:p xmlns:a="http://schemas.openxmlformats.org/drawingml/2006/main">
            <a:pPr>
              <a:defRPr sz="1875" b="0">
                <a:solidFill>
                  <a:srgbClr val="576980"/>
                </a:solidFill>
                <a:latin typeface="Arial"/>
                <a:ea typeface="Arial"/>
                <a:cs typeface="Arial"/>
              </a:defRPr>
            </a:pPr>
            <a:r>
              <a:rPr sz="1875" b="0">
                <a:solidFill>
                  <a:srgbClr val="576980"/>
                </a:solidFill>
                <a:latin typeface="Arial"/>
                <a:ea typeface="Arial"/>
                <a:cs typeface="Arial"/>
              </a:rPr>
              <a:t>Above 70%: Shortlisted. Recruiters can change the initial status after review.</a:t>
            </a:r>
          </a:p>
        </p:txBody>
      </p:sp>
    </p:spTree>
    <p:extLst>
      <p:ext uri="{BB962C8B-B14F-4D97-AF65-F5344CB8AC3E}">
        <p14:creationId xmlns:p14="http://schemas.microsoft.com/office/powerpoint/2010/main" val="202246332"/>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253989-A22B-4126-8135-76FE49DB401C}"/>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07 / LIVE DEMONSTRATION</a:t>
            </a:r>
          </a:p>
        </p:txBody>
      </p:sp>
      <p:sp>
        <p:nvSpPr>
          <p:cNvPr id="2" name="">
            <a:extLst xmlns:a="http://schemas.openxmlformats.org/drawingml/2006/main">
              <a:ext uri="{FF2B5EF4-FFF2-40B4-BE49-F238E27FC236}">
                <a16:creationId xmlns:a16="http://schemas.microsoft.com/office/drawing/2014/main" id="{0D3B674C-AB53-4DB0-90D9-9944DE9ED1FC}"/>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Two-way website and MySQL demonstration</a:t>
            </a:r>
          </a:p>
        </p:txBody>
      </p:sp>
      <p:sp>
        <p:nvSpPr>
          <p:cNvPr id="3" name="">
            <a:extLst xmlns:a="http://schemas.openxmlformats.org/drawingml/2006/main">
              <a:ext uri="{FF2B5EF4-FFF2-40B4-BE49-F238E27FC236}">
                <a16:creationId xmlns:a16="http://schemas.microsoft.com/office/drawing/2014/main" id="{C48CECA8-4171-4045-8845-15FBE5CC2EC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71B327AA-26FF-4D88-B60C-E21B10BECF8D}"/>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1F65F816-82DF-494A-B1A7-F63A6B42D568}"/>
              </a:ext>
            </a:extLst>
          </p:cNvPr>
          <p:cNvSpPr>
            <a:spLocks xmlns:a="http://schemas.openxmlformats.org/drawingml/2006/main" noGrp="1"/>
          </p:cNvSpPr>
          <p:nvPr/>
        </p:nvSpPr>
        <p:spPr>
          <a:xfrm xmlns:a="http://schemas.openxmlformats.org/drawingml/2006/main">
            <a:off x="609600"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1. Website changes appear in MySQL</a:t>
            </a:r>
          </a:p>
        </p:txBody>
      </p:sp>
      <p:sp>
        <p:nvSpPr>
          <p:cNvPr id="6" name="">
            <a:extLst xmlns:a="http://schemas.openxmlformats.org/drawingml/2006/main">
              <a:ext uri="{FF2B5EF4-FFF2-40B4-BE49-F238E27FC236}">
                <a16:creationId xmlns:a16="http://schemas.microsoft.com/office/drawing/2014/main" id="{EA68E2DB-1621-476B-92E0-AC2118E91DEE}"/>
              </a:ext>
            </a:extLst>
          </p:cNvPr>
          <p:cNvSpPr>
            <a:spLocks xmlns:a="http://schemas.openxmlformats.org/drawingml/2006/main" noGrp="1"/>
          </p:cNvSpPr>
          <p:nvPr/>
        </p:nvSpPr>
        <p:spPr>
          <a:xfrm xmlns:a="http://schemas.openxmlformats.org/drawingml/2006/main">
            <a:off x="609600" y="2143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Publish a dedicated test job. Use SELECT in MySQL to locate its title. Edit or delete it in the website and repeat SELECT.</a:t>
            </a:r>
          </a:p>
        </p:txBody>
      </p:sp>
      <p:sp>
        <p:nvSpPr>
          <p:cNvPr id="7" name="">
            <a:extLst xmlns:a="http://schemas.openxmlformats.org/drawingml/2006/main">
              <a:ext uri="{FF2B5EF4-FFF2-40B4-BE49-F238E27FC236}">
                <a16:creationId xmlns:a16="http://schemas.microsoft.com/office/drawing/2014/main" id="{B122E76E-C6AD-4F5A-BA4E-3EB8BA4982BC}"/>
              </a:ext>
            </a:extLst>
          </p:cNvPr>
          <p:cNvSpPr>
            <a:spLocks xmlns:a="http://schemas.openxmlformats.org/drawingml/2006/main" noGrp="1"/>
          </p:cNvSpPr>
          <p:nvPr/>
        </p:nvSpPr>
        <p:spPr>
          <a:xfrm xmlns:a="http://schemas.openxmlformats.org/drawingml/2006/main">
            <a:off x="609600" y="3333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2. MySQL changes appear in the website</a:t>
            </a:r>
          </a:p>
        </p:txBody>
      </p:sp>
      <p:sp>
        <p:nvSpPr>
          <p:cNvPr id="8" name="">
            <a:extLst xmlns:a="http://schemas.openxmlformats.org/drawingml/2006/main">
              <a:ext uri="{FF2B5EF4-FFF2-40B4-BE49-F238E27FC236}">
                <a16:creationId xmlns:a16="http://schemas.microsoft.com/office/drawing/2014/main" id="{FE527D78-622E-4349-9CAE-0E8322A102CC}"/>
              </a:ext>
            </a:extLst>
          </p:cNvPr>
          <p:cNvSpPr>
            <a:spLocks xmlns:a="http://schemas.openxmlformats.org/drawingml/2006/main" noGrp="1"/>
          </p:cNvSpPr>
          <p:nvPr/>
        </p:nvSpPr>
        <p:spPr>
          <a:xfrm xmlns:a="http://schemas.openxmlformats.org/drawingml/2006/main">
            <a:off x="609600" y="37909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Run the INSERT, UPDATE and DELETE examples on slide 11. Refresh /dbms-demo after each change.</a:t>
            </a:r>
          </a:p>
        </p:txBody>
      </p:sp>
      <p:sp>
        <p:nvSpPr>
          <p:cNvPr id="9" name="">
            <a:extLst xmlns:a="http://schemas.openxmlformats.org/drawingml/2006/main">
              <a:ext uri="{FF2B5EF4-FFF2-40B4-BE49-F238E27FC236}">
                <a16:creationId xmlns:a16="http://schemas.microsoft.com/office/drawing/2014/main" id="{3A1C128C-EBE7-4449-B979-9D38554EE69F}"/>
              </a:ext>
            </a:extLst>
          </p:cNvPr>
          <p:cNvSpPr>
            <a:spLocks xmlns:a="http://schemas.openxmlformats.org/drawingml/2006/main" noGrp="1"/>
          </p:cNvSpPr>
          <p:nvPr/>
        </p:nvSpPr>
        <p:spPr>
          <a:xfrm xmlns:a="http://schemas.openxmlformats.org/drawingml/2006/main">
            <a:off x="609600" y="50196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15BDF"/>
                </a:solidFill>
                <a:latin typeface="Arial"/>
                <a:ea typeface="Arial"/>
                <a:cs typeface="Arial"/>
              </a:defRPr>
            </a:defPPr>
          </a:lstStyle>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SELECT id, title, location FROM jobs</a:t>
            </a:r>
          </a:p>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WHERE title = 'Final Demo Job';</a:t>
            </a:r>
          </a:p>
        </p:txBody>
      </p:sp>
    </p:spTree>
    <p:extLst>
      <p:ext uri="{BB962C8B-B14F-4D97-AF65-F5344CB8AC3E}">
        <p14:creationId xmlns:p14="http://schemas.microsoft.com/office/powerpoint/2010/main" val="1476766230"/>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00984A-EADA-4B89-819C-B1ACA9548C71}"/>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08 / CONCLUSION</a:t>
            </a:r>
          </a:p>
        </p:txBody>
      </p:sp>
      <p:sp>
        <p:nvSpPr>
          <p:cNvPr id="2" name="">
            <a:extLst xmlns:a="http://schemas.openxmlformats.org/drawingml/2006/main">
              <a:ext uri="{FF2B5EF4-FFF2-40B4-BE49-F238E27FC236}">
                <a16:creationId xmlns:a16="http://schemas.microsoft.com/office/drawing/2014/main" id="{3D5EC3C0-CB89-4340-B7E1-8500527E2311}"/>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Conclusion and future scope</a:t>
            </a:r>
          </a:p>
        </p:txBody>
      </p:sp>
      <p:sp>
        <p:nvSpPr>
          <p:cNvPr id="3" name="">
            <a:extLst xmlns:a="http://schemas.openxmlformats.org/drawingml/2006/main">
              <a:ext uri="{FF2B5EF4-FFF2-40B4-BE49-F238E27FC236}">
                <a16:creationId xmlns:a16="http://schemas.microsoft.com/office/drawing/2014/main" id="{475C0FD8-6913-4B19-BCC3-FC831D475E2F}"/>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63995B51-306F-4105-A3AB-EB386AA88842}"/>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021B097F-6B6D-42BF-A92D-2FA895444A4F}"/>
              </a:ext>
            </a:extLst>
          </p:cNvPr>
          <p:cNvSpPr>
            <a:spLocks xmlns:a="http://schemas.openxmlformats.org/drawingml/2006/main" noGrp="1"/>
          </p:cNvSpPr>
          <p:nvPr/>
        </p:nvSpPr>
        <p:spPr>
          <a:xfrm xmlns:a="http://schemas.openxmlformats.org/drawingml/2006/main">
            <a:off x="609600" y="1752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Project outcome</a:t>
            </a:r>
          </a:p>
        </p:txBody>
      </p:sp>
      <p:sp>
        <p:nvSpPr>
          <p:cNvPr id="6" name="">
            <a:extLst xmlns:a="http://schemas.openxmlformats.org/drawingml/2006/main">
              <a:ext uri="{FF2B5EF4-FFF2-40B4-BE49-F238E27FC236}">
                <a16:creationId xmlns:a16="http://schemas.microsoft.com/office/drawing/2014/main" id="{B052DBA5-E595-4EDE-A776-0032ECC5D25C}"/>
              </a:ext>
            </a:extLst>
          </p:cNvPr>
          <p:cNvSpPr>
            <a:spLocks xmlns:a="http://schemas.openxmlformats.org/drawingml/2006/main" noGrp="1"/>
          </p:cNvSpPr>
          <p:nvPr/>
        </p:nvSpPr>
        <p:spPr>
          <a:xfrm xmlns:a="http://schemas.openxmlformats.org/drawingml/2006/main">
            <a:off x="609600" y="22098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DevMatch AI connects developer portfolios, vacancies and application records through a relational MySQL design.</a:t>
            </a:r>
          </a:p>
        </p:txBody>
      </p:sp>
      <p:sp>
        <p:nvSpPr>
          <p:cNvPr id="7" name="">
            <a:extLst xmlns:a="http://schemas.openxmlformats.org/drawingml/2006/main">
              <a:ext uri="{FF2B5EF4-FFF2-40B4-BE49-F238E27FC236}">
                <a16:creationId xmlns:a16="http://schemas.microsoft.com/office/drawing/2014/main" id="{63390713-666D-44CD-8039-22927A481A2D}"/>
              </a:ext>
            </a:extLst>
          </p:cNvPr>
          <p:cNvSpPr>
            <a:spLocks xmlns:a="http://schemas.openxmlformats.org/drawingml/2006/main" noGrp="1"/>
          </p:cNvSpPr>
          <p:nvPr/>
        </p:nvSpPr>
        <p:spPr>
          <a:xfrm xmlns:a="http://schemas.openxmlformats.org/drawingml/2006/main">
            <a:off x="609600" y="32670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DBMS learning</a:t>
            </a:r>
          </a:p>
        </p:txBody>
      </p:sp>
      <p:sp>
        <p:nvSpPr>
          <p:cNvPr id="8" name="">
            <a:extLst xmlns:a="http://schemas.openxmlformats.org/drawingml/2006/main">
              <a:ext uri="{FF2B5EF4-FFF2-40B4-BE49-F238E27FC236}">
                <a16:creationId xmlns:a16="http://schemas.microsoft.com/office/drawing/2014/main" id="{F43EA0EF-431D-45D1-BD01-2B304F2DE36C}"/>
              </a:ext>
            </a:extLst>
          </p:cNvPr>
          <p:cNvSpPr>
            <a:spLocks xmlns:a="http://schemas.openxmlformats.org/drawingml/2006/main" noGrp="1"/>
          </p:cNvSpPr>
          <p:nvPr/>
        </p:nvSpPr>
        <p:spPr>
          <a:xfrm xmlns:a="http://schemas.openxmlformats.org/drawingml/2006/main">
            <a:off x="609600" y="37242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Keys, normalization and related queries support consistent data. Views and a status trigger extend the SQL demonstration.</a:t>
            </a:r>
          </a:p>
        </p:txBody>
      </p:sp>
      <p:sp>
        <p:nvSpPr>
          <p:cNvPr id="9" name="">
            <a:extLst xmlns:a="http://schemas.openxmlformats.org/drawingml/2006/main">
              <a:ext uri="{FF2B5EF4-FFF2-40B4-BE49-F238E27FC236}">
                <a16:creationId xmlns:a16="http://schemas.microsoft.com/office/drawing/2014/main" id="{81E8701C-86C3-4560-A7BD-CEE243EF5A4B}"/>
              </a:ext>
            </a:extLst>
          </p:cNvPr>
          <p:cNvSpPr>
            <a:spLocks xmlns:a="http://schemas.openxmlformats.org/drawingml/2006/main" noGrp="1"/>
          </p:cNvSpPr>
          <p:nvPr/>
        </p:nvSpPr>
        <p:spPr>
          <a:xfrm xmlns:a="http://schemas.openxmlformats.org/drawingml/2006/main">
            <a:off x="609600"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Future improvements</a:t>
            </a:r>
          </a:p>
        </p:txBody>
      </p:sp>
      <p:sp>
        <p:nvSpPr>
          <p:cNvPr id="10" name="">
            <a:extLst xmlns:a="http://schemas.openxmlformats.org/drawingml/2006/main">
              <a:ext uri="{FF2B5EF4-FFF2-40B4-BE49-F238E27FC236}">
                <a16:creationId xmlns:a16="http://schemas.microsoft.com/office/drawing/2014/main" id="{D56A3870-9EBE-4151-89C1-A1FC0815247B}"/>
              </a:ext>
            </a:extLst>
          </p:cNvPr>
          <p:cNvSpPr>
            <a:spLocks xmlns:a="http://schemas.openxmlformats.org/drawingml/2006/main" noGrp="1"/>
          </p:cNvSpPr>
          <p:nvPr/>
        </p:nvSpPr>
        <p:spPr>
          <a:xfrm xmlns:a="http://schemas.openxmlformats.org/drawingml/2006/main">
            <a:off x="609600" y="52387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Add richer skill evidence, interview scheduling and resume scanning. Extend audit coverage and reporting.</a:t>
            </a:r>
          </a:p>
        </p:txBody>
      </p:sp>
    </p:spTree>
    <p:extLst>
      <p:ext uri="{BB962C8B-B14F-4D97-AF65-F5344CB8AC3E}">
        <p14:creationId xmlns:p14="http://schemas.microsoft.com/office/powerpoint/2010/main" val="1760901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2026-10-12T08:35:07.6510000Z</dcterms:created>
  <dcterms:modified xsi:type="dcterms:W3CDTF">2026-10-12T08:35:07.6520000Z</dcterms:modified>
</coreProperties>
</file>