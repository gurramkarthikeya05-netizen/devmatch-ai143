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9d079d0b4242fe" /><Relationship Type="http://schemas.openxmlformats.org/officeDocument/2006/relationships/extended-properties" Target="/docProps/app.xml" Id="R94ba97ac35154816" /><Relationship Type="http://schemas.openxmlformats.org/officeDocument/2006/relationships/officeDocument" Target="/ppt/presentation.xml" Id="Rb859da4c5473437a" /></Relationships>
</file>

<file path=ppt/presentation.xml><?xml version="1.0" encoding="utf-8"?>
<p:presentation xmlns:p="http://schemas.openxmlformats.org/presentationml/2006/main">
  <p:sldMasterIdLst>
    <p:sldMasterId xmlns:r="http://schemas.openxmlformats.org/officeDocument/2006/relationships" id="2147483648" r:id="R44f31bf20cd3487a"/>
  </p:sldMasterIdLst>
  <p:notesMasterIdLst>
    <p:notesMasterId xmlns:r="http://schemas.openxmlformats.org/officeDocument/2006/relationships" r:id="R6093202c81f34583"/>
  </p:notesMasterIdLst>
  <p:sldIdLst>
    <p:sldId xmlns:r="http://schemas.openxmlformats.org/officeDocument/2006/relationships" id="256" r:id="Ra8a269c1b9904339"/>
    <p:sldId xmlns:r="http://schemas.openxmlformats.org/officeDocument/2006/relationships" id="257" r:id="R296d84e628f5470e"/>
    <p:sldId xmlns:r="http://schemas.openxmlformats.org/officeDocument/2006/relationships" id="258" r:id="Re35888d183fd4061"/>
    <p:sldId xmlns:r="http://schemas.openxmlformats.org/officeDocument/2006/relationships" id="259" r:id="R7036c2770d0a4ff8"/>
    <p:sldId xmlns:r="http://schemas.openxmlformats.org/officeDocument/2006/relationships" id="260" r:id="Rc2584b93a1e647db"/>
    <p:sldId xmlns:r="http://schemas.openxmlformats.org/officeDocument/2006/relationships" id="261" r:id="R31bfbb9f36bc4551"/>
    <p:sldId xmlns:r="http://schemas.openxmlformats.org/officeDocument/2006/relationships" id="262" r:id="Rcfe93c73e1c94712"/>
    <p:sldId xmlns:r="http://schemas.openxmlformats.org/officeDocument/2006/relationships" id="263" r:id="R6db4fb63fecf4d01"/>
    <p:sldId xmlns:r="http://schemas.openxmlformats.org/officeDocument/2006/relationships" id="264" r:id="Rbdf7799dc23a4f6b"/>
    <p:sldId xmlns:r="http://schemas.openxmlformats.org/officeDocument/2006/relationships" id="265" r:id="R0b9f855a38874c46"/>
    <p:sldId xmlns:r="http://schemas.openxmlformats.org/officeDocument/2006/relationships" id="266" r:id="Rf3ffb20a75a5495c"/>
    <p:sldId xmlns:r="http://schemas.openxmlformats.org/officeDocument/2006/relationships" id="267" r:id="Rf8d4ffe2d80941a1"/>
    <p:sldId xmlns:r="http://schemas.openxmlformats.org/officeDocument/2006/relationships" id="268" r:id="R7808d92d84c04b85"/>
    <p:sldId xmlns:r="http://schemas.openxmlformats.org/officeDocument/2006/relationships" id="269" r:id="R9173349f6553401b"/>
    <p:sldId xmlns:r="http://schemas.openxmlformats.org/officeDocument/2006/relationships" id="270" r:id="R7a7c9ffff9574f0d"/>
    <p:sldId xmlns:r="http://schemas.openxmlformats.org/officeDocument/2006/relationships" id="271" r:id="R33762ba78cdb4c4d"/>
    <p:sldId xmlns:r="http://schemas.openxmlformats.org/officeDocument/2006/relationships" id="272" r:id="Rb18acab126a2471a"/>
    <p:sldId xmlns:r="http://schemas.openxmlformats.org/officeDocument/2006/relationships" id="273" r:id="Red1524e2b43d48a2"/>
    <p:sldId xmlns:r="http://schemas.openxmlformats.org/officeDocument/2006/relationships" id="274" r:id="Re239201256164aa4"/>
    <p:sldId xmlns:r="http://schemas.openxmlformats.org/officeDocument/2006/relationships" id="275" r:id="R3e0e4e5a5a664c44"/>
    <p:sldId xmlns:r="http://schemas.openxmlformats.org/officeDocument/2006/relationships" id="276" r:id="Rc6111492b7584c90"/>
    <p:sldId xmlns:r="http://schemas.openxmlformats.org/officeDocument/2006/relationships" id="277" r:id="R6009740da9de4286"/>
    <p:sldId xmlns:r="http://schemas.openxmlformats.org/officeDocument/2006/relationships" id="278" r:id="R9dea0be696964d86"/>
    <p:sldId xmlns:r="http://schemas.openxmlformats.org/officeDocument/2006/relationships" id="279" r:id="Re1cda4d9681c4283"/>
    <p:sldId xmlns:r="http://schemas.openxmlformats.org/officeDocument/2006/relationships" id="280" r:id="Rd036bd77b74f4b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a708b490514d5e" /><Relationship Type="http://schemas.openxmlformats.org/officeDocument/2006/relationships/slideMaster" Target="/ppt/slideMasters/slideMaster1.xml" Id="R44f31bf20cd3487a" /><Relationship Type="http://schemas.openxmlformats.org/officeDocument/2006/relationships/notesMaster" Target="/ppt/notesMasters/notesMaster1.xml" Id="R6093202c81f34583" /><Relationship Type="http://schemas.openxmlformats.org/officeDocument/2006/relationships/presProps" Target="/ppt/presProps.xml" Id="R692857c97fde4fe6" /><Relationship Type="http://schemas.openxmlformats.org/officeDocument/2006/relationships/tableStyles" Target="/ppt/tableStyles.xml" Id="R2bb839e4d99d4479" /><Relationship Type="http://schemas.openxmlformats.org/officeDocument/2006/relationships/slide" Target="/ppt/slides/slide1.xml" Id="Ra8a269c1b9904339" /><Relationship Type="http://schemas.openxmlformats.org/officeDocument/2006/relationships/slide" Target="/ppt/slides/slide2.xml" Id="R296d84e628f5470e" /><Relationship Type="http://schemas.openxmlformats.org/officeDocument/2006/relationships/slide" Target="/ppt/slides/slide3.xml" Id="Re35888d183fd4061" /><Relationship Type="http://schemas.openxmlformats.org/officeDocument/2006/relationships/slide" Target="/ppt/slides/slide4.xml" Id="R7036c2770d0a4ff8" /><Relationship Type="http://schemas.openxmlformats.org/officeDocument/2006/relationships/slide" Target="/ppt/slides/slide5.xml" Id="Rc2584b93a1e647db" /><Relationship Type="http://schemas.openxmlformats.org/officeDocument/2006/relationships/slide" Target="/ppt/slides/slide6.xml" Id="R31bfbb9f36bc4551" /><Relationship Type="http://schemas.openxmlformats.org/officeDocument/2006/relationships/slide" Target="/ppt/slides/slide7.xml" Id="Rcfe93c73e1c94712" /><Relationship Type="http://schemas.openxmlformats.org/officeDocument/2006/relationships/slide" Target="/ppt/slides/slide8.xml" Id="R6db4fb63fecf4d01" /><Relationship Type="http://schemas.openxmlformats.org/officeDocument/2006/relationships/slide" Target="/ppt/slides/slide9.xml" Id="Rbdf7799dc23a4f6b" /><Relationship Type="http://schemas.openxmlformats.org/officeDocument/2006/relationships/slide" Target="/ppt/slides/slide10.xml" Id="R0b9f855a38874c46" /><Relationship Type="http://schemas.openxmlformats.org/officeDocument/2006/relationships/slide" Target="/ppt/slides/slide11.xml" Id="Rf3ffb20a75a5495c" /><Relationship Type="http://schemas.openxmlformats.org/officeDocument/2006/relationships/slide" Target="/ppt/slides/slide12.xml" Id="Rf8d4ffe2d80941a1" /><Relationship Type="http://schemas.openxmlformats.org/officeDocument/2006/relationships/slide" Target="/ppt/slides/slide13.xml" Id="R7808d92d84c04b85" /><Relationship Type="http://schemas.openxmlformats.org/officeDocument/2006/relationships/slide" Target="/ppt/slides/slide14.xml" Id="R9173349f6553401b" /><Relationship Type="http://schemas.openxmlformats.org/officeDocument/2006/relationships/slide" Target="/ppt/slides/slide15.xml" Id="R7a7c9ffff9574f0d" /><Relationship Type="http://schemas.openxmlformats.org/officeDocument/2006/relationships/slide" Target="/ppt/slides/slide16.xml" Id="R33762ba78cdb4c4d" /><Relationship Type="http://schemas.openxmlformats.org/officeDocument/2006/relationships/slide" Target="/ppt/slides/slide17.xml" Id="Rb18acab126a2471a" /><Relationship Type="http://schemas.openxmlformats.org/officeDocument/2006/relationships/slide" Target="/ppt/slides/slide18.xml" Id="Red1524e2b43d48a2" /><Relationship Type="http://schemas.openxmlformats.org/officeDocument/2006/relationships/slide" Target="/ppt/slides/slide19.xml" Id="Re239201256164aa4" /><Relationship Type="http://schemas.openxmlformats.org/officeDocument/2006/relationships/slide" Target="/ppt/slides/slide20.xml" Id="R3e0e4e5a5a664c44" /><Relationship Type="http://schemas.openxmlformats.org/officeDocument/2006/relationships/slide" Target="/ppt/slides/slide21.xml" Id="Rc6111492b7584c90" /><Relationship Type="http://schemas.openxmlformats.org/officeDocument/2006/relationships/slide" Target="/ppt/slides/slide22.xml" Id="R6009740da9de4286" /><Relationship Type="http://schemas.openxmlformats.org/officeDocument/2006/relationships/slide" Target="/ppt/slides/slide23.xml" Id="R9dea0be696964d86" /><Relationship Type="http://schemas.openxmlformats.org/officeDocument/2006/relationships/slide" Target="/ppt/slides/slide24.xml" Id="Re1cda4d9681c4283" /><Relationship Type="http://schemas.openxmlformats.org/officeDocument/2006/relationships/slide" Target="/ppt/slides/slide25.xml" Id="Rd036bd77b74f4b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b74cbc83dd4a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467cc4a02b41f2" /><Relationship Type="http://schemas.openxmlformats.org/officeDocument/2006/relationships/notesMaster" Target="/ppt/notesMasters/notesMaster1.xml" Id="R11016e32d03c48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30b6a39dd54855" /><Relationship Type="http://schemas.openxmlformats.org/officeDocument/2006/relationships/notesMaster" Target="/ppt/notesMasters/notesMaster1.xml" Id="Rb6a506d141274c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7f8fc72e0a4f47" /><Relationship Type="http://schemas.openxmlformats.org/officeDocument/2006/relationships/notesMaster" Target="/ppt/notesMasters/notesMaster1.xml" Id="R99b2abde498d4e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813dc6e0174030" /><Relationship Type="http://schemas.openxmlformats.org/officeDocument/2006/relationships/notesMaster" Target="/ppt/notesMasters/notesMaster1.xml" Id="R89b544b579ec40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3840750d2d4aec" /><Relationship Type="http://schemas.openxmlformats.org/officeDocument/2006/relationships/notesMaster" Target="/ppt/notesMasters/notesMaster1.xml" Id="R4923aa29b6ad41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206cf7625145c4" /><Relationship Type="http://schemas.openxmlformats.org/officeDocument/2006/relationships/notesMaster" Target="/ppt/notesMasters/notesMaster1.xml" Id="Raf340eb12ed946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7b11e698804577" /><Relationship Type="http://schemas.openxmlformats.org/officeDocument/2006/relationships/notesMaster" Target="/ppt/notesMasters/notesMaster1.xml" Id="R837cae4f260346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40b9724e3f4cfd" /><Relationship Type="http://schemas.openxmlformats.org/officeDocument/2006/relationships/notesMaster" Target="/ppt/notesMasters/notesMaster1.xml" Id="Rc3072d0730f14c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e11e2a72be486c" /><Relationship Type="http://schemas.openxmlformats.org/officeDocument/2006/relationships/notesMaster" Target="/ppt/notesMasters/notesMaster1.xml" Id="R3d4437ffb83b47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00578c0655449c" /><Relationship Type="http://schemas.openxmlformats.org/officeDocument/2006/relationships/notesMaster" Target="/ppt/notesMasters/notesMaster1.xml" Id="R8d4eb0bb62c248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eedf9fea7f4c85" /><Relationship Type="http://schemas.openxmlformats.org/officeDocument/2006/relationships/notesMaster" Target="/ppt/notesMasters/notesMaster1.xml" Id="Rf36cc9d761d140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1f9b57fd37411b" /><Relationship Type="http://schemas.openxmlformats.org/officeDocument/2006/relationships/notesMaster" Target="/ppt/notesMasters/notesMaster1.xml" Id="R94cecd44ff2546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af236a82ad4c7e" /><Relationship Type="http://schemas.openxmlformats.org/officeDocument/2006/relationships/notesMaster" Target="/ppt/notesMasters/notesMaster1.xml" Id="R8a18267e98ef4c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5e856faffc4577" /><Relationship Type="http://schemas.openxmlformats.org/officeDocument/2006/relationships/notesMaster" Target="/ppt/notesMasters/notesMaster1.xml" Id="R3f42759b41724c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cd608b1171427d" /><Relationship Type="http://schemas.openxmlformats.org/officeDocument/2006/relationships/notesMaster" Target="/ppt/notesMasters/notesMaster1.xml" Id="R3dadae6e9aae40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b5cddce7f94bfa" /><Relationship Type="http://schemas.openxmlformats.org/officeDocument/2006/relationships/notesMaster" Target="/ppt/notesMasters/notesMaster1.xml" Id="Rb8a5ca0828da4b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203b968ba34aa4" /><Relationship Type="http://schemas.openxmlformats.org/officeDocument/2006/relationships/notesMaster" Target="/ppt/notesMasters/notesMaster1.xml" Id="Rf361d89ed50141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5e799b355f42fd" /><Relationship Type="http://schemas.openxmlformats.org/officeDocument/2006/relationships/notesMaster" Target="/ppt/notesMasters/notesMaster1.xml" Id="Rca543e9f77124d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a8ab820d494839" /><Relationship Type="http://schemas.openxmlformats.org/officeDocument/2006/relationships/notesMaster" Target="/ppt/notesMasters/notesMaster1.xml" Id="R71a43a505645421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52b2d3abfd4c22" /><Relationship Type="http://schemas.openxmlformats.org/officeDocument/2006/relationships/notesMaster" Target="/ppt/notesMasters/notesMaster1.xml" Id="R58b581fb51d844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c1301941074868" /><Relationship Type="http://schemas.openxmlformats.org/officeDocument/2006/relationships/notesMaster" Target="/ppt/notesMasters/notesMaster1.xml" Id="Ra52bf5c15f7c46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82c61e1e8944508" /><Relationship Type="http://schemas.openxmlformats.org/officeDocument/2006/relationships/notesMaster" Target="/ppt/notesMasters/notesMaster1.xml" Id="R8a71ac2b528d4f3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26d50b0e6a4038" /><Relationship Type="http://schemas.openxmlformats.org/officeDocument/2006/relationships/notesMaster" Target="/ppt/notesMasters/notesMaster1.xml" Id="R2d66d6e19bb04b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d955b9b93e94a1d" /><Relationship Type="http://schemas.openxmlformats.org/officeDocument/2006/relationships/notesMaster" Target="/ppt/notesMasters/notesMaster1.xml" Id="Rc252039aa3f3456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516f2ed5b7f4ffb" /><Relationship Type="http://schemas.openxmlformats.org/officeDocument/2006/relationships/notesMaster" Target="/ppt/notesMasters/notesMaster1.xml" Id="Rbbb5f76dab6147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developer portfolio and hiring platform. The core database is MySQL. The application runs in a desktop or laptop browser.</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a relational database helps: developers, vacancies and decisions must stay consistent. Avoid claiming that skill match measures overall competence.</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Developer and recruiter accounts access their own workflows. The role-specific pages use the same database.</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browser submits forms to Flask. SQLAlchemy uses PyMySQL to connect to MySQL. PDF extraction uses PyMuPDF. Gemini is optional. Supabase holds resume files only when configured, not relational application records.</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steps to explain the project process without claiming a measured test result.</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 link as parent to child. Each child has exactly one parent. User to either profile is optional one-to-one. All remaining links are one-to-zero-or-many. Applications resolve the developer-to-job many-to-many relationship. Status history is the SQL audit extension.</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PK means primary key. FK means foreign key. UK means uniqueness. The schema labels include all model attributes, not only a selected subset. Resume analysis text fields store narrative/extraction results, while searchable skills use separate rows.</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four entities are application models. application_status_history is installed by mysql_demo.sql. Each table has a primary key and at least five attributes. All child foreign keys refer to the parent id.</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application bridge as the main mapping example. User does not need its own outgoing foreign key because profiles reference it. Every entity participates in a relationship.</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normalized operational skill and technology records use one row per value. Narrative resume-analysis text is distinct from the normalized searchable skills. Key facts belong to their entity. The score is calculated, not duplicated in applications.</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fresh-seed row counts from app.py, not a live database inspection. Run verify-dbms before the presentation to verify the actual database. The audit script backfills one initial history row per application. users participates in relationships through incoming profile FKs.</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Rows shown are the five original demo job postings and their recruiter companies from the project seed. They illustrate related sample data. IDs/links are resolved by the seed workflow and may differ in an existing database.</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models have integer primary keys. Foreign keys connect child records. Uniqueness constraints prevent duplicate values in each parent. Login uses hashed passwords and role checks. Do not claim database checks enforce every business rule.</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dedicated demonstration database. Choose an existing recruiter with the subquery. Run in the same MySQL session to preserve @demo_job_id. Autocommit makes changes visible to a second connection. Refresh /dbms-demo after each operation. Delete only the dedicated test row.</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query joins users, developer profiles and skills, filters Python with LIKE and sorts names. Second query groups application statuses. Results depend on the current database.</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ALTER/MODIFY command widens the salary field. The view joins recruiters and jobs and aggregates applications. LEFT JOIN retains jobs without applicants. The full SQL script also includes shortlisted_count.</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mysql_demo.sql once to create the audit table, initial history records and trigger. The simplified excerpt below is the actual trigger definition. Test with a saved recruiter status change, then SELECT the matching application_id in history. The script transactional CRUD example ends with ROLLBACK and does not prove cross-connection page visibility.</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visible profile skills, project count and application status. This is an existing project screenshot with demonstration records.</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a:p xmlns:a="http://schemas.openxmlformats.org/drawingml/2006/main">
            <a:r>
              <a:t>Screenshot source: D:/DBMS_DevApp/tmp/report/developer_short.png. Captured project demonstration data, not a current database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captured job-search page shows examples of skill matches. Closed listings in the screenshot are historical demo records. For live demonstration, create a job without a past deadline.</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a:p xmlns:a="http://schemas.openxmlformats.org/drawingml/2006/main">
            <a:r>
              <a:t>Screenshot source: D:/DBMS_DevApp/tmp/report/match.png. Captured project demonstration data, not a current database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score, matched/missing skills and recruiter decision selector. This screenshot records a 100 percent skill match and a shortlisted status. It does not establish hiring quality.</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a:p xmlns:a="http://schemas.openxmlformats.org/drawingml/2006/main">
            <a:r>
              <a:t>Screenshot source: D:/DBMS_DevApp/tmp/report/applicants.png. Captured project demonstration data, not a current database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ats_match normalizes required skills and the union of profile plus latest extracted resume skills. Match is the percentage of required names present. New scores above 70 are Shortlisted, and scores at or below 70 are Rejected. Recruiters can override these initial statuses. This does not evaluate experience, skill depth or overall competence.</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required live demonstration, not an automated synchronization claim. Keep the website and SQL client connected to the same MySQL database. Use committed changes. The /dbms-demo page disables browser caching and queries fresh rows.</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preparation checklist, not a claim that runtime checks were executed while producing the deck. The final review should include the live MySQL output and UI reflection. The verifier checks the history table too when installed.</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implemented capabilities first. Future additions are proposals, not completed work. Skill matching is a support measure and recruiter review remains necessary.</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about the relational design, SQL demonstrations and skill matching. Open the application and SQL client for the live review.</a:t>
            </a:r>
          </a:p>
          <a:p xmlns:a="http://schemas.openxmlformats.org/drawingml/2006/main">
            <a:r>
              <a:t/>
            </a:r>
          </a:p>
          <a:p xmlns:a="http://schemas.openxmlformats.org/drawingml/2006/main">
            <a:r>
              <a:t>Sources: project app.py, mysql_demo.sql, README.md and DBMS_PROJECT_DOCUMENTATION.md in D:/DBMS_DevApp/DevMatch_AI_DBMS_Mini_Project/devmatch-ai. Requirements: C:/Users/gurra/Downloads/DBMS Mini Project_Guidelines.pptx.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481ebd124448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dbf13f287d4e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16271c719d4b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fbe8e10d0149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6c8bbf71db40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759d2121844c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3AB52A-BD91-4682-9F08-EB0F33D5FE2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7BBB1E-A4F9-4D4F-8CE5-0E1BB30B7E5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560994-920E-417C-9087-38D5D4CF7A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7AD381-713D-4121-960C-4C320EA82E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8C33ED-31F0-4BFF-9D74-D704288BAC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C20499-7093-4BA4-9332-92B6ED52A3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C78481-D9F8-45BE-A60B-D1B3B55DAD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ED6C8A6-2574-4A64-958A-8BA9E5FC90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76C90D-D213-4BE1-9478-4AEC2621B9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403C13-A86C-4FAD-8F44-94B6C8ED4D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b45c4ae4374dd0" /><Relationship Type="http://schemas.openxmlformats.org/officeDocument/2006/relationships/slideLayout" Target="/ppt/slideLayouts/slideLayout1.xml" Id="R15eb29426a5a4913" /><Relationship Type="http://schemas.openxmlformats.org/officeDocument/2006/relationships/slideLayout" Target="/ppt/slideLayouts/slideLayout2.xml" Id="Rabc8ae622c784c96" /><Relationship Type="http://schemas.openxmlformats.org/officeDocument/2006/relationships/slideLayout" Target="/ppt/slideLayouts/slideLayout3.xml" Id="R6008ed7ed9c948aa" /><Relationship Type="http://schemas.openxmlformats.org/officeDocument/2006/relationships/slideLayout" Target="/ppt/slideLayouts/slideLayout4.xml" Id="R5765e9043b9a4096" /><Relationship Type="http://schemas.openxmlformats.org/officeDocument/2006/relationships/slideLayout" Target="/ppt/slideLayouts/slideLayout5.xml" Id="R0e89d145d50149f3" /><Relationship Type="http://schemas.openxmlformats.org/officeDocument/2006/relationships/slideLayout" Target="/ppt/slideLayouts/slideLayout6.xml" Id="R787c629e50c248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eb29426a5a4913"/>
    <p:sldLayoutId xmlns:r="http://schemas.openxmlformats.org/officeDocument/2006/relationships" id="2147483650" r:id="Rabc8ae622c784c96"/>
    <p:sldLayoutId xmlns:r="http://schemas.openxmlformats.org/officeDocument/2006/relationships" id="2147483651" r:id="R6008ed7ed9c948aa"/>
    <p:sldLayoutId xmlns:r="http://schemas.openxmlformats.org/officeDocument/2006/relationships" id="2147483652" r:id="R5765e9043b9a4096"/>
    <p:sldLayoutId xmlns:r="http://schemas.openxmlformats.org/officeDocument/2006/relationships" id="2147483653" r:id="R0e89d145d50149f3"/>
    <p:sldLayoutId xmlns:r="http://schemas.openxmlformats.org/officeDocument/2006/relationships" id="2147483654" r:id="R787c629e50c248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033b952b3845c5" /><Relationship Type="http://schemas.openxmlformats.org/officeDocument/2006/relationships/notesSlide" Target="/ppt/notesSlides/notesSlide1.xml" Id="R582ebcdc9f9c4f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fa249db52a44cbf" /><Relationship Type="http://schemas.openxmlformats.org/officeDocument/2006/relationships/notesSlide" Target="/ppt/notesSlides/notesSlide2.xml" Id="Rb3303b4d9bca43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42e6505cf3474a" /><Relationship Type="http://schemas.openxmlformats.org/officeDocument/2006/relationships/notesSlide" Target="/ppt/notesSlides/notesSlide3.xml" Id="R1c1728ae7eb945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0f15da62574468" /><Relationship Type="http://schemas.openxmlformats.org/officeDocument/2006/relationships/notesSlide" Target="/ppt/notesSlides/notesSlide4.xml" Id="R3707959d9bff40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ec7d57b94a4f42" /><Relationship Type="http://schemas.openxmlformats.org/officeDocument/2006/relationships/notesSlide" Target="/ppt/notesSlides/notesSlide5.xml" Id="R7e501c093eec43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367d6d5a9a49a4" /><Relationship Type="http://schemas.openxmlformats.org/officeDocument/2006/relationships/notesSlide" Target="/ppt/notesSlides/notesSlide6.xml" Id="R823b732b9dc84d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e902da43224c1a" /><Relationship Type="http://schemas.openxmlformats.org/officeDocument/2006/relationships/notesSlide" Target="/ppt/notesSlides/notesSlide7.xml" Id="Ra59c55278be347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c3b9dec5d04ff8" /><Relationship Type="http://schemas.openxmlformats.org/officeDocument/2006/relationships/notesSlide" Target="/ppt/notesSlides/notesSlide8.xml" Id="R177f5f63dadc44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eedced6b97472c" /><Relationship Type="http://schemas.openxmlformats.org/officeDocument/2006/relationships/notesSlide" Target="/ppt/notesSlides/notesSlide9.xml" Id="Rea5cb4bf87bb42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da918166f44d95" /><Relationship Type="http://schemas.openxmlformats.org/officeDocument/2006/relationships/notesSlide" Target="/ppt/notesSlides/notesSlide10.xml" Id="Rd412a85ef5ff4e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8ec60de77645c0" /><Relationship Type="http://schemas.openxmlformats.org/officeDocument/2006/relationships/notesSlide" Target="/ppt/notesSlides/notesSlide11.xml" Id="R92a7e7b5af6f47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b0e68313db4d67" /><Relationship Type="http://schemas.openxmlformats.org/officeDocument/2006/relationships/notesSlide" Target="/ppt/notesSlides/notesSlide12.xml" Id="Rce9091cd6d5148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a7942c89a29486e" /><Relationship Type="http://schemas.openxmlformats.org/officeDocument/2006/relationships/notesSlide" Target="/ppt/notesSlides/notesSlide13.xml" Id="Re6f9e423c5e542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19e946e44ba4856" /><Relationship Type="http://schemas.openxmlformats.org/officeDocument/2006/relationships/notesSlide" Target="/ppt/notesSlides/notesSlide14.xml" Id="R276c64177b714a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c93855399cf4597" /><Relationship Type="http://schemas.openxmlformats.org/officeDocument/2006/relationships/notesSlide" Target="/ppt/notesSlides/notesSlide15.xml" Id="R02841543ce6e4e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ed84a5dac6543d7" /><Relationship Type="http://schemas.openxmlformats.org/officeDocument/2006/relationships/notesSlide" Target="/ppt/notesSlides/notesSlide16.xml" Id="R386792fc0e304e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f7093861d1649ae" /><Relationship Type="http://schemas.openxmlformats.org/officeDocument/2006/relationships/notesSlide" Target="/ppt/notesSlides/notesSlide17.xml" Id="R4430646b219d487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bc2ac978eff4f7c" /><Relationship Type="http://schemas.openxmlformats.org/officeDocument/2006/relationships/image" Target="/ppt/media/image.png" Id="R32630d7345924673" /><Relationship Type="http://schemas.openxmlformats.org/officeDocument/2006/relationships/notesSlide" Target="/ppt/notesSlides/notesSlide18.xml" Id="R7b03ade4ad3e45a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11efda7001d4279" /><Relationship Type="http://schemas.openxmlformats.org/officeDocument/2006/relationships/image" Target="/ppt/media/image2.png" Id="R8c0d1ae980e04cbc" /><Relationship Type="http://schemas.openxmlformats.org/officeDocument/2006/relationships/notesSlide" Target="/ppt/notesSlides/notesSlide19.xml" Id="R3760aadf8eca47e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a1ad0e6089041cd" /><Relationship Type="http://schemas.openxmlformats.org/officeDocument/2006/relationships/image" Target="/ppt/media/image3.png" Id="R3fee3ae569824cfc" /><Relationship Type="http://schemas.openxmlformats.org/officeDocument/2006/relationships/notesSlide" Target="/ppt/notesSlides/notesSlide20.xml" Id="Rab5335f204e3403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ef1599de7bd4d15" /><Relationship Type="http://schemas.openxmlformats.org/officeDocument/2006/relationships/notesSlide" Target="/ppt/notesSlides/notesSlide21.xml" Id="R95020142b12648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724e75bfeb9477a" /><Relationship Type="http://schemas.openxmlformats.org/officeDocument/2006/relationships/notesSlide" Target="/ppt/notesSlides/notesSlide22.xml" Id="R78d922f7983447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0220a114a474ae2" /><Relationship Type="http://schemas.openxmlformats.org/officeDocument/2006/relationships/notesSlide" Target="/ppt/notesSlides/notesSlide23.xml" Id="R8b62aa71fae24c6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9c91bd6c56648d8" /><Relationship Type="http://schemas.openxmlformats.org/officeDocument/2006/relationships/notesSlide" Target="/ppt/notesSlides/notesSlide24.xml" Id="Rfaa17fa6cd694f1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8796ea449ff4820" /><Relationship Type="http://schemas.openxmlformats.org/officeDocument/2006/relationships/notesSlide" Target="/ppt/notesSlides/notesSlide25.xml" Id="Rb50db23a3d1040db" /></Relationships>
</file>

<file path=ppt/slides/slide1.xml><?xml version="1.0" encoding="utf-8"?>
<p:sld xmlns:p="http://schemas.openxmlformats.org/presentationml/2006/main">
  <p:cSld>
    <p:bg>
      <p:bgPr>
        <a:solidFill xmlns:a="http://schemas.openxmlformats.org/drawingml/2006/main">
          <a:srgbClr val="10213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FAA3C2-F8E7-47A8-8F29-62A9559DD35F}"/>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C8F36A"/>
                </a:solidFill>
                <a:latin typeface="Arial"/>
                <a:ea typeface="Arial"/>
                <a:cs typeface="Arial"/>
              </a:defRPr>
            </a:defPPr>
          </a:lstStyle>
          <a:p xmlns:a="http://schemas.openxmlformats.org/drawingml/2006/main">
            <a:pPr>
              <a:defRPr sz="1200" b="1">
                <a:solidFill>
                  <a:srgbClr val="C8F36A"/>
                </a:solidFill>
                <a:latin typeface="Arial"/>
                <a:ea typeface="Arial"/>
                <a:cs typeface="Arial"/>
              </a:defRPr>
            </a:pPr>
            <a:r>
              <a:rPr sz="1200" b="1">
                <a:solidFill>
                  <a:srgbClr val="C8F36A"/>
                </a:solidFill>
                <a:latin typeface="Arial"/>
                <a:ea typeface="Arial"/>
                <a:cs typeface="Arial"/>
              </a:rPr>
              <a:t>FINAL DBMS PRESENTATION</a:t>
            </a:r>
          </a:p>
        </p:txBody>
      </p:sp>
      <p:sp>
        <p:nvSpPr>
          <p:cNvPr id="2" name="">
            <a:extLst xmlns:a="http://schemas.openxmlformats.org/drawingml/2006/main">
              <a:ext uri="{FF2B5EF4-FFF2-40B4-BE49-F238E27FC236}">
                <a16:creationId xmlns:a16="http://schemas.microsoft.com/office/drawing/2014/main" id="{82C6F10A-B5E9-4621-80F7-73A7A4BE91C4}"/>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DevMatch AI</a:t>
            </a:r>
          </a:p>
        </p:txBody>
      </p:sp>
      <p:sp>
        <p:nvSpPr>
          <p:cNvPr id="3" name="">
            <a:extLst xmlns:a="http://schemas.openxmlformats.org/drawingml/2006/main">
              <a:ext uri="{FF2B5EF4-FFF2-40B4-BE49-F238E27FC236}">
                <a16:creationId xmlns:a16="http://schemas.microsoft.com/office/drawing/2014/main" id="{9681FCD8-8E3C-4D3B-9E43-04CF35737DE0}"/>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9BDD6"/>
                </a:solidFill>
                <a:latin typeface="Arial"/>
                <a:ea typeface="Arial"/>
                <a:cs typeface="Arial"/>
              </a:defRPr>
            </a:defPPr>
          </a:lstStyle>
          <a:p xmlns:a="http://schemas.openxmlformats.org/drawingml/2006/main">
            <a:pPr>
              <a:defRPr sz="1050" b="0">
                <a:solidFill>
                  <a:srgbClr val="A9BDD6"/>
                </a:solidFill>
                <a:latin typeface="Arial"/>
                <a:ea typeface="Arial"/>
                <a:cs typeface="Arial"/>
              </a:defRPr>
            </a:pPr>
            <a:r>
              <a:rPr sz="1050" b="0">
                <a:solidFill>
                  <a:srgbClr val="A9BDD6"/>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7B5C05F0-C638-46FD-9478-FEBFE236E19F}"/>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C8F36A"/>
                </a:solidFill>
                <a:latin typeface="Arial"/>
                <a:ea typeface="Arial"/>
                <a:cs typeface="Arial"/>
              </a:defRPr>
            </a:defPPr>
          </a:lstStyle>
          <a:p xmlns:a="http://schemas.openxmlformats.org/drawingml/2006/main">
            <a:pPr>
              <a:defRPr sz="1200" b="0">
                <a:solidFill>
                  <a:srgbClr val="C8F36A"/>
                </a:solidFill>
                <a:latin typeface="Arial"/>
                <a:ea typeface="Arial"/>
                <a:cs typeface="Arial"/>
              </a:defRPr>
            </a:pPr>
            <a:r>
              <a:rPr sz="1200" b="0">
                <a:solidFill>
                  <a:srgbClr val="C8F36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CD9EBE9-A634-4AB0-B8DA-316956DDF14D}"/>
              </a:ext>
            </a:extLst>
          </p:cNvPr>
          <p:cNvSpPr>
            <a:spLocks xmlns:a="http://schemas.openxmlformats.org/drawingml/2006/main" noGrp="1"/>
          </p:cNvSpPr>
          <p:nvPr/>
        </p:nvSpPr>
        <p:spPr>
          <a:xfrm xmlns:a="http://schemas.openxmlformats.org/drawingml/2006/main">
            <a:off x="609600" y="2095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FFFFFF"/>
                </a:solidFill>
                <a:latin typeface="Arial"/>
                <a:ea typeface="Arial"/>
                <a:cs typeface="Arial"/>
              </a:defRPr>
            </a:defPPr>
          </a:lstStyle>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Developer Portfolio &amp; Hiring Platform</a:t>
            </a:r>
          </a:p>
        </p:txBody>
      </p:sp>
      <p:sp>
        <p:nvSpPr>
          <p:cNvPr id="6" name="">
            <a:extLst xmlns:a="http://schemas.openxmlformats.org/drawingml/2006/main">
              <a:ext uri="{FF2B5EF4-FFF2-40B4-BE49-F238E27FC236}">
                <a16:creationId xmlns:a16="http://schemas.microsoft.com/office/drawing/2014/main" id="{052B3066-0CE9-4FFB-91F3-89F02E70CDA2}"/>
              </a:ext>
            </a:extLst>
          </p:cNvPr>
          <p:cNvSpPr>
            <a:spLocks xmlns:a="http://schemas.openxmlformats.org/drawingml/2006/main" noGrp="1"/>
          </p:cNvSpPr>
          <p:nvPr/>
        </p:nvSpPr>
        <p:spPr>
          <a:xfrm xmlns:a="http://schemas.openxmlformats.org/drawingml/2006/main">
            <a:off x="609600" y="30194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A9BDD6"/>
                </a:solidFill>
                <a:latin typeface="Arial"/>
                <a:ea typeface="Arial"/>
                <a:cs typeface="Arial"/>
              </a:defRPr>
            </a:defPPr>
          </a:lstStyle>
          <a:p xmlns:a="http://schemas.openxmlformats.org/drawingml/2006/main">
            <a:pPr>
              <a:defRPr sz="2025" b="0">
                <a:solidFill>
                  <a:srgbClr val="A9BDD6"/>
                </a:solidFill>
                <a:latin typeface="Arial"/>
                <a:ea typeface="Arial"/>
                <a:cs typeface="Arial"/>
              </a:defRPr>
            </a:pPr>
            <a:r>
              <a:rPr sz="2025" b="0">
                <a:solidFill>
                  <a:srgbClr val="A9BDD6"/>
                </a:solidFill>
                <a:latin typeface="Arial"/>
                <a:ea typeface="Arial"/>
                <a:cs typeface="Arial"/>
              </a:rPr>
              <a:t>Database Management System Mini Project</a:t>
            </a:r>
          </a:p>
        </p:txBody>
      </p:sp>
      <p:sp>
        <p:nvSpPr>
          <p:cNvPr id="7" name="">
            <a:extLst xmlns:a="http://schemas.openxmlformats.org/drawingml/2006/main">
              <a:ext uri="{FF2B5EF4-FFF2-40B4-BE49-F238E27FC236}">
                <a16:creationId xmlns:a16="http://schemas.microsoft.com/office/drawing/2014/main" id="{363EBBC8-38A3-4557-9A5D-4A36AF5A70B8}"/>
              </a:ext>
            </a:extLst>
          </p:cNvPr>
          <p:cNvSpPr>
            <a:spLocks xmlns:a="http://schemas.openxmlformats.org/drawingml/2006/main" noGrp="1"/>
          </p:cNvSpPr>
          <p:nvPr/>
        </p:nvSpPr>
        <p:spPr>
          <a:xfrm xmlns:a="http://schemas.openxmlformats.org/drawingml/2006/main">
            <a:off x="609600" y="40005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9BDD6"/>
                </a:solidFill>
                <a:latin typeface="Arial"/>
                <a:ea typeface="Arial"/>
                <a:cs typeface="Arial"/>
              </a:defRPr>
            </a:defPPr>
          </a:lstStyle>
          <a:p xmlns:a="http://schemas.openxmlformats.org/drawingml/2006/main">
            <a:pPr>
              <a:defRPr sz="1725" b="0">
                <a:solidFill>
                  <a:srgbClr val="A9BDD6"/>
                </a:solidFill>
                <a:latin typeface="Arial"/>
                <a:ea typeface="Arial"/>
                <a:cs typeface="Arial"/>
              </a:defRPr>
            </a:pPr>
            <a:r>
              <a:rPr sz="1725" b="0">
                <a:solidFill>
                  <a:srgbClr val="A9BDD6"/>
                </a:solidFill>
                <a:latin typeface="Arial"/>
                <a:ea typeface="Arial"/>
                <a:cs typeface="Arial"/>
              </a:rPr>
              <a:t>CMR Institute of Technology, Bengaluru</a:t>
            </a:r>
          </a:p>
          <a:p xmlns:a="http://schemas.openxmlformats.org/drawingml/2006/main">
            <a:pPr>
              <a:defRPr sz="1725" b="0">
                <a:solidFill>
                  <a:srgbClr val="A9BDD6"/>
                </a:solidFill>
                <a:latin typeface="Arial"/>
                <a:ea typeface="Arial"/>
                <a:cs typeface="Arial"/>
              </a:defRPr>
            </a:pPr>
            <a:r>
              <a:rPr sz="1725" b="0">
                <a:solidFill>
                  <a:srgbClr val="A9BDD6"/>
                </a:solidFill>
                <a:latin typeface="Arial"/>
                <a:ea typeface="Arial"/>
                <a:cs typeface="Arial"/>
              </a:rPr>
              <a:t>Department of Electronics and Communication Engineering</a:t>
            </a:r>
          </a:p>
          <a:p xmlns:a="http://schemas.openxmlformats.org/drawingml/2006/main">
            <a:pPr>
              <a:defRPr sz="1725" b="0">
                <a:solidFill>
                  <a:srgbClr val="A9BDD6"/>
                </a:solidFill>
                <a:latin typeface="Arial"/>
                <a:ea typeface="Arial"/>
                <a:cs typeface="Arial"/>
              </a:defRPr>
            </a:pPr>
            <a:r>
              <a:rPr sz="1725" b="0">
                <a:solidFill>
                  <a:srgbClr val="A9BDD6"/>
                </a:solidFill>
                <a:latin typeface="Arial"/>
                <a:ea typeface="Arial"/>
                <a:cs typeface="Arial"/>
              </a:rPr>
              <a:t>Academic year 2026–27</a:t>
            </a:r>
          </a:p>
        </p:txBody>
      </p:sp>
      <p:sp>
        <p:nvSpPr>
          <p:cNvPr id="8" name="">
            <a:extLst xmlns:a="http://schemas.openxmlformats.org/drawingml/2006/main">
              <a:ext uri="{FF2B5EF4-FFF2-40B4-BE49-F238E27FC236}">
                <a16:creationId xmlns:a16="http://schemas.microsoft.com/office/drawing/2014/main" id="{C578634C-61C8-49D8-A8CF-F01203EEEA78}"/>
              </a:ext>
            </a:extLst>
          </p:cNvPr>
          <p:cNvSpPr>
            <a:spLocks xmlns:a="http://schemas.openxmlformats.org/drawingml/2006/main" noGrp="1"/>
          </p:cNvSpPr>
          <p:nvPr/>
        </p:nvSpPr>
        <p:spPr>
          <a:xfrm xmlns:a="http://schemas.openxmlformats.org/drawingml/2006/main">
            <a:off x="609600" y="5362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Presented by: ____________________    USN: ____________________</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Guide: ____________________</a:t>
            </a:r>
          </a:p>
        </p:txBody>
      </p:sp>
    </p:spTree>
    <p:extLst>
      <p:ext uri="{BB962C8B-B14F-4D97-AF65-F5344CB8AC3E}">
        <p14:creationId xmlns:p14="http://schemas.microsoft.com/office/powerpoint/2010/main" val="167775925"/>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53D3CC-9466-4613-BBEE-20336BA52740}"/>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01 / INTRODUCTION</a:t>
            </a:r>
          </a:p>
        </p:txBody>
      </p:sp>
      <p:sp>
        <p:nvSpPr>
          <p:cNvPr id="2" name="">
            <a:extLst xmlns:a="http://schemas.openxmlformats.org/drawingml/2006/main">
              <a:ext uri="{FF2B5EF4-FFF2-40B4-BE49-F238E27FC236}">
                <a16:creationId xmlns:a16="http://schemas.microsoft.com/office/drawing/2014/main" id="{D975F35D-82DF-4BA8-A922-E1140C4F714A}"/>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Problem statement</a:t>
            </a:r>
          </a:p>
        </p:txBody>
      </p:sp>
      <p:sp>
        <p:nvSpPr>
          <p:cNvPr id="3" name="">
            <a:extLst xmlns:a="http://schemas.openxmlformats.org/drawingml/2006/main">
              <a:ext uri="{FF2B5EF4-FFF2-40B4-BE49-F238E27FC236}">
                <a16:creationId xmlns:a16="http://schemas.microsoft.com/office/drawing/2014/main" id="{EB84CDE6-BAD7-40C9-BA9D-5F7EEBEF9729}"/>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59CDF59F-7C55-454F-9548-FBDFDF16A903}"/>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F69DF5E-A2DF-447A-BEF7-6F64DB7F7A5C}"/>
              </a:ext>
            </a:extLst>
          </p:cNvPr>
          <p:cNvSpPr>
            <a:spLocks xmlns:a="http://schemas.openxmlformats.org/drawingml/2006/main" noGrp="1"/>
          </p:cNvSpPr>
          <p:nvPr/>
        </p:nvSpPr>
        <p:spPr>
          <a:xfrm xmlns:a="http://schemas.openxmlformats.org/drawingml/2006/main">
            <a:off x="609600" y="1752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Hiring information is scattered</a:t>
            </a:r>
          </a:p>
        </p:txBody>
      </p:sp>
      <p:sp>
        <p:nvSpPr>
          <p:cNvPr id="6" name="">
            <a:extLst xmlns:a="http://schemas.openxmlformats.org/drawingml/2006/main">
              <a:ext uri="{FF2B5EF4-FFF2-40B4-BE49-F238E27FC236}">
                <a16:creationId xmlns:a16="http://schemas.microsoft.com/office/drawing/2014/main" id="{EE4E1BB2-20A2-485D-AE7D-44F1CE80FC30}"/>
              </a:ext>
            </a:extLst>
          </p:cNvPr>
          <p:cNvSpPr>
            <a:spLocks xmlns:a="http://schemas.openxmlformats.org/drawingml/2006/main" noGrp="1"/>
          </p:cNvSpPr>
          <p:nvPr/>
        </p:nvSpPr>
        <p:spPr>
          <a:xfrm xmlns:a="http://schemas.openxmlformats.org/drawingml/2006/main">
            <a:off x="609600" y="22098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Profiles, portfolios, resumes and job requirements often exist in separate places.</a:t>
            </a:r>
          </a:p>
        </p:txBody>
      </p:sp>
      <p:sp>
        <p:nvSpPr>
          <p:cNvPr id="7" name="">
            <a:extLst xmlns:a="http://schemas.openxmlformats.org/drawingml/2006/main">
              <a:ext uri="{FF2B5EF4-FFF2-40B4-BE49-F238E27FC236}">
                <a16:creationId xmlns:a16="http://schemas.microsoft.com/office/drawing/2014/main" id="{755C0FB8-7520-474F-9AF2-B4438CD3498D}"/>
              </a:ext>
            </a:extLst>
          </p:cNvPr>
          <p:cNvSpPr>
            <a:spLocks xmlns:a="http://schemas.openxmlformats.org/drawingml/2006/main" noGrp="1"/>
          </p:cNvSpPr>
          <p:nvPr/>
        </p:nvSpPr>
        <p:spPr>
          <a:xfrm xmlns:a="http://schemas.openxmlformats.org/drawingml/2006/main">
            <a:off x="609600" y="3209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Unstructured skill lists make comparison difficult</a:t>
            </a:r>
          </a:p>
        </p:txBody>
      </p:sp>
      <p:sp>
        <p:nvSpPr>
          <p:cNvPr id="8" name="">
            <a:extLst xmlns:a="http://schemas.openxmlformats.org/drawingml/2006/main">
              <a:ext uri="{FF2B5EF4-FFF2-40B4-BE49-F238E27FC236}">
                <a16:creationId xmlns:a16="http://schemas.microsoft.com/office/drawing/2014/main" id="{CF0B4165-AC2B-43E4-9BEA-C09B7FCC6BBC}"/>
              </a:ext>
            </a:extLst>
          </p:cNvPr>
          <p:cNvSpPr>
            <a:spLocks xmlns:a="http://schemas.openxmlformats.org/drawingml/2006/main" noGrp="1"/>
          </p:cNvSpPr>
          <p:nvPr/>
        </p:nvSpPr>
        <p:spPr>
          <a:xfrm xmlns:a="http://schemas.openxmlformats.org/drawingml/2006/main">
            <a:off x="609600" y="3667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Repeated details and comma-separated values complicate search and updates.</a:t>
            </a:r>
          </a:p>
        </p:txBody>
      </p:sp>
      <p:sp>
        <p:nvSpPr>
          <p:cNvPr id="9" name="">
            <a:extLst xmlns:a="http://schemas.openxmlformats.org/drawingml/2006/main">
              <a:ext uri="{FF2B5EF4-FFF2-40B4-BE49-F238E27FC236}">
                <a16:creationId xmlns:a16="http://schemas.microsoft.com/office/drawing/2014/main" id="{E0922F4E-92DC-4E64-98AD-BCCF2F15B3F3}"/>
              </a:ext>
            </a:extLst>
          </p:cNvPr>
          <p:cNvSpPr>
            <a:spLocks xmlns:a="http://schemas.openxmlformats.org/drawingml/2006/main" noGrp="1"/>
          </p:cNvSpPr>
          <p:nvPr/>
        </p:nvSpPr>
        <p:spPr>
          <a:xfrm xmlns:a="http://schemas.openxmlformats.org/drawingml/2006/main">
            <a:off x="609600" y="4667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Proposed solution</a:t>
            </a:r>
          </a:p>
        </p:txBody>
      </p:sp>
      <p:sp>
        <p:nvSpPr>
          <p:cNvPr id="10" name="">
            <a:extLst xmlns:a="http://schemas.openxmlformats.org/drawingml/2006/main">
              <a:ext uri="{FF2B5EF4-FFF2-40B4-BE49-F238E27FC236}">
                <a16:creationId xmlns:a16="http://schemas.microsoft.com/office/drawing/2014/main" id="{83781A6A-C15A-4A86-AF3B-F00EC56FEBE3}"/>
              </a:ext>
            </a:extLst>
          </p:cNvPr>
          <p:cNvSpPr>
            <a:spLocks xmlns:a="http://schemas.openxmlformats.org/drawingml/2006/main" noGrp="1"/>
          </p:cNvSpPr>
          <p:nvPr/>
        </p:nvSpPr>
        <p:spPr>
          <a:xfrm xmlns:a="http://schemas.openxmlformats.org/drawingml/2006/main">
            <a:off x="609600" y="51244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A web application that connects developer evidence, job requirements and application decisions through related MySQL tables.</a:t>
            </a:r>
          </a:p>
        </p:txBody>
      </p:sp>
    </p:spTree>
    <p:extLst>
      <p:ext uri="{BB962C8B-B14F-4D97-AF65-F5344CB8AC3E}">
        <p14:creationId xmlns:p14="http://schemas.microsoft.com/office/powerpoint/2010/main" val="1393166082"/>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7FAB43-5AC4-485D-8E84-1142E8D14EF2}"/>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01 / INTRODUCTION</a:t>
            </a:r>
          </a:p>
        </p:txBody>
      </p:sp>
      <p:sp>
        <p:nvSpPr>
          <p:cNvPr id="2" name="">
            <a:extLst xmlns:a="http://schemas.openxmlformats.org/drawingml/2006/main">
              <a:ext uri="{FF2B5EF4-FFF2-40B4-BE49-F238E27FC236}">
                <a16:creationId xmlns:a16="http://schemas.microsoft.com/office/drawing/2014/main" id="{BB62EF9A-66BE-44C6-AC94-BE03380B013D}"/>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Objectives and application modules</a:t>
            </a:r>
          </a:p>
        </p:txBody>
      </p:sp>
      <p:sp>
        <p:nvSpPr>
          <p:cNvPr id="3" name="">
            <a:extLst xmlns:a="http://schemas.openxmlformats.org/drawingml/2006/main">
              <a:ext uri="{FF2B5EF4-FFF2-40B4-BE49-F238E27FC236}">
                <a16:creationId xmlns:a16="http://schemas.microsoft.com/office/drawing/2014/main" id="{0AEE240C-CFE7-40D2-A0B7-AAB7E893D37D}"/>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C4D51448-0427-47D7-A9DF-F7A7D73E945D}"/>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82368CC8-094B-4B7B-8E86-21AA1E464870}"/>
              </a:ext>
            </a:extLst>
          </p:cNvPr>
          <p:cNvGraphicFramePr/>
          <p:nvPr/>
        </p:nvGraphicFramePr>
        <p:xfrm>
          <a:off xmlns:a="http://schemas.openxmlformats.org/drawingml/2006/main" x="609600" y="1781175"/>
          <a:ext xmlns:a="http://schemas.openxmlformats.org/drawingml/2006/main" cx="10972800" cy="3429000"/>
        </p:xfrm>
        <a:graphic xmlns:a="http://schemas.openxmlformats.org/drawingml/2006/main">
          <a:graphicData uri="http://schemas.openxmlformats.org/drawingml/2006/table">
            <a:tbl>
              <a:tblPr/>
              <a:tblGrid>
                <a:gridCol w="5486400"/>
                <a:gridCol w="5486400"/>
              </a:tblGrid>
              <a:tr h="685800">
                <a:tc>
                  <a:txBody>
                    <a:bodyPr lIns="95250" tIns="95250" rIns="95250" bIns="95250"/>
                    <a:lstStyle/>
                    <a:p>
                      <a:r>
                        <a:rPr sz="1650" b="1">
                          <a:solidFill>
                            <a:srgbClr val="FFFFFF"/>
                          </a:solidFill>
                          <a:latin typeface="Arial"/>
                          <a:ea typeface="Arial"/>
                          <a:cs typeface="Arial"/>
                        </a:rPr>
                        <a:t>Developer</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Recruiter</a:t>
                      </a:r>
                    </a:p>
                  </a:txBody>
                  <a:tcPr marL="91440" marR="91440" marT="45720" marB="45720" anchor="ctr">
                    <a:solidFill>
                      <a:srgbClr val="10213A"/>
                    </a:solidFill>
                  </a:tcPr>
                </a:tc>
              </a:tr>
              <a:tr h="685800">
                <a:tc>
                  <a:txBody>
                    <a:bodyPr lIns="95250" tIns="95250" rIns="95250" bIns="95250"/>
                    <a:lstStyle/>
                    <a:p>
                      <a:r>
                        <a:rPr sz="1650" b="0">
                          <a:solidFill>
                            <a:srgbClr val="15283F"/>
                          </a:solidFill>
                          <a:latin typeface="Arial"/>
                          <a:ea typeface="Arial"/>
                          <a:cs typeface="Arial"/>
                        </a:rPr>
                        <a:t>Maintain profile, skills and projects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Maintain company profile and vacancies</a:t>
                      </a:r>
                    </a:p>
                  </a:txBody>
                  <a:tcPr marL="91440" marR="91440" marT="45720" marB="45720" anchor="ctr">
                    <a:solidFill>
                      <a:srgbClr val="FFFFFF"/>
                    </a:solidFill>
                  </a:tcPr>
                </a:tc>
              </a:tr>
              <a:tr h="685800">
                <a:tc>
                  <a:txBody>
                    <a:bodyPr lIns="95250" tIns="95250" rIns="95250" bIns="95250"/>
                    <a:lstStyle/>
                    <a:p>
                      <a:r>
                        <a:rPr sz="1650" b="0">
                          <a:solidFill>
                            <a:srgbClr val="15283F"/>
                          </a:solidFill>
                          <a:latin typeface="Arial"/>
                          <a:ea typeface="Arial"/>
                          <a:cs typeface="Arial"/>
                        </a:rPr>
                        <a:t>Upload PDF and view resume analysis</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Review applicant profiles and resumes</a:t>
                      </a:r>
                    </a:p>
                  </a:txBody>
                  <a:tcPr marL="91440" marR="91440" marT="45720" marB="45720" anchor="ctr">
                    <a:solidFill>
                      <a:srgbClr val="EDF1F6"/>
                    </a:solidFill>
                  </a:tcPr>
                </a:tc>
              </a:tr>
              <a:tr h="685800">
                <a:tc>
                  <a:txBody>
                    <a:bodyPr lIns="95250" tIns="95250" rIns="95250" bIns="95250"/>
                    <a:lstStyle/>
                    <a:p>
                      <a:r>
                        <a:rPr sz="1650" b="0">
                          <a:solidFill>
                            <a:srgbClr val="15283F"/>
                          </a:solidFill>
                          <a:latin typeface="Arial"/>
                          <a:ea typeface="Arial"/>
                          <a:cs typeface="Arial"/>
                        </a:rPr>
                        <a:t>Search jobs and apply once per job</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Inspect matched and missing skills</a:t>
                      </a:r>
                    </a:p>
                  </a:txBody>
                  <a:tcPr marL="91440" marR="91440" marT="45720" marB="45720" anchor="ctr">
                    <a:solidFill>
                      <a:srgbClr val="FFFFFF"/>
                    </a:solidFill>
                  </a:tcPr>
                </a:tc>
              </a:tr>
              <a:tr h="685800">
                <a:tc>
                  <a:txBody>
                    <a:bodyPr lIns="95250" tIns="95250" rIns="95250" bIns="95250"/>
                    <a:lstStyle/>
                    <a:p>
                      <a:r>
                        <a:rPr sz="1650" b="0">
                          <a:solidFill>
                            <a:srgbClr val="15283F"/>
                          </a:solidFill>
                          <a:latin typeface="Arial"/>
                          <a:ea typeface="Arial"/>
                          <a:cs typeface="Arial"/>
                        </a:rPr>
                        <a:t>Track application status</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Change application status after review</a:t>
                      </a:r>
                    </a:p>
                  </a:txBody>
                  <a:tcPr marL="91440" marR="91440" marT="45720" marB="45720" anchor="ctr">
                    <a:solidFill>
                      <a:srgbClr val="EDF1F6"/>
                    </a:solidFill>
                  </a:tcPr>
                </a:tc>
              </a:tr>
            </a:tbl>
          </a:graphicData>
        </a:graphic>
      </p:graphicFrame>
      <p:sp>
        <p:nvSpPr>
          <p:cNvPr id="6" name="">
            <a:extLst xmlns:a="http://schemas.openxmlformats.org/drawingml/2006/main">
              <a:ext uri="{FF2B5EF4-FFF2-40B4-BE49-F238E27FC236}">
                <a16:creationId xmlns:a16="http://schemas.microsoft.com/office/drawing/2014/main" id="{B0195AC8-3FC0-4211-9FC3-EB9C491BFA25}"/>
              </a:ext>
            </a:extLst>
          </p:cNvPr>
          <p:cNvSpPr>
            <a:spLocks xmlns:a="http://schemas.openxmlformats.org/drawingml/2006/main" noGrp="1"/>
          </p:cNvSpPr>
          <p:nvPr/>
        </p:nvSpPr>
        <p:spPr>
          <a:xfrm xmlns:a="http://schemas.openxmlformats.org/drawingml/2006/main">
            <a:off x="609600" y="55530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315BDF"/>
                </a:solidFill>
                <a:latin typeface="Arial"/>
                <a:ea typeface="Arial"/>
                <a:cs typeface="Arial"/>
              </a:defRPr>
            </a:defPPr>
          </a:lstStyle>
          <a:p xmlns:a="http://schemas.openxmlformats.org/drawingml/2006/main">
            <a:pPr>
              <a:defRPr sz="2025" b="1">
                <a:solidFill>
                  <a:srgbClr val="315BDF"/>
                </a:solidFill>
                <a:latin typeface="Arial"/>
                <a:ea typeface="Arial"/>
                <a:cs typeface="Arial"/>
              </a:defRPr>
            </a:pPr>
            <a:r>
              <a:rPr sz="2025" b="1">
                <a:solidFill>
                  <a:srgbClr val="315BDF"/>
                </a:solidFill>
                <a:latin typeface="Arial"/>
                <a:ea typeface="Arial"/>
                <a:cs typeface="Arial"/>
              </a:rPr>
              <a:t>DBMS objective: related tables, normalized data, integrity constraints and SQL demonstrations</a:t>
            </a:r>
          </a:p>
        </p:txBody>
      </p:sp>
    </p:spTree>
    <p:extLst>
      <p:ext uri="{BB962C8B-B14F-4D97-AF65-F5344CB8AC3E}">
        <p14:creationId xmlns:p14="http://schemas.microsoft.com/office/powerpoint/2010/main" val="1211039777"/>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45EC2A0-A6CE-45B7-9AE9-2DAFBD499746}"/>
              </a:ext>
            </a:extLst>
          </p:cNvPr>
          <p:cNvCxnSpPr>
            <a:stCxn xmlns:a="http://schemas.openxmlformats.org/drawingml/2006/main" id="6" idx="3"/>
            <a:endCxn xmlns:a="http://schemas.openxmlformats.org/drawingml/2006/main" id="7" idx="1"/>
          </p:cNvCxnSpPr>
          <p:nvPr/>
        </p:nvCxnSpPr>
        <p:spPr>
          <a:xfrm xmlns:a="http://schemas.openxmlformats.org/drawingml/2006/main">
            <a:off x="7562850" y="2514600"/>
            <a:ext cx="104775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8" name="">
            <a:extLst xmlns:a="http://schemas.openxmlformats.org/drawingml/2006/main">
              <a:ext uri="{FF2B5EF4-FFF2-40B4-BE49-F238E27FC236}">
                <a16:creationId xmlns:a16="http://schemas.microsoft.com/office/drawing/2014/main" id="{774E6C58-81CD-4776-937E-BA23FCD40417}"/>
              </a:ext>
            </a:extLst>
          </p:cNvPr>
          <p:cNvCxnSpPr>
            <a:stCxn xmlns:a="http://schemas.openxmlformats.org/drawingml/2006/main" id="5" idx="3"/>
            <a:endCxn xmlns:a="http://schemas.openxmlformats.org/drawingml/2006/main" id="6" idx="1"/>
          </p:cNvCxnSpPr>
          <p:nvPr/>
        </p:nvCxnSpPr>
        <p:spPr>
          <a:xfrm xmlns:a="http://schemas.openxmlformats.org/drawingml/2006/main">
            <a:off x="3562350" y="2514600"/>
            <a:ext cx="104775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sp>
        <p:nvSpPr>
          <p:cNvPr id="13" name="">
            <a:extLst xmlns:a="http://schemas.openxmlformats.org/drawingml/2006/main">
              <a:ext uri="{FF2B5EF4-FFF2-40B4-BE49-F238E27FC236}">
                <a16:creationId xmlns:a16="http://schemas.microsoft.com/office/drawing/2014/main" id="{367A650B-D427-4482-B66E-A6C4486C7F4E}"/>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02 / DEVELOPMENT</a:t>
            </a:r>
          </a:p>
        </p:txBody>
      </p:sp>
      <p:sp>
        <p:nvSpPr>
          <p:cNvPr id="2" name="">
            <a:extLst xmlns:a="http://schemas.openxmlformats.org/drawingml/2006/main">
              <a:ext uri="{FF2B5EF4-FFF2-40B4-BE49-F238E27FC236}">
                <a16:creationId xmlns:a16="http://schemas.microsoft.com/office/drawing/2014/main" id="{DB253883-DF25-4413-AC4E-393237E46917}"/>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4108A30A-D9E7-4D6F-9CBE-22DC0247D0C1}"/>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9BAF4077-4EA7-4020-88B0-23E6F48A5613}"/>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6D6F63A-AB2C-4D4E-B821-E866B0B79D9E}"/>
              </a:ext>
            </a:extLst>
          </p:cNvPr>
          <p:cNvSpPr>
            <a:spLocks xmlns:a="http://schemas.openxmlformats.org/drawingml/2006/main" noGrp="1"/>
          </p:cNvSpPr>
          <p:nvPr/>
        </p:nvSpPr>
        <p:spPr>
          <a:xfrm xmlns:a="http://schemas.openxmlformats.org/drawingml/2006/main">
            <a:off x="609600" y="1895475"/>
            <a:ext cx="295275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Desktop / laptop browser</a:t>
            </a:r>
          </a:p>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HTML, CSS, JavaScript and Jinja</a:t>
            </a:r>
          </a:p>
        </p:txBody>
      </p:sp>
      <p:sp>
        <p:nvSpPr>
          <p:cNvPr id="6" name="">
            <a:extLst xmlns:a="http://schemas.openxmlformats.org/drawingml/2006/main">
              <a:ext uri="{FF2B5EF4-FFF2-40B4-BE49-F238E27FC236}">
                <a16:creationId xmlns:a16="http://schemas.microsoft.com/office/drawing/2014/main" id="{35C8F79F-BE38-409C-B409-DB3A1A90CB57}"/>
              </a:ext>
            </a:extLst>
          </p:cNvPr>
          <p:cNvSpPr>
            <a:spLocks xmlns:a="http://schemas.openxmlformats.org/drawingml/2006/main" noGrp="1"/>
          </p:cNvSpPr>
          <p:nvPr/>
        </p:nvSpPr>
        <p:spPr>
          <a:xfrm xmlns:a="http://schemas.openxmlformats.org/drawingml/2006/main">
            <a:off x="4610100" y="1895475"/>
            <a:ext cx="295275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Python + Flask</a:t>
            </a:r>
          </a:p>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Routes, sessions and validation</a:t>
            </a:r>
          </a:p>
        </p:txBody>
      </p:sp>
      <p:sp>
        <p:nvSpPr>
          <p:cNvPr id="7" name="">
            <a:extLst xmlns:a="http://schemas.openxmlformats.org/drawingml/2006/main">
              <a:ext uri="{FF2B5EF4-FFF2-40B4-BE49-F238E27FC236}">
                <a16:creationId xmlns:a16="http://schemas.microsoft.com/office/drawing/2014/main" id="{A05BE118-EC0E-4C92-A78A-2557E864C2AA}"/>
              </a:ext>
            </a:extLst>
          </p:cNvPr>
          <p:cNvSpPr>
            <a:spLocks xmlns:a="http://schemas.openxmlformats.org/drawingml/2006/main" noGrp="1"/>
          </p:cNvSpPr>
          <p:nvPr/>
        </p:nvSpPr>
        <p:spPr>
          <a:xfrm xmlns:a="http://schemas.openxmlformats.org/drawingml/2006/main">
            <a:off x="8610600" y="1895475"/>
            <a:ext cx="295275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MySQL 8</a:t>
            </a:r>
          </a:p>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SQLAlchemy + PyMySQL</a:t>
            </a:r>
          </a:p>
        </p:txBody>
      </p:sp>
      <p:sp>
        <p:nvSpPr>
          <p:cNvPr id="10" name="">
            <a:extLst xmlns:a="http://schemas.openxmlformats.org/drawingml/2006/main">
              <a:ext uri="{FF2B5EF4-FFF2-40B4-BE49-F238E27FC236}">
                <a16:creationId xmlns:a16="http://schemas.microsoft.com/office/drawing/2014/main" id="{3E2FC6E8-A281-4EC5-9EB5-18B174FF00A5}"/>
              </a:ext>
            </a:extLst>
          </p:cNvPr>
          <p:cNvSpPr>
            <a:spLocks xmlns:a="http://schemas.openxmlformats.org/drawingml/2006/main" noGrp="1"/>
          </p:cNvSpPr>
          <p:nvPr/>
        </p:nvSpPr>
        <p:spPr>
          <a:xfrm xmlns:a="http://schemas.openxmlformats.org/drawingml/2006/main">
            <a:off x="609600" y="37909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Resume workflow</a:t>
            </a:r>
          </a:p>
        </p:txBody>
      </p:sp>
      <p:sp>
        <p:nvSpPr>
          <p:cNvPr id="11" name="">
            <a:extLst xmlns:a="http://schemas.openxmlformats.org/drawingml/2006/main">
              <a:ext uri="{FF2B5EF4-FFF2-40B4-BE49-F238E27FC236}">
                <a16:creationId xmlns:a16="http://schemas.microsoft.com/office/drawing/2014/main" id="{C04E8554-A39E-40AE-96CD-487F80B9A023}"/>
              </a:ext>
            </a:extLst>
          </p:cNvPr>
          <p:cNvSpPr>
            <a:spLocks xmlns:a="http://schemas.openxmlformats.org/drawingml/2006/main" noGrp="1"/>
          </p:cNvSpPr>
          <p:nvPr/>
        </p:nvSpPr>
        <p:spPr>
          <a:xfrm xmlns:a="http://schemas.openxmlformats.org/drawingml/2006/main">
            <a:off x="609600" y="43053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83F"/>
                </a:solidFill>
                <a:latin typeface="Arial"/>
                <a:ea typeface="Arial"/>
                <a:cs typeface="Arial"/>
              </a:defRPr>
            </a:defPPr>
          </a:lstStyle>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PDF text extraction with PyMuPDF</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Optional Gemini analysis, with local extraction fallback</a:t>
            </a:r>
          </a:p>
        </p:txBody>
      </p:sp>
      <p:sp>
        <p:nvSpPr>
          <p:cNvPr id="12" name="">
            <a:extLst xmlns:a="http://schemas.openxmlformats.org/drawingml/2006/main">
              <a:ext uri="{FF2B5EF4-FFF2-40B4-BE49-F238E27FC236}">
                <a16:creationId xmlns:a16="http://schemas.microsoft.com/office/drawing/2014/main" id="{58904528-61CC-4E6E-9D53-D39BA7A0570B}"/>
              </a:ext>
            </a:extLst>
          </p:cNvPr>
          <p:cNvSpPr>
            <a:spLocks xmlns:a="http://schemas.openxmlformats.org/drawingml/2006/main" noGrp="1"/>
          </p:cNvSpPr>
          <p:nvPr/>
        </p:nvSpPr>
        <p:spPr>
          <a:xfrm xmlns:a="http://schemas.openxmlformats.org/drawingml/2006/main">
            <a:off x="609600" y="55149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76980"/>
                </a:solidFill>
                <a:latin typeface="Arial"/>
                <a:ea typeface="Arial"/>
                <a:cs typeface="Arial"/>
              </a:defRPr>
            </a:defPPr>
          </a:lstStyle>
          <a:p xmlns:a="http://schemas.openxmlformats.org/drawingml/2006/main">
            <a:pPr>
              <a:defRPr sz="1800" b="0">
                <a:solidFill>
                  <a:srgbClr val="576980"/>
                </a:solidFill>
                <a:latin typeface="Arial"/>
                <a:ea typeface="Arial"/>
                <a:cs typeface="Arial"/>
              </a:defRPr>
            </a:pPr>
            <a:r>
              <a:rPr sz="1800" b="0">
                <a:solidFill>
                  <a:srgbClr val="576980"/>
                </a:solidFill>
                <a:latin typeface="Arial"/>
                <a:ea typeface="Arial"/>
                <a:cs typeface="Arial"/>
              </a:rPr>
              <a:t>Optional Supabase Storage stores private resume PDFs. MySQL stores application records.</a:t>
            </a:r>
          </a:p>
        </p:txBody>
      </p:sp>
    </p:spTree>
    <p:extLst>
      <p:ext uri="{BB962C8B-B14F-4D97-AF65-F5344CB8AC3E}">
        <p14:creationId xmlns:p14="http://schemas.microsoft.com/office/powerpoint/2010/main" val="1870693864"/>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16E9D0-03E2-43F9-939E-99E61E0F6C38}"/>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02 / DEVELOPMENT</a:t>
            </a:r>
          </a:p>
        </p:txBody>
      </p:sp>
      <p:sp>
        <p:nvSpPr>
          <p:cNvPr id="2" name="">
            <a:extLst xmlns:a="http://schemas.openxmlformats.org/drawingml/2006/main">
              <a:ext uri="{FF2B5EF4-FFF2-40B4-BE49-F238E27FC236}">
                <a16:creationId xmlns:a16="http://schemas.microsoft.com/office/drawing/2014/main" id="{35465074-2434-475A-B6A9-551DC1475F73}"/>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Application development process</a:t>
            </a:r>
          </a:p>
        </p:txBody>
      </p:sp>
      <p:sp>
        <p:nvSpPr>
          <p:cNvPr id="3" name="">
            <a:extLst xmlns:a="http://schemas.openxmlformats.org/drawingml/2006/main">
              <a:ext uri="{FF2B5EF4-FFF2-40B4-BE49-F238E27FC236}">
                <a16:creationId xmlns:a16="http://schemas.microsoft.com/office/drawing/2014/main" id="{402799B8-E57B-45C2-8D76-2CD34D649544}"/>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BDCCD846-A09E-45D0-BD61-7E19E29C25AD}"/>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9F2AB9FB-8655-44A2-A274-8FCA311D6807}"/>
              </a:ext>
            </a:extLst>
          </p:cNvPr>
          <p:cNvGraphicFramePr/>
          <p:nvPr/>
        </p:nvGraphicFramePr>
        <p:xfrm>
          <a:off xmlns:a="http://schemas.openxmlformats.org/drawingml/2006/main" x="609600" y="1733550"/>
          <a:ext xmlns:a="http://schemas.openxmlformats.org/drawingml/2006/main" cx="10972800" cy="3905250"/>
        </p:xfrm>
        <a:graphic xmlns:a="http://schemas.openxmlformats.org/drawingml/2006/main">
          <a:graphicData uri="http://schemas.openxmlformats.org/drawingml/2006/table">
            <a:tbl>
              <a:tblPr/>
              <a:tblGrid>
                <a:gridCol w="2571750"/>
                <a:gridCol w="8401050"/>
              </a:tblGrid>
              <a:tr h="650875">
                <a:tc>
                  <a:txBody>
                    <a:bodyPr lIns="95250" tIns="95250" rIns="95250" bIns="95250"/>
                    <a:lstStyle/>
                    <a:p>
                      <a:r>
                        <a:rPr sz="1650" b="1">
                          <a:solidFill>
                            <a:srgbClr val="FFFFFF"/>
                          </a:solidFill>
                          <a:latin typeface="Arial"/>
                          <a:ea typeface="Arial"/>
                          <a:cs typeface="Arial"/>
                        </a:rPr>
                        <a:t>Stage</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Work completed in the project</a:t>
                      </a:r>
                    </a:p>
                  </a:txBody>
                  <a:tcPr marL="91440" marR="91440" marT="45720" marB="45720" anchor="ctr">
                    <a:solidFill>
                      <a:srgbClr val="10213A"/>
                    </a:solidFill>
                  </a:tcPr>
                </a:tc>
              </a:tr>
              <a:tr h="650875">
                <a:tc>
                  <a:txBody>
                    <a:bodyPr lIns="95250" tIns="95250" rIns="95250" bIns="95250"/>
                    <a:lstStyle/>
                    <a:p>
                      <a:r>
                        <a:rPr sz="1650" b="0">
                          <a:solidFill>
                            <a:srgbClr val="15283F"/>
                          </a:solidFill>
                          <a:latin typeface="Arial"/>
                          <a:ea typeface="Arial"/>
                          <a:cs typeface="Arial"/>
                        </a:rPr>
                        <a:t>Requirements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Defined developer, recruiter and hiring workflows</a:t>
                      </a:r>
                    </a:p>
                  </a:txBody>
                  <a:tcPr marL="91440" marR="91440" marT="45720" marB="45720" anchor="ctr">
                    <a:solidFill>
                      <a:srgbClr val="FFFFFF"/>
                    </a:solidFill>
                  </a:tcPr>
                </a:tc>
              </a:tr>
              <a:tr h="650875">
                <a:tc>
                  <a:txBody>
                    <a:bodyPr lIns="95250" tIns="95250" rIns="95250" bIns="95250"/>
                    <a:lstStyle/>
                    <a:p>
                      <a:r>
                        <a:rPr sz="1650" b="0">
                          <a:solidFill>
                            <a:srgbClr val="15283F"/>
                          </a:solidFill>
                          <a:latin typeface="Arial"/>
                          <a:ea typeface="Arial"/>
                          <a:cs typeface="Arial"/>
                        </a:rPr>
                        <a:t>Database design</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Created ER model, key mapping and normalized child tables</a:t>
                      </a:r>
                    </a:p>
                  </a:txBody>
                  <a:tcPr marL="91440" marR="91440" marT="45720" marB="45720" anchor="ctr">
                    <a:solidFill>
                      <a:srgbClr val="EDF1F6"/>
                    </a:solidFill>
                  </a:tcPr>
                </a:tc>
              </a:tr>
              <a:tr h="650875">
                <a:tc>
                  <a:txBody>
                    <a:bodyPr lIns="95250" tIns="95250" rIns="95250" bIns="95250"/>
                    <a:lstStyle/>
                    <a:p>
                      <a:r>
                        <a:rPr sz="1650" b="0">
                          <a:solidFill>
                            <a:srgbClr val="15283F"/>
                          </a:solidFill>
                          <a:latin typeface="Arial"/>
                          <a:ea typeface="Arial"/>
                          <a:cs typeface="Arial"/>
                        </a:rPr>
                        <a:t>Implementation</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Built Flask routes, forms and SQLAlchemy CRUD</a:t>
                      </a:r>
                    </a:p>
                  </a:txBody>
                  <a:tcPr marL="91440" marR="91440" marT="45720" marB="45720" anchor="ctr">
                    <a:solidFill>
                      <a:srgbClr val="FFFFFF"/>
                    </a:solidFill>
                  </a:tcPr>
                </a:tc>
              </a:tr>
              <a:tr h="650875">
                <a:tc>
                  <a:txBody>
                    <a:bodyPr lIns="95250" tIns="95250" rIns="95250" bIns="95250"/>
                    <a:lstStyle/>
                    <a:p>
                      <a:r>
                        <a:rPr sz="1650" b="0">
                          <a:solidFill>
                            <a:srgbClr val="15283F"/>
                          </a:solidFill>
                          <a:latin typeface="Arial"/>
                          <a:ea typeface="Arial"/>
                          <a:cs typeface="Arial"/>
                        </a:rPr>
                        <a:t>Demonstration data</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Added demo seed, SQL view and status audit trigger</a:t>
                      </a:r>
                    </a:p>
                  </a:txBody>
                  <a:tcPr marL="91440" marR="91440" marT="45720" marB="45720" anchor="ctr">
                    <a:solidFill>
                      <a:srgbClr val="EDF1F6"/>
                    </a:solidFill>
                  </a:tcPr>
                </a:tc>
              </a:tr>
              <a:tr h="650875">
                <a:tc>
                  <a:txBody>
                    <a:bodyPr lIns="95250" tIns="95250" rIns="95250" bIns="95250"/>
                    <a:lstStyle/>
                    <a:p>
                      <a:r>
                        <a:rPr sz="1650" b="0">
                          <a:solidFill>
                            <a:srgbClr val="15283F"/>
                          </a:solidFill>
                          <a:latin typeface="Arial"/>
                          <a:ea typeface="Arial"/>
                          <a:cs typeface="Arial"/>
                        </a:rPr>
                        <a:t>Verification</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Added schema/row checks and the database demonstration page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964054333"/>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2230E985-DEBD-464E-96F7-9A2E6D9B1258}"/>
              </a:ext>
            </a:extLst>
          </p:cNvPr>
          <p:cNvCxnSpPr>
            <a:stCxn xmlns:a="http://schemas.openxmlformats.org/drawingml/2006/main" id="18" idx="2"/>
            <a:endCxn xmlns:a="http://schemas.openxmlformats.org/drawingml/2006/main" id="19" idx="0"/>
          </p:cNvCxnSpPr>
          <p:nvPr/>
        </p:nvCxnSpPr>
        <p:spPr>
          <a:xfrm xmlns:a="http://schemas.openxmlformats.org/drawingml/2006/main">
            <a:off x="6962775" y="4552950"/>
            <a:ext cx="0" cy="83820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27" name="">
            <a:extLst xmlns:a="http://schemas.openxmlformats.org/drawingml/2006/main">
              <a:ext uri="{FF2B5EF4-FFF2-40B4-BE49-F238E27FC236}">
                <a16:creationId xmlns:a16="http://schemas.microsoft.com/office/drawing/2014/main" id="{F04B5E72-B104-4D70-837F-269EBE571531}"/>
              </a:ext>
            </a:extLst>
          </p:cNvPr>
          <p:cNvCxnSpPr>
            <a:stCxn xmlns:a="http://schemas.openxmlformats.org/drawingml/2006/main" id="16" idx="1"/>
            <a:endCxn xmlns:a="http://schemas.openxmlformats.org/drawingml/2006/main" id="18" idx="3"/>
          </p:cNvCxnSpPr>
          <p:nvPr/>
        </p:nvCxnSpPr>
        <p:spPr>
          <a:xfrm xmlns:a="http://schemas.openxmlformats.org/drawingml/2006/main" flipH="1">
            <a:off x="8058150" y="4276725"/>
            <a:ext cx="118110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26" name="">
            <a:extLst xmlns:a="http://schemas.openxmlformats.org/drawingml/2006/main">
              <a:ext uri="{FF2B5EF4-FFF2-40B4-BE49-F238E27FC236}">
                <a16:creationId xmlns:a16="http://schemas.microsoft.com/office/drawing/2014/main" id="{E916D712-0421-457D-8039-6C004456908E}"/>
              </a:ext>
            </a:extLst>
          </p:cNvPr>
          <p:cNvCxnSpPr>
            <a:stCxn xmlns:a="http://schemas.openxmlformats.org/drawingml/2006/main" id="6" idx="3"/>
            <a:endCxn xmlns:a="http://schemas.openxmlformats.org/drawingml/2006/main" id="18" idx="0"/>
          </p:cNvCxnSpPr>
          <p:nvPr/>
        </p:nvCxnSpPr>
        <p:spPr>
          <a:xfrm xmlns:a="http://schemas.openxmlformats.org/drawingml/2006/main">
            <a:off x="2990850" y="2895600"/>
            <a:ext cx="3971925" cy="1104900"/>
          </a:xfrm>
          <a:prstGeom xmlns:a="http://schemas.openxmlformats.org/drawingml/2006/main" prst="bentConnector4">
            <a:avLst>
              <a:gd name="adj1" fmla="val 5755"/>
              <a:gd name="adj2" fmla="val 79310"/>
            </a:avLst>
          </a:prstGeom>
          <a:ln xmlns:a="http://schemas.openxmlformats.org/drawingml/2006/main" w="19050">
            <a:solidFill>
              <a:srgbClr val="315BDF"/>
            </a:solidFill>
            <a:headEnd type="none" w="med" len="med"/>
            <a:tailEnd type="none" w="med" len="med"/>
          </a:ln>
        </p:spPr>
      </p:cxnSp>
      <p:cxnSp>
        <p:nvCxnSpPr>
          <p:cNvPr id="25" name="">
            <a:extLst xmlns:a="http://schemas.openxmlformats.org/drawingml/2006/main">
              <a:ext uri="{FF2B5EF4-FFF2-40B4-BE49-F238E27FC236}">
                <a16:creationId xmlns:a16="http://schemas.microsoft.com/office/drawing/2014/main" id="{FBDE8228-F94E-4006-A1CA-E48FA93E967E}"/>
              </a:ext>
            </a:extLst>
          </p:cNvPr>
          <p:cNvCxnSpPr>
            <a:stCxn xmlns:a="http://schemas.openxmlformats.org/drawingml/2006/main" id="16" idx="2"/>
            <a:endCxn xmlns:a="http://schemas.openxmlformats.org/drawingml/2006/main" id="17" idx="0"/>
          </p:cNvCxnSpPr>
          <p:nvPr/>
        </p:nvCxnSpPr>
        <p:spPr>
          <a:xfrm xmlns:a="http://schemas.openxmlformats.org/drawingml/2006/main">
            <a:off x="10334625" y="4552950"/>
            <a:ext cx="0" cy="83820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24" name="">
            <a:extLst xmlns:a="http://schemas.openxmlformats.org/drawingml/2006/main">
              <a:ext uri="{FF2B5EF4-FFF2-40B4-BE49-F238E27FC236}">
                <a16:creationId xmlns:a16="http://schemas.microsoft.com/office/drawing/2014/main" id="{EB0101E4-B2C9-484A-A756-28C7BB2D0965}"/>
              </a:ext>
            </a:extLst>
          </p:cNvPr>
          <p:cNvCxnSpPr>
            <a:stCxn xmlns:a="http://schemas.openxmlformats.org/drawingml/2006/main" id="7" idx="2"/>
            <a:endCxn xmlns:a="http://schemas.openxmlformats.org/drawingml/2006/main" id="16" idx="0"/>
          </p:cNvCxnSpPr>
          <p:nvPr/>
        </p:nvCxnSpPr>
        <p:spPr>
          <a:xfrm xmlns:a="http://schemas.openxmlformats.org/drawingml/2006/main" flipH="1">
            <a:off x="10334625" y="3181350"/>
            <a:ext cx="9525" cy="81915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23" name="">
            <a:extLst xmlns:a="http://schemas.openxmlformats.org/drawingml/2006/main">
              <a:ext uri="{FF2B5EF4-FFF2-40B4-BE49-F238E27FC236}">
                <a16:creationId xmlns:a16="http://schemas.microsoft.com/office/drawing/2014/main" id="{DED1326B-70ED-4CD7-BE4E-A1D6E06C0E3C}"/>
              </a:ext>
            </a:extLst>
          </p:cNvPr>
          <p:cNvCxnSpPr>
            <a:stCxn xmlns:a="http://schemas.openxmlformats.org/drawingml/2006/main" id="13" idx="2"/>
            <a:endCxn xmlns:a="http://schemas.openxmlformats.org/drawingml/2006/main" id="15" idx="0"/>
          </p:cNvCxnSpPr>
          <p:nvPr/>
        </p:nvCxnSpPr>
        <p:spPr>
          <a:xfrm xmlns:a="http://schemas.openxmlformats.org/drawingml/2006/main">
            <a:off x="3476625" y="4552950"/>
            <a:ext cx="571500" cy="83820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22" name="">
            <a:extLst xmlns:a="http://schemas.openxmlformats.org/drawingml/2006/main">
              <a:ext uri="{FF2B5EF4-FFF2-40B4-BE49-F238E27FC236}">
                <a16:creationId xmlns:a16="http://schemas.microsoft.com/office/drawing/2014/main" id="{8AA8DD84-E7FB-46BD-8CF7-288C108747CE}"/>
              </a:ext>
            </a:extLst>
          </p:cNvPr>
          <p:cNvCxnSpPr>
            <a:stCxn xmlns:a="http://schemas.openxmlformats.org/drawingml/2006/main" id="6" idx="1"/>
            <a:endCxn xmlns:a="http://schemas.openxmlformats.org/drawingml/2006/main" id="14" idx="1"/>
          </p:cNvCxnSpPr>
          <p:nvPr/>
        </p:nvCxnSpPr>
        <p:spPr>
          <a:xfrm xmlns:a="http://schemas.openxmlformats.org/drawingml/2006/main">
            <a:off x="381000" y="2895600"/>
            <a:ext cx="228600" cy="2771775"/>
          </a:xfrm>
          <a:prstGeom xmlns:a="http://schemas.openxmlformats.org/drawingml/2006/main" prst="bentConnector4">
            <a:avLst/>
          </a:prstGeom>
          <a:ln xmlns:a="http://schemas.openxmlformats.org/drawingml/2006/main" w="19050">
            <a:solidFill>
              <a:srgbClr val="315BDF"/>
            </a:solidFill>
            <a:headEnd type="none" w="med" len="med"/>
            <a:tailEnd type="none" w="med" len="med"/>
          </a:ln>
        </p:spPr>
      </p:cxnSp>
      <p:cxnSp>
        <p:nvCxnSpPr>
          <p:cNvPr id="21" name="">
            <a:extLst xmlns:a="http://schemas.openxmlformats.org/drawingml/2006/main">
              <a:ext uri="{FF2B5EF4-FFF2-40B4-BE49-F238E27FC236}">
                <a16:creationId xmlns:a16="http://schemas.microsoft.com/office/drawing/2014/main" id="{3DB62958-C0A2-496A-9B5D-F9BD839E522D}"/>
              </a:ext>
            </a:extLst>
          </p:cNvPr>
          <p:cNvCxnSpPr>
            <a:stCxn xmlns:a="http://schemas.openxmlformats.org/drawingml/2006/main" id="6" idx="2"/>
            <a:endCxn xmlns:a="http://schemas.openxmlformats.org/drawingml/2006/main" id="13" idx="0"/>
          </p:cNvCxnSpPr>
          <p:nvPr/>
        </p:nvCxnSpPr>
        <p:spPr>
          <a:xfrm xmlns:a="http://schemas.openxmlformats.org/drawingml/2006/main">
            <a:off x="1800225" y="3181350"/>
            <a:ext cx="1676400" cy="81915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20" name="">
            <a:extLst xmlns:a="http://schemas.openxmlformats.org/drawingml/2006/main">
              <a:ext uri="{FF2B5EF4-FFF2-40B4-BE49-F238E27FC236}">
                <a16:creationId xmlns:a16="http://schemas.microsoft.com/office/drawing/2014/main" id="{122A877A-EA0A-430D-B47A-413560508F98}"/>
              </a:ext>
            </a:extLst>
          </p:cNvPr>
          <p:cNvCxnSpPr>
            <a:stCxn xmlns:a="http://schemas.openxmlformats.org/drawingml/2006/main" id="6" idx="2"/>
            <a:endCxn xmlns:a="http://schemas.openxmlformats.org/drawingml/2006/main" id="12" idx="0"/>
          </p:cNvCxnSpPr>
          <p:nvPr/>
        </p:nvCxnSpPr>
        <p:spPr>
          <a:xfrm xmlns:a="http://schemas.openxmlformats.org/drawingml/2006/main" flipH="1">
            <a:off x="1466850" y="3181350"/>
            <a:ext cx="333375" cy="81915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9" name="">
            <a:extLst xmlns:a="http://schemas.openxmlformats.org/drawingml/2006/main">
              <a:ext uri="{FF2B5EF4-FFF2-40B4-BE49-F238E27FC236}">
                <a16:creationId xmlns:a16="http://schemas.microsoft.com/office/drawing/2014/main" id="{CEBE87CA-8327-4845-A856-374D4D085A16}"/>
              </a:ext>
            </a:extLst>
          </p:cNvPr>
          <p:cNvCxnSpPr>
            <a:stCxn xmlns:a="http://schemas.openxmlformats.org/drawingml/2006/main" id="5" idx="3"/>
            <a:endCxn xmlns:a="http://schemas.openxmlformats.org/drawingml/2006/main" id="7" idx="0"/>
          </p:cNvCxnSpPr>
          <p:nvPr/>
        </p:nvCxnSpPr>
        <p:spPr>
          <a:xfrm xmlns:a="http://schemas.openxmlformats.org/drawingml/2006/main">
            <a:off x="7143750" y="1828800"/>
            <a:ext cx="3200400" cy="781050"/>
          </a:xfrm>
          <a:prstGeom xmlns:a="http://schemas.openxmlformats.org/drawingml/2006/main" prst="bentConnector2">
            <a:avLst/>
          </a:prstGeom>
          <a:ln xmlns:a="http://schemas.openxmlformats.org/drawingml/2006/main" w="19050">
            <a:solidFill>
              <a:srgbClr val="315BDF"/>
            </a:solidFill>
            <a:headEnd type="none" w="med" len="med"/>
            <a:tailEnd type="none" w="med" len="med"/>
          </a:ln>
        </p:spPr>
      </p:cxnSp>
      <p:cxnSp>
        <p:nvCxnSpPr>
          <p:cNvPr id="8" name="">
            <a:extLst xmlns:a="http://schemas.openxmlformats.org/drawingml/2006/main">
              <a:ext uri="{FF2B5EF4-FFF2-40B4-BE49-F238E27FC236}">
                <a16:creationId xmlns:a16="http://schemas.microsoft.com/office/drawing/2014/main" id="{72936BE4-E0B9-4087-A10B-86783B83D1A9}"/>
              </a:ext>
            </a:extLst>
          </p:cNvPr>
          <p:cNvCxnSpPr>
            <a:stCxn xmlns:a="http://schemas.openxmlformats.org/drawingml/2006/main" id="5" idx="1"/>
            <a:endCxn xmlns:a="http://schemas.openxmlformats.org/drawingml/2006/main" id="6" idx="0"/>
          </p:cNvCxnSpPr>
          <p:nvPr/>
        </p:nvCxnSpPr>
        <p:spPr>
          <a:xfrm xmlns:a="http://schemas.openxmlformats.org/drawingml/2006/main" flipH="1">
            <a:off x="1800225" y="1828800"/>
            <a:ext cx="3057525" cy="781050"/>
          </a:xfrm>
          <a:prstGeom xmlns:a="http://schemas.openxmlformats.org/drawingml/2006/main" prst="bentConnector2">
            <a:avLst/>
          </a:prstGeom>
          <a:ln xmlns:a="http://schemas.openxmlformats.org/drawingml/2006/main" w="19050">
            <a:solidFill>
              <a:srgbClr val="315BDF"/>
            </a:solidFill>
            <a:headEnd type="none" w="med" len="med"/>
            <a:tailEnd type="none" w="med" len="med"/>
          </a:ln>
        </p:spPr>
      </p:cxnSp>
      <p:sp>
        <p:nvSpPr>
          <p:cNvPr id="30" name="">
            <a:extLst xmlns:a="http://schemas.openxmlformats.org/drawingml/2006/main">
              <a:ext uri="{FF2B5EF4-FFF2-40B4-BE49-F238E27FC236}">
                <a16:creationId xmlns:a16="http://schemas.microsoft.com/office/drawing/2014/main" id="{2117D510-77D9-48D0-BDD9-CCAD96668753}"/>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44CA23EC-D9B5-4A59-91A5-7776D7BF61AB}"/>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ER diagram and cardinalities</a:t>
            </a:r>
          </a:p>
        </p:txBody>
      </p:sp>
      <p:sp>
        <p:nvSpPr>
          <p:cNvPr id="3" name="">
            <a:extLst xmlns:a="http://schemas.openxmlformats.org/drawingml/2006/main">
              <a:ext uri="{FF2B5EF4-FFF2-40B4-BE49-F238E27FC236}">
                <a16:creationId xmlns:a16="http://schemas.microsoft.com/office/drawing/2014/main" id="{CCFE655F-2AE3-496E-8F68-42C903255EE8}"/>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FFAE1051-45FF-43A7-9017-BBC8B7C94E8F}"/>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6E674C5-72EB-4582-8AD0-2BAC525A94EE}"/>
              </a:ext>
            </a:extLst>
          </p:cNvPr>
          <p:cNvSpPr>
            <a:spLocks xmlns:a="http://schemas.openxmlformats.org/drawingml/2006/main" noGrp="1"/>
          </p:cNvSpPr>
          <p:nvPr/>
        </p:nvSpPr>
        <p:spPr>
          <a:xfrm xmlns:a="http://schemas.openxmlformats.org/drawingml/2006/main">
            <a:off x="4857750" y="1552575"/>
            <a:ext cx="228600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User</a:t>
            </a:r>
          </a:p>
        </p:txBody>
      </p:sp>
      <p:sp>
        <p:nvSpPr>
          <p:cNvPr id="6" name="">
            <a:extLst xmlns:a="http://schemas.openxmlformats.org/drawingml/2006/main">
              <a:ext uri="{FF2B5EF4-FFF2-40B4-BE49-F238E27FC236}">
                <a16:creationId xmlns:a16="http://schemas.microsoft.com/office/drawing/2014/main" id="{B8C1714D-77E9-41E6-8B81-5D003EA53DDC}"/>
              </a:ext>
            </a:extLst>
          </p:cNvPr>
          <p:cNvSpPr>
            <a:spLocks xmlns:a="http://schemas.openxmlformats.org/drawingml/2006/main" noGrp="1"/>
          </p:cNvSpPr>
          <p:nvPr/>
        </p:nvSpPr>
        <p:spPr>
          <a:xfrm xmlns:a="http://schemas.openxmlformats.org/drawingml/2006/main">
            <a:off x="609600" y="2609850"/>
            <a:ext cx="238125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Developer profile</a:t>
            </a:r>
          </a:p>
        </p:txBody>
      </p:sp>
      <p:sp>
        <p:nvSpPr>
          <p:cNvPr id="7" name="">
            <a:extLst xmlns:a="http://schemas.openxmlformats.org/drawingml/2006/main">
              <a:ext uri="{FF2B5EF4-FFF2-40B4-BE49-F238E27FC236}">
                <a16:creationId xmlns:a16="http://schemas.microsoft.com/office/drawing/2014/main" id="{4E74B472-E3A0-4E5D-BB68-07613260C450}"/>
              </a:ext>
            </a:extLst>
          </p:cNvPr>
          <p:cNvSpPr>
            <a:spLocks xmlns:a="http://schemas.openxmlformats.org/drawingml/2006/main" noGrp="1"/>
          </p:cNvSpPr>
          <p:nvPr/>
        </p:nvSpPr>
        <p:spPr>
          <a:xfrm xmlns:a="http://schemas.openxmlformats.org/drawingml/2006/main">
            <a:off x="9105900" y="2609850"/>
            <a:ext cx="247650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Recruiter profile</a:t>
            </a:r>
          </a:p>
        </p:txBody>
      </p:sp>
      <p:sp>
        <p:nvSpPr>
          <p:cNvPr id="10" name="">
            <a:extLst xmlns:a="http://schemas.openxmlformats.org/drawingml/2006/main">
              <a:ext uri="{FF2B5EF4-FFF2-40B4-BE49-F238E27FC236}">
                <a16:creationId xmlns:a16="http://schemas.microsoft.com/office/drawing/2014/main" id="{D3B7EBDC-5104-4EBB-B4E3-24FD42DCD402}"/>
              </a:ext>
            </a:extLst>
          </p:cNvPr>
          <p:cNvSpPr>
            <a:spLocks xmlns:a="http://schemas.openxmlformats.org/drawingml/2006/main" noGrp="1"/>
          </p:cNvSpPr>
          <p:nvPr/>
        </p:nvSpPr>
        <p:spPr>
          <a:xfrm xmlns:a="http://schemas.openxmlformats.org/drawingml/2006/main">
            <a:off x="2952750" y="2333625"/>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315BDF"/>
                </a:solidFill>
                <a:latin typeface="Arial"/>
                <a:ea typeface="Arial"/>
                <a:cs typeface="Arial"/>
              </a:defRPr>
            </a:defPPr>
          </a:lstStyle>
          <a:p xmlns:a="http://schemas.openxmlformats.org/drawingml/2006/main">
            <a:pPr>
              <a:defRPr sz="1500" b="0">
                <a:solidFill>
                  <a:srgbClr val="315BDF"/>
                </a:solidFill>
                <a:latin typeface="Arial"/>
                <a:ea typeface="Arial"/>
                <a:cs typeface="Arial"/>
              </a:defRPr>
            </a:pPr>
            <a:r>
              <a:rPr sz="1500" b="0">
                <a:solidFill>
                  <a:srgbClr val="315BDF"/>
                </a:solidFill>
                <a:latin typeface="Arial"/>
                <a:ea typeface="Arial"/>
                <a:cs typeface="Arial"/>
              </a:rPr>
              <a:t>1 : 0..1</a:t>
            </a:r>
          </a:p>
        </p:txBody>
      </p:sp>
      <p:sp>
        <p:nvSpPr>
          <p:cNvPr id="11" name="">
            <a:extLst xmlns:a="http://schemas.openxmlformats.org/drawingml/2006/main">
              <a:ext uri="{FF2B5EF4-FFF2-40B4-BE49-F238E27FC236}">
                <a16:creationId xmlns:a16="http://schemas.microsoft.com/office/drawing/2014/main" id="{E6C3C121-6692-44D8-B382-1F39D3438F8D}"/>
              </a:ext>
            </a:extLst>
          </p:cNvPr>
          <p:cNvSpPr>
            <a:spLocks xmlns:a="http://schemas.openxmlformats.org/drawingml/2006/main" noGrp="1"/>
          </p:cNvSpPr>
          <p:nvPr/>
        </p:nvSpPr>
        <p:spPr>
          <a:xfrm xmlns:a="http://schemas.openxmlformats.org/drawingml/2006/main">
            <a:off x="7715250" y="2333625"/>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315BDF"/>
                </a:solidFill>
                <a:latin typeface="Arial"/>
                <a:ea typeface="Arial"/>
                <a:cs typeface="Arial"/>
              </a:defRPr>
            </a:defPPr>
          </a:lstStyle>
          <a:p xmlns:a="http://schemas.openxmlformats.org/drawingml/2006/main">
            <a:pPr>
              <a:defRPr sz="1500" b="0">
                <a:solidFill>
                  <a:srgbClr val="315BDF"/>
                </a:solidFill>
                <a:latin typeface="Arial"/>
                <a:ea typeface="Arial"/>
                <a:cs typeface="Arial"/>
              </a:defRPr>
            </a:pPr>
            <a:r>
              <a:rPr sz="1500" b="0">
                <a:solidFill>
                  <a:srgbClr val="315BDF"/>
                </a:solidFill>
                <a:latin typeface="Arial"/>
                <a:ea typeface="Arial"/>
                <a:cs typeface="Arial"/>
              </a:rPr>
              <a:t>1 : 0..1</a:t>
            </a:r>
          </a:p>
        </p:txBody>
      </p:sp>
      <p:sp>
        <p:nvSpPr>
          <p:cNvPr id="12" name="">
            <a:extLst xmlns:a="http://schemas.openxmlformats.org/drawingml/2006/main">
              <a:ext uri="{FF2B5EF4-FFF2-40B4-BE49-F238E27FC236}">
                <a16:creationId xmlns:a16="http://schemas.microsoft.com/office/drawing/2014/main" id="{3F7FD44A-FDA9-4948-819B-225DDC45F4A0}"/>
              </a:ext>
            </a:extLst>
          </p:cNvPr>
          <p:cNvSpPr>
            <a:spLocks xmlns:a="http://schemas.openxmlformats.org/drawingml/2006/main" noGrp="1"/>
          </p:cNvSpPr>
          <p:nvPr/>
        </p:nvSpPr>
        <p:spPr>
          <a:xfrm xmlns:a="http://schemas.openxmlformats.org/drawingml/2006/main">
            <a:off x="609600" y="4000500"/>
            <a:ext cx="171450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Skill</a:t>
            </a:r>
          </a:p>
        </p:txBody>
      </p:sp>
      <p:sp>
        <p:nvSpPr>
          <p:cNvPr id="13" name="">
            <a:extLst xmlns:a="http://schemas.openxmlformats.org/drawingml/2006/main">
              <a:ext uri="{FF2B5EF4-FFF2-40B4-BE49-F238E27FC236}">
                <a16:creationId xmlns:a16="http://schemas.microsoft.com/office/drawing/2014/main" id="{B548C3D7-0E38-4023-80C1-B2E7F8814C99}"/>
              </a:ext>
            </a:extLst>
          </p:cNvPr>
          <p:cNvSpPr>
            <a:spLocks xmlns:a="http://schemas.openxmlformats.org/drawingml/2006/main" noGrp="1"/>
          </p:cNvSpPr>
          <p:nvPr/>
        </p:nvSpPr>
        <p:spPr>
          <a:xfrm xmlns:a="http://schemas.openxmlformats.org/drawingml/2006/main">
            <a:off x="2619375" y="4000500"/>
            <a:ext cx="171450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Project</a:t>
            </a:r>
          </a:p>
        </p:txBody>
      </p:sp>
      <p:sp>
        <p:nvSpPr>
          <p:cNvPr id="14" name="">
            <a:extLst xmlns:a="http://schemas.openxmlformats.org/drawingml/2006/main">
              <a:ext uri="{FF2B5EF4-FFF2-40B4-BE49-F238E27FC236}">
                <a16:creationId xmlns:a16="http://schemas.microsoft.com/office/drawing/2014/main" id="{C9EDD387-4C23-4751-9294-A5DF22C90EB3}"/>
              </a:ext>
            </a:extLst>
          </p:cNvPr>
          <p:cNvSpPr>
            <a:spLocks xmlns:a="http://schemas.openxmlformats.org/drawingml/2006/main" noGrp="1"/>
          </p:cNvSpPr>
          <p:nvPr/>
        </p:nvSpPr>
        <p:spPr>
          <a:xfrm xmlns:a="http://schemas.openxmlformats.org/drawingml/2006/main">
            <a:off x="609600" y="5391150"/>
            <a:ext cx="214312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Resume analysis</a:t>
            </a:r>
          </a:p>
        </p:txBody>
      </p:sp>
      <p:sp>
        <p:nvSpPr>
          <p:cNvPr id="15" name="">
            <a:extLst xmlns:a="http://schemas.openxmlformats.org/drawingml/2006/main">
              <a:ext uri="{FF2B5EF4-FFF2-40B4-BE49-F238E27FC236}">
                <a16:creationId xmlns:a16="http://schemas.microsoft.com/office/drawing/2014/main" id="{25108BA5-78FA-4649-BAB4-E8A694F171CE}"/>
              </a:ext>
            </a:extLst>
          </p:cNvPr>
          <p:cNvSpPr>
            <a:spLocks xmlns:a="http://schemas.openxmlformats.org/drawingml/2006/main" noGrp="1"/>
          </p:cNvSpPr>
          <p:nvPr/>
        </p:nvSpPr>
        <p:spPr>
          <a:xfrm xmlns:a="http://schemas.openxmlformats.org/drawingml/2006/main">
            <a:off x="2952750" y="539115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Project technology</a:t>
            </a:r>
          </a:p>
        </p:txBody>
      </p:sp>
      <p:sp>
        <p:nvSpPr>
          <p:cNvPr id="16" name="">
            <a:extLst xmlns:a="http://schemas.openxmlformats.org/drawingml/2006/main">
              <a:ext uri="{FF2B5EF4-FFF2-40B4-BE49-F238E27FC236}">
                <a16:creationId xmlns:a16="http://schemas.microsoft.com/office/drawing/2014/main" id="{E0F50A24-0A15-4F93-8317-4835F1E0A661}"/>
              </a:ext>
            </a:extLst>
          </p:cNvPr>
          <p:cNvSpPr>
            <a:spLocks xmlns:a="http://schemas.openxmlformats.org/drawingml/2006/main" noGrp="1"/>
          </p:cNvSpPr>
          <p:nvPr/>
        </p:nvSpPr>
        <p:spPr>
          <a:xfrm xmlns:a="http://schemas.openxmlformats.org/drawingml/2006/main">
            <a:off x="9239250" y="400050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Job</a:t>
            </a:r>
          </a:p>
        </p:txBody>
      </p:sp>
      <p:sp>
        <p:nvSpPr>
          <p:cNvPr id="17" name="">
            <a:extLst xmlns:a="http://schemas.openxmlformats.org/drawingml/2006/main">
              <a:ext uri="{FF2B5EF4-FFF2-40B4-BE49-F238E27FC236}">
                <a16:creationId xmlns:a16="http://schemas.microsoft.com/office/drawing/2014/main" id="{D1B66F09-DFBD-4174-9DD3-61FBC10B8EAA}"/>
              </a:ext>
            </a:extLst>
          </p:cNvPr>
          <p:cNvSpPr>
            <a:spLocks xmlns:a="http://schemas.openxmlformats.org/drawingml/2006/main" noGrp="1"/>
          </p:cNvSpPr>
          <p:nvPr/>
        </p:nvSpPr>
        <p:spPr>
          <a:xfrm xmlns:a="http://schemas.openxmlformats.org/drawingml/2006/main">
            <a:off x="9239250" y="539115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Job skill</a:t>
            </a:r>
          </a:p>
        </p:txBody>
      </p:sp>
      <p:sp>
        <p:nvSpPr>
          <p:cNvPr id="18" name="">
            <a:extLst xmlns:a="http://schemas.openxmlformats.org/drawingml/2006/main">
              <a:ext uri="{FF2B5EF4-FFF2-40B4-BE49-F238E27FC236}">
                <a16:creationId xmlns:a16="http://schemas.microsoft.com/office/drawing/2014/main" id="{8BDEBB11-FCFB-455C-A7B2-F3E170ABF7BA}"/>
              </a:ext>
            </a:extLst>
          </p:cNvPr>
          <p:cNvSpPr>
            <a:spLocks xmlns:a="http://schemas.openxmlformats.org/drawingml/2006/main" noGrp="1"/>
          </p:cNvSpPr>
          <p:nvPr/>
        </p:nvSpPr>
        <p:spPr>
          <a:xfrm xmlns:a="http://schemas.openxmlformats.org/drawingml/2006/main">
            <a:off x="5867400" y="400050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Application</a:t>
            </a:r>
          </a:p>
        </p:txBody>
      </p:sp>
      <p:sp>
        <p:nvSpPr>
          <p:cNvPr id="19" name="">
            <a:extLst xmlns:a="http://schemas.openxmlformats.org/drawingml/2006/main">
              <a:ext uri="{FF2B5EF4-FFF2-40B4-BE49-F238E27FC236}">
                <a16:creationId xmlns:a16="http://schemas.microsoft.com/office/drawing/2014/main" id="{EE69EA94-3FBF-4AF9-AC3B-DCAC3DCA943C}"/>
              </a:ext>
            </a:extLst>
          </p:cNvPr>
          <p:cNvSpPr>
            <a:spLocks xmlns:a="http://schemas.openxmlformats.org/drawingml/2006/main" noGrp="1"/>
          </p:cNvSpPr>
          <p:nvPr/>
        </p:nvSpPr>
        <p:spPr>
          <a:xfrm xmlns:a="http://schemas.openxmlformats.org/drawingml/2006/main">
            <a:off x="5867400" y="539115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725">
                <a:solidFill>
                  <a:srgbClr val="15283F"/>
                </a:solidFill>
                <a:latin typeface="Arial"/>
                <a:ea typeface="Arial"/>
                <a:cs typeface="Arial"/>
              </a:defRPr>
            </a:defPPr>
          </a:lstStyle>
          <a:p xmlns:a="http://schemas.openxmlformats.org/drawingml/2006/main">
            <a:pPr>
              <a:defRPr sz="1725">
                <a:solidFill>
                  <a:srgbClr val="15283F"/>
                </a:solidFill>
                <a:latin typeface="Arial"/>
                <a:ea typeface="Arial"/>
                <a:cs typeface="Arial"/>
              </a:defRPr>
            </a:pPr>
            <a:r>
              <a:rPr sz="1725">
                <a:solidFill>
                  <a:srgbClr val="15283F"/>
                </a:solidFill>
                <a:latin typeface="Arial"/>
                <a:ea typeface="Arial"/>
                <a:cs typeface="Arial"/>
              </a:rPr>
              <a:t>Status history</a:t>
            </a:r>
          </a:p>
        </p:txBody>
      </p:sp>
      <p:sp>
        <p:nvSpPr>
          <p:cNvPr id="29" name="">
            <a:extLst xmlns:a="http://schemas.openxmlformats.org/drawingml/2006/main">
              <a:ext uri="{FF2B5EF4-FFF2-40B4-BE49-F238E27FC236}">
                <a16:creationId xmlns:a16="http://schemas.microsoft.com/office/drawing/2014/main" id="{080ECB0D-91FC-44F4-8D60-C3F640395283}"/>
              </a:ext>
            </a:extLst>
          </p:cNvPr>
          <p:cNvSpPr>
            <a:spLocks xmlns:a="http://schemas.openxmlformats.org/drawingml/2006/main" noGrp="1"/>
          </p:cNvSpPr>
          <p:nvPr/>
        </p:nvSpPr>
        <p:spPr>
          <a:xfrm xmlns:a="http://schemas.openxmlformats.org/drawingml/2006/main">
            <a:off x="4648200" y="2743200"/>
            <a:ext cx="3981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315BDF"/>
                </a:solidFill>
                <a:latin typeface="Arial"/>
                <a:ea typeface="Arial"/>
                <a:cs typeface="Arial"/>
              </a:defRPr>
            </a:defPPr>
          </a:lstStyle>
          <a:p xmlns:a="http://schemas.openxmlformats.org/drawingml/2006/main">
            <a:pPr>
              <a:defRPr sz="1650" b="1">
                <a:solidFill>
                  <a:srgbClr val="315BDF"/>
                </a:solidFill>
                <a:latin typeface="Arial"/>
                <a:ea typeface="Arial"/>
                <a:cs typeface="Arial"/>
              </a:defRPr>
            </a:pPr>
            <a:r>
              <a:rPr sz="1650" b="1">
                <a:solidFill>
                  <a:srgbClr val="315BDF"/>
                </a:solidFill>
                <a:latin typeface="Arial"/>
                <a:ea typeface="Arial"/>
                <a:cs typeface="Arial"/>
              </a:rPr>
              <a:t>Other links: 1 : 0..N</a:t>
            </a:r>
          </a:p>
          <a:p xmlns:a="http://schemas.openxmlformats.org/drawingml/2006/main">
            <a:pPr>
              <a:defRPr sz="1650" b="1">
                <a:solidFill>
                  <a:srgbClr val="315BDF"/>
                </a:solidFill>
                <a:latin typeface="Arial"/>
                <a:ea typeface="Arial"/>
                <a:cs typeface="Arial"/>
              </a:defRPr>
            </a:pPr>
            <a:r>
              <a:rPr sz="1650" b="1">
                <a:solidFill>
                  <a:srgbClr val="315BDF"/>
                </a:solidFill>
                <a:latin typeface="Arial"/>
                <a:ea typeface="Arial"/>
                <a:cs typeface="Arial"/>
              </a:rPr>
              <a:t>Developer and Job: M : N via Application</a:t>
            </a:r>
          </a:p>
        </p:txBody>
      </p:sp>
    </p:spTree>
    <p:extLst>
      <p:ext uri="{BB962C8B-B14F-4D97-AF65-F5344CB8AC3E}">
        <p14:creationId xmlns:p14="http://schemas.microsoft.com/office/powerpoint/2010/main" val="1450079744"/>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8A24F3F-FBB4-4B37-8236-F22457DB708E}"/>
              </a:ext>
            </a:extLst>
          </p:cNvPr>
          <p:cNvCxnSpPr>
            <a:stCxn xmlns:a="http://schemas.openxmlformats.org/drawingml/2006/main" id="9" idx="3"/>
            <a:endCxn xmlns:a="http://schemas.openxmlformats.org/drawingml/2006/main" id="10" idx="1"/>
          </p:cNvCxnSpPr>
          <p:nvPr/>
        </p:nvCxnSpPr>
        <p:spPr>
          <a:xfrm xmlns:a="http://schemas.openxmlformats.org/drawingml/2006/main">
            <a:off x="7486650" y="5076825"/>
            <a:ext cx="30480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14" name="">
            <a:extLst xmlns:a="http://schemas.openxmlformats.org/drawingml/2006/main">
              <a:ext uri="{FF2B5EF4-FFF2-40B4-BE49-F238E27FC236}">
                <a16:creationId xmlns:a16="http://schemas.microsoft.com/office/drawing/2014/main" id="{408A41E3-1A5F-41A6-9BD5-EC8DF0A5C0F2}"/>
              </a:ext>
            </a:extLst>
          </p:cNvPr>
          <p:cNvCxnSpPr>
            <a:stCxn xmlns:a="http://schemas.openxmlformats.org/drawingml/2006/main" id="6" idx="2"/>
            <a:endCxn xmlns:a="http://schemas.openxmlformats.org/drawingml/2006/main" id="9" idx="0"/>
          </p:cNvCxnSpPr>
          <p:nvPr/>
        </p:nvCxnSpPr>
        <p:spPr>
          <a:xfrm xmlns:a="http://schemas.openxmlformats.org/drawingml/2006/main">
            <a:off x="3467100" y="3952875"/>
            <a:ext cx="2376488" cy="30480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13" name="">
            <a:extLst xmlns:a="http://schemas.openxmlformats.org/drawingml/2006/main">
              <a:ext uri="{FF2B5EF4-FFF2-40B4-BE49-F238E27FC236}">
                <a16:creationId xmlns:a16="http://schemas.microsoft.com/office/drawing/2014/main" id="{935FF9D3-1A1E-4237-A976-BE45A7BABF49}"/>
              </a:ext>
            </a:extLst>
          </p:cNvPr>
          <p:cNvCxnSpPr>
            <a:stCxn xmlns:a="http://schemas.openxmlformats.org/drawingml/2006/main" id="6" idx="2"/>
            <a:endCxn xmlns:a="http://schemas.openxmlformats.org/drawingml/2006/main" id="8" idx="0"/>
          </p:cNvCxnSpPr>
          <p:nvPr/>
        </p:nvCxnSpPr>
        <p:spPr>
          <a:xfrm xmlns:a="http://schemas.openxmlformats.org/drawingml/2006/main" flipH="1">
            <a:off x="2252663" y="3952875"/>
            <a:ext cx="1214438" cy="304800"/>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12" name="">
            <a:extLst xmlns:a="http://schemas.openxmlformats.org/drawingml/2006/main">
              <a:ext uri="{FF2B5EF4-FFF2-40B4-BE49-F238E27FC236}">
                <a16:creationId xmlns:a16="http://schemas.microsoft.com/office/drawing/2014/main" id="{BBAEC361-2A3C-4D2A-8D30-C6C74157AE28}"/>
              </a:ext>
            </a:extLst>
          </p:cNvPr>
          <p:cNvCxnSpPr>
            <a:stCxn xmlns:a="http://schemas.openxmlformats.org/drawingml/2006/main" id="5" idx="2"/>
            <a:endCxn xmlns:a="http://schemas.openxmlformats.org/drawingml/2006/main" id="7" idx="0"/>
          </p:cNvCxnSpPr>
          <p:nvPr/>
        </p:nvCxnSpPr>
        <p:spPr>
          <a:xfrm xmlns:a="http://schemas.openxmlformats.org/drawingml/2006/main">
            <a:off x="6096000" y="2476500"/>
            <a:ext cx="3048000" cy="219075"/>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11" name="">
            <a:extLst xmlns:a="http://schemas.openxmlformats.org/drawingml/2006/main">
              <a:ext uri="{FF2B5EF4-FFF2-40B4-BE49-F238E27FC236}">
                <a16:creationId xmlns:a16="http://schemas.microsoft.com/office/drawing/2014/main" id="{3610B68F-A605-40F5-9FC7-0A92689BB2B1}"/>
              </a:ext>
            </a:extLst>
          </p:cNvPr>
          <p:cNvCxnSpPr>
            <a:stCxn xmlns:a="http://schemas.openxmlformats.org/drawingml/2006/main" id="5" idx="2"/>
            <a:endCxn xmlns:a="http://schemas.openxmlformats.org/drawingml/2006/main" id="6" idx="0"/>
          </p:cNvCxnSpPr>
          <p:nvPr/>
        </p:nvCxnSpPr>
        <p:spPr>
          <a:xfrm xmlns:a="http://schemas.openxmlformats.org/drawingml/2006/main" flipH="1">
            <a:off x="3467100" y="2476500"/>
            <a:ext cx="2628900" cy="219075"/>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sp>
        <p:nvSpPr>
          <p:cNvPr id="17" name="">
            <a:extLst xmlns:a="http://schemas.openxmlformats.org/drawingml/2006/main">
              <a:ext uri="{FF2B5EF4-FFF2-40B4-BE49-F238E27FC236}">
                <a16:creationId xmlns:a16="http://schemas.microsoft.com/office/drawing/2014/main" id="{9D5196A5-2EDD-496B-AFA8-5105353C33DC}"/>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FFFFC0D0-C531-4F7B-B68C-559E5BCF4244}"/>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Relational schema: accounts and portfolios</a:t>
            </a:r>
          </a:p>
        </p:txBody>
      </p:sp>
      <p:sp>
        <p:nvSpPr>
          <p:cNvPr id="3" name="">
            <a:extLst xmlns:a="http://schemas.openxmlformats.org/drawingml/2006/main">
              <a:ext uri="{FF2B5EF4-FFF2-40B4-BE49-F238E27FC236}">
                <a16:creationId xmlns:a16="http://schemas.microsoft.com/office/drawing/2014/main" id="{A0F725B5-AB55-4716-8716-7ECCD5466D15}"/>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D4AFA9B3-7BF1-4B0C-B9EB-605184FD8CA6}"/>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D0FAAEA5-BD68-42B0-8AE1-1B912166CF22}"/>
              </a:ext>
            </a:extLst>
          </p:cNvPr>
          <p:cNvSpPr>
            <a:spLocks xmlns:a="http://schemas.openxmlformats.org/drawingml/2006/main" noGrp="1"/>
          </p:cNvSpPr>
          <p:nvPr/>
        </p:nvSpPr>
        <p:spPr>
          <a:xfrm xmlns:a="http://schemas.openxmlformats.org/drawingml/2006/main">
            <a:off x="609600" y="1714500"/>
            <a:ext cx="109728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users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name, email UK, password_hash, role, created_at</a:t>
            </a:r>
          </a:p>
        </p:txBody>
      </p:sp>
      <p:sp>
        <p:nvSpPr>
          <p:cNvPr id="6" name="">
            <a:extLst xmlns:a="http://schemas.openxmlformats.org/drawingml/2006/main">
              <a:ext uri="{FF2B5EF4-FFF2-40B4-BE49-F238E27FC236}">
                <a16:creationId xmlns:a16="http://schemas.microsoft.com/office/drawing/2014/main" id="{1A99D5C5-DDD6-4645-886A-E999BEF2B11F}"/>
              </a:ext>
            </a:extLst>
          </p:cNvPr>
          <p:cNvSpPr>
            <a:spLocks xmlns:a="http://schemas.openxmlformats.org/drawingml/2006/main" noGrp="1"/>
          </p:cNvSpPr>
          <p:nvPr/>
        </p:nvSpPr>
        <p:spPr>
          <a:xfrm xmlns:a="http://schemas.openxmlformats.org/drawingml/2006/main">
            <a:off x="609600" y="2695575"/>
            <a:ext cx="57150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developer_profiles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user_id FK/UK, bio, phone, location, education, experience, github_url, linkedin_url, resume_path</a:t>
            </a:r>
          </a:p>
        </p:txBody>
      </p:sp>
      <p:sp>
        <p:nvSpPr>
          <p:cNvPr id="7" name="">
            <a:extLst xmlns:a="http://schemas.openxmlformats.org/drawingml/2006/main">
              <a:ext uri="{FF2B5EF4-FFF2-40B4-BE49-F238E27FC236}">
                <a16:creationId xmlns:a16="http://schemas.microsoft.com/office/drawing/2014/main" id="{07B7901D-AC01-44A7-8F0D-357B3568C1E7}"/>
              </a:ext>
            </a:extLst>
          </p:cNvPr>
          <p:cNvSpPr>
            <a:spLocks xmlns:a="http://schemas.openxmlformats.org/drawingml/2006/main" noGrp="1"/>
          </p:cNvSpPr>
          <p:nvPr/>
        </p:nvSpPr>
        <p:spPr>
          <a:xfrm xmlns:a="http://schemas.openxmlformats.org/drawingml/2006/main">
            <a:off x="6705600" y="2695575"/>
            <a:ext cx="48768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recruiter_profiles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user_id FK/UK, company_name, company_description, location, website</a:t>
            </a:r>
          </a:p>
        </p:txBody>
      </p:sp>
      <p:sp>
        <p:nvSpPr>
          <p:cNvPr id="8" name="">
            <a:extLst xmlns:a="http://schemas.openxmlformats.org/drawingml/2006/main">
              <a:ext uri="{FF2B5EF4-FFF2-40B4-BE49-F238E27FC236}">
                <a16:creationId xmlns:a16="http://schemas.microsoft.com/office/drawing/2014/main" id="{5CA8EB59-B398-45D7-9A86-1BCD9EB1CD87}"/>
              </a:ext>
            </a:extLst>
          </p:cNvPr>
          <p:cNvSpPr>
            <a:spLocks xmlns:a="http://schemas.openxmlformats.org/drawingml/2006/main" noGrp="1"/>
          </p:cNvSpPr>
          <p:nvPr/>
        </p:nvSpPr>
        <p:spPr>
          <a:xfrm xmlns:a="http://schemas.openxmlformats.org/drawingml/2006/main">
            <a:off x="609600" y="4257675"/>
            <a:ext cx="3286125" cy="1638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skills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developer_id FK, name, level, years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UK (developer_id, name)</a:t>
            </a:r>
          </a:p>
        </p:txBody>
      </p:sp>
      <p:sp>
        <p:nvSpPr>
          <p:cNvPr id="9" name="">
            <a:extLst xmlns:a="http://schemas.openxmlformats.org/drawingml/2006/main">
              <a:ext uri="{FF2B5EF4-FFF2-40B4-BE49-F238E27FC236}">
                <a16:creationId xmlns:a16="http://schemas.microsoft.com/office/drawing/2014/main" id="{AF9B643F-C369-4911-8307-149AF040D1ED}"/>
              </a:ext>
            </a:extLst>
          </p:cNvPr>
          <p:cNvSpPr>
            <a:spLocks xmlns:a="http://schemas.openxmlformats.org/drawingml/2006/main" noGrp="1"/>
          </p:cNvSpPr>
          <p:nvPr/>
        </p:nvSpPr>
        <p:spPr>
          <a:xfrm xmlns:a="http://schemas.openxmlformats.org/drawingml/2006/main">
            <a:off x="4200525" y="4257675"/>
            <a:ext cx="3286125" cy="1638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projects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developer_id FK, name, description, github_link, project_link</a:t>
            </a:r>
          </a:p>
        </p:txBody>
      </p:sp>
      <p:sp>
        <p:nvSpPr>
          <p:cNvPr id="10" name="">
            <a:extLst xmlns:a="http://schemas.openxmlformats.org/drawingml/2006/main">
              <a:ext uri="{FF2B5EF4-FFF2-40B4-BE49-F238E27FC236}">
                <a16:creationId xmlns:a16="http://schemas.microsoft.com/office/drawing/2014/main" id="{90CCD8C3-BDF9-4952-BB17-554812F045D5}"/>
              </a:ext>
            </a:extLst>
          </p:cNvPr>
          <p:cNvSpPr>
            <a:spLocks xmlns:a="http://schemas.openxmlformats.org/drawingml/2006/main" noGrp="1"/>
          </p:cNvSpPr>
          <p:nvPr/>
        </p:nvSpPr>
        <p:spPr>
          <a:xfrm xmlns:a="http://schemas.openxmlformats.org/drawingml/2006/main">
            <a:off x="7791450" y="4257675"/>
            <a:ext cx="3790950" cy="16383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project_technologies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project_id FK, name, category, version, added_at</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UK (project_id, name)</a:t>
            </a:r>
          </a:p>
        </p:txBody>
      </p:sp>
      <p:sp>
        <p:nvSpPr>
          <p:cNvPr id="16" name="">
            <a:extLst xmlns:a="http://schemas.openxmlformats.org/drawingml/2006/main">
              <a:ext uri="{FF2B5EF4-FFF2-40B4-BE49-F238E27FC236}">
                <a16:creationId xmlns:a16="http://schemas.microsoft.com/office/drawing/2014/main" id="{4F804C1A-357A-4C86-A3CA-C73EEA0A3FE0}"/>
              </a:ext>
            </a:extLst>
          </p:cNvPr>
          <p:cNvSpPr>
            <a:spLocks xmlns:a="http://schemas.openxmlformats.org/drawingml/2006/main" noGrp="1"/>
          </p:cNvSpPr>
          <p:nvPr/>
        </p:nvSpPr>
        <p:spPr>
          <a:xfrm xmlns:a="http://schemas.openxmlformats.org/drawingml/2006/main">
            <a:off x="609600" y="60864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980"/>
                </a:solidFill>
                <a:latin typeface="Arial"/>
                <a:ea typeface="Arial"/>
                <a:cs typeface="Arial"/>
              </a:defRPr>
            </a:defPPr>
          </a:lstStyle>
          <a:p xmlns:a="http://schemas.openxmlformats.org/drawingml/2006/main">
            <a:pPr>
              <a:defRPr sz="1350" b="0">
                <a:solidFill>
                  <a:srgbClr val="576980"/>
                </a:solidFill>
                <a:latin typeface="Arial"/>
                <a:ea typeface="Arial"/>
                <a:cs typeface="Arial"/>
              </a:defRPr>
            </a:pPr>
            <a:r>
              <a:rPr sz="1350" b="0">
                <a:solidFill>
                  <a:srgbClr val="576980"/>
                </a:solidFill>
                <a:latin typeface="Arial"/>
                <a:ea typeface="Arial"/>
                <a:cs typeface="Arial"/>
              </a:rPr>
              <a:t>FK links: profiles.user_id = users.id; skills/projects.developer_id = developer_profiles.id; technologies.project_id = projects.id</a:t>
            </a:r>
          </a:p>
        </p:txBody>
      </p:sp>
    </p:spTree>
    <p:extLst>
      <p:ext uri="{BB962C8B-B14F-4D97-AF65-F5344CB8AC3E}">
        <p14:creationId xmlns:p14="http://schemas.microsoft.com/office/powerpoint/2010/main" val="860939704"/>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E470936-82C9-47DF-9C50-2747EB06B9D1}"/>
              </a:ext>
            </a:extLst>
          </p:cNvPr>
          <p:cNvCxnSpPr>
            <a:stCxn xmlns:a="http://schemas.openxmlformats.org/drawingml/2006/main" id="7" idx="2"/>
            <a:endCxn xmlns:a="http://schemas.openxmlformats.org/drawingml/2006/main" id="9" idx="0"/>
          </p:cNvCxnSpPr>
          <p:nvPr/>
        </p:nvCxnSpPr>
        <p:spPr>
          <a:xfrm xmlns:a="http://schemas.openxmlformats.org/drawingml/2006/main">
            <a:off x="3276600" y="4533900"/>
            <a:ext cx="2819400" cy="314325"/>
          </a:xfrm>
          <a:prstGeom xmlns:a="http://schemas.openxmlformats.org/drawingml/2006/main" prst="bentConnector4">
            <a:avLst>
              <a:gd name="adj1" fmla="val 0"/>
              <a:gd name="adj2" fmla="val 50000"/>
            </a:avLst>
          </a:prstGeom>
          <a:ln xmlns:a="http://schemas.openxmlformats.org/drawingml/2006/main" w="19050">
            <a:solidFill>
              <a:srgbClr val="315BDF"/>
            </a:solidFill>
            <a:headEnd type="none" w="med" len="med"/>
            <a:tailEnd type="none" w="med" len="med"/>
          </a:ln>
        </p:spPr>
      </p:cxnSp>
      <p:cxnSp>
        <p:nvCxnSpPr>
          <p:cNvPr id="11" name="">
            <a:extLst xmlns:a="http://schemas.openxmlformats.org/drawingml/2006/main">
              <a:ext uri="{FF2B5EF4-FFF2-40B4-BE49-F238E27FC236}">
                <a16:creationId xmlns:a16="http://schemas.microsoft.com/office/drawing/2014/main" id="{67F73764-0BA8-436D-A464-CFD90E060749}"/>
              </a:ext>
            </a:extLst>
          </p:cNvPr>
          <p:cNvCxnSpPr>
            <a:stCxn xmlns:a="http://schemas.openxmlformats.org/drawingml/2006/main" id="5" idx="2"/>
            <a:endCxn xmlns:a="http://schemas.openxmlformats.org/drawingml/2006/main" id="7" idx="0"/>
          </p:cNvCxnSpPr>
          <p:nvPr/>
        </p:nvCxnSpPr>
        <p:spPr>
          <a:xfrm xmlns:a="http://schemas.openxmlformats.org/drawingml/2006/main">
            <a:off x="3276600" y="3048000"/>
            <a:ext cx="0" cy="30480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cxnSp>
        <p:nvCxnSpPr>
          <p:cNvPr id="10" name="">
            <a:extLst xmlns:a="http://schemas.openxmlformats.org/drawingml/2006/main">
              <a:ext uri="{FF2B5EF4-FFF2-40B4-BE49-F238E27FC236}">
                <a16:creationId xmlns:a16="http://schemas.microsoft.com/office/drawing/2014/main" id="{C6E333E8-7B90-4DB5-890B-71A2DEE0FA91}"/>
              </a:ext>
            </a:extLst>
          </p:cNvPr>
          <p:cNvCxnSpPr>
            <a:stCxn xmlns:a="http://schemas.openxmlformats.org/drawingml/2006/main" id="5" idx="3"/>
            <a:endCxn xmlns:a="http://schemas.openxmlformats.org/drawingml/2006/main" id="6" idx="1"/>
          </p:cNvCxnSpPr>
          <p:nvPr/>
        </p:nvCxnSpPr>
        <p:spPr>
          <a:xfrm xmlns:a="http://schemas.openxmlformats.org/drawingml/2006/main">
            <a:off x="5943600" y="2386013"/>
            <a:ext cx="400050" cy="0"/>
          </a:xfrm>
          <a:prstGeom xmlns:a="http://schemas.openxmlformats.org/drawingml/2006/main" prst="straightConnector1">
            <a:avLst/>
          </a:prstGeom>
          <a:ln xmlns:a="http://schemas.openxmlformats.org/drawingml/2006/main" w="19050">
            <a:solidFill>
              <a:srgbClr val="315BDF"/>
            </a:solidFill>
            <a:headEnd type="none" w="med" len="med"/>
            <a:tailEnd type="none" w="med" len="med"/>
          </a:ln>
        </p:spPr>
      </p:cxnSp>
      <p:sp>
        <p:nvSpPr>
          <p:cNvPr id="14" name="">
            <a:extLst xmlns:a="http://schemas.openxmlformats.org/drawingml/2006/main">
              <a:ext uri="{FF2B5EF4-FFF2-40B4-BE49-F238E27FC236}">
                <a16:creationId xmlns:a16="http://schemas.microsoft.com/office/drawing/2014/main" id="{32B3000B-7C87-405A-803D-36A385C1CE63}"/>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7989A1AD-1E20-4169-9D01-8AED8AEF9E16}"/>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Relational schema: hiring and analysis</a:t>
            </a:r>
          </a:p>
        </p:txBody>
      </p:sp>
      <p:sp>
        <p:nvSpPr>
          <p:cNvPr id="3" name="">
            <a:extLst xmlns:a="http://schemas.openxmlformats.org/drawingml/2006/main">
              <a:ext uri="{FF2B5EF4-FFF2-40B4-BE49-F238E27FC236}">
                <a16:creationId xmlns:a16="http://schemas.microsoft.com/office/drawing/2014/main" id="{4019C515-7D3F-406F-AF2C-5281CD9ED172}"/>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95EB397C-0314-4478-8A9A-798E809CDCAE}"/>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5C3359C-604C-4CD8-ABA5-93074A883716}"/>
              </a:ext>
            </a:extLst>
          </p:cNvPr>
          <p:cNvSpPr>
            <a:spLocks xmlns:a="http://schemas.openxmlformats.org/drawingml/2006/main" noGrp="1"/>
          </p:cNvSpPr>
          <p:nvPr/>
        </p:nvSpPr>
        <p:spPr>
          <a:xfrm xmlns:a="http://schemas.openxmlformats.org/drawingml/2006/main">
            <a:off x="609600" y="1724025"/>
            <a:ext cx="5334000" cy="1323975"/>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jobs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recruiter_id FK, title, description, location, salary, experience_required, job_type, deadline, created_at</a:t>
            </a:r>
          </a:p>
        </p:txBody>
      </p:sp>
      <p:sp>
        <p:nvSpPr>
          <p:cNvPr id="6" name="">
            <a:extLst xmlns:a="http://schemas.openxmlformats.org/drawingml/2006/main">
              <a:ext uri="{FF2B5EF4-FFF2-40B4-BE49-F238E27FC236}">
                <a16:creationId xmlns:a16="http://schemas.microsoft.com/office/drawing/2014/main" id="{7E9695B1-ACC8-431B-BDA9-905B5BE1D282}"/>
              </a:ext>
            </a:extLst>
          </p:cNvPr>
          <p:cNvSpPr>
            <a:spLocks xmlns:a="http://schemas.openxmlformats.org/drawingml/2006/main" noGrp="1"/>
          </p:cNvSpPr>
          <p:nvPr/>
        </p:nvSpPr>
        <p:spPr>
          <a:xfrm xmlns:a="http://schemas.openxmlformats.org/drawingml/2006/main">
            <a:off x="6343650" y="1724025"/>
            <a:ext cx="5238750" cy="1323975"/>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job_skills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job_id FK, name, importance, minimum_years, added_at</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UK (job_id, name)</a:t>
            </a:r>
          </a:p>
        </p:txBody>
      </p:sp>
      <p:sp>
        <p:nvSpPr>
          <p:cNvPr id="7" name="">
            <a:extLst xmlns:a="http://schemas.openxmlformats.org/drawingml/2006/main">
              <a:ext uri="{FF2B5EF4-FFF2-40B4-BE49-F238E27FC236}">
                <a16:creationId xmlns:a16="http://schemas.microsoft.com/office/drawing/2014/main" id="{672B56E1-AA91-40C9-9057-88A61F7222CC}"/>
              </a:ext>
            </a:extLst>
          </p:cNvPr>
          <p:cNvSpPr>
            <a:spLocks xmlns:a="http://schemas.openxmlformats.org/drawingml/2006/main" noGrp="1"/>
          </p:cNvSpPr>
          <p:nvPr/>
        </p:nvSpPr>
        <p:spPr>
          <a:xfrm xmlns:a="http://schemas.openxmlformats.org/drawingml/2006/main">
            <a:off x="609600" y="3352800"/>
            <a:ext cx="5334000" cy="11811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applications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developer_id FK, job_id FK, status, created_at</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UK (developer_id, job_id)</a:t>
            </a:r>
          </a:p>
        </p:txBody>
      </p:sp>
      <p:sp>
        <p:nvSpPr>
          <p:cNvPr id="8" name="">
            <a:extLst xmlns:a="http://schemas.openxmlformats.org/drawingml/2006/main">
              <a:ext uri="{FF2B5EF4-FFF2-40B4-BE49-F238E27FC236}">
                <a16:creationId xmlns:a16="http://schemas.microsoft.com/office/drawing/2014/main" id="{B09F4C8A-B64C-42C3-9426-C91191D850BA}"/>
              </a:ext>
            </a:extLst>
          </p:cNvPr>
          <p:cNvSpPr>
            <a:spLocks xmlns:a="http://schemas.openxmlformats.org/drawingml/2006/main" noGrp="1"/>
          </p:cNvSpPr>
          <p:nvPr/>
        </p:nvSpPr>
        <p:spPr>
          <a:xfrm xmlns:a="http://schemas.openxmlformats.org/drawingml/2006/main">
            <a:off x="6343650" y="3352800"/>
            <a:ext cx="5238750" cy="11811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resume_analysis</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developer_id FK, summary, strengths, missing_skills, extracted_skills, created_at</a:t>
            </a:r>
          </a:p>
        </p:txBody>
      </p:sp>
      <p:sp>
        <p:nvSpPr>
          <p:cNvPr id="9" name="">
            <a:extLst xmlns:a="http://schemas.openxmlformats.org/drawingml/2006/main">
              <a:ext uri="{FF2B5EF4-FFF2-40B4-BE49-F238E27FC236}">
                <a16:creationId xmlns:a16="http://schemas.microsoft.com/office/drawing/2014/main" id="{28B9EED2-EC17-4F43-8526-1F665A54B8C1}"/>
              </a:ext>
            </a:extLst>
          </p:cNvPr>
          <p:cNvSpPr>
            <a:spLocks xmlns:a="http://schemas.openxmlformats.org/drawingml/2006/main" noGrp="1"/>
          </p:cNvSpPr>
          <p:nvPr/>
        </p:nvSpPr>
        <p:spPr>
          <a:xfrm xmlns:a="http://schemas.openxmlformats.org/drawingml/2006/main">
            <a:off x="609600" y="4848225"/>
            <a:ext cx="109728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DE8"/>
            </a:solidFill>
          </a:ln>
        </p:spPr>
        <p:txBody>
          <a:bodyPr xmlns:a="http://schemas.openxmlformats.org/drawingml/2006/main" lIns="133350" tIns="133350" rIns="133350" bIns="133350" anchor="ctr">
            <a:noAutofit/>
          </a:bodyPr>
          <a:lstStyle xmlns:a="http://schemas.openxmlformats.org/drawingml/2006/main">
            <a:defPPr>
              <a:defRPr sz="1500">
                <a:solidFill>
                  <a:srgbClr val="15283F"/>
                </a:solidFill>
                <a:latin typeface="Arial"/>
                <a:ea typeface="Arial"/>
                <a:cs typeface="Arial"/>
              </a:defRPr>
            </a:defPPr>
          </a:lstStyle>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application_status_history (SQL audit extension)</a:t>
            </a:r>
          </a:p>
          <a:p xmlns:a="http://schemas.openxmlformats.org/drawingml/2006/main">
            <a:pPr>
              <a:defRPr sz="1500">
                <a:solidFill>
                  <a:srgbClr val="15283F"/>
                </a:solidFill>
                <a:latin typeface="Arial"/>
                <a:ea typeface="Arial"/>
                <a:cs typeface="Arial"/>
              </a:defRPr>
            </a:pPr>
            <a:r>
              <a:rPr sz="1500">
                <a:solidFill>
                  <a:srgbClr val="15283F"/>
                </a:solidFill>
                <a:latin typeface="Arial"/>
                <a:ea typeface="Arial"/>
                <a:cs typeface="Arial"/>
              </a:rPr>
              <a:t>id PK, application_id FK, old_status, new_status, changed_at</a:t>
            </a:r>
          </a:p>
        </p:txBody>
      </p:sp>
      <p:sp>
        <p:nvSpPr>
          <p:cNvPr id="13" name="">
            <a:extLst xmlns:a="http://schemas.openxmlformats.org/drawingml/2006/main">
              <a:ext uri="{FF2B5EF4-FFF2-40B4-BE49-F238E27FC236}">
                <a16:creationId xmlns:a16="http://schemas.microsoft.com/office/drawing/2014/main" id="{469CB493-1B78-4547-9B83-FCECBDFCEF84}"/>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980"/>
                </a:solidFill>
                <a:latin typeface="Arial"/>
                <a:ea typeface="Arial"/>
                <a:cs typeface="Arial"/>
              </a:defRPr>
            </a:defPPr>
          </a:lstStyle>
          <a:p xmlns:a="http://schemas.openxmlformats.org/drawingml/2006/main">
            <a:pPr>
              <a:defRPr sz="1350" b="0">
                <a:solidFill>
                  <a:srgbClr val="576980"/>
                </a:solidFill>
                <a:latin typeface="Arial"/>
                <a:ea typeface="Arial"/>
                <a:cs typeface="Arial"/>
              </a:defRPr>
            </a:pPr>
            <a:r>
              <a:rPr sz="1350" b="0">
                <a:solidFill>
                  <a:srgbClr val="576980"/>
                </a:solidFill>
                <a:latin typeface="Arial"/>
                <a:ea typeface="Arial"/>
                <a:cs typeface="Arial"/>
              </a:rPr>
              <a:t>FK parents: jobs / recruiter_profiles; job_skills / jobs; applications / developers and jobs; analysis / developers; history / applications</a:t>
            </a:r>
          </a:p>
        </p:txBody>
      </p:sp>
    </p:spTree>
    <p:extLst>
      <p:ext uri="{BB962C8B-B14F-4D97-AF65-F5344CB8AC3E}">
        <p14:creationId xmlns:p14="http://schemas.microsoft.com/office/powerpoint/2010/main" val="832211880"/>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12DF4D-6A92-46C5-A9D9-311A94FDB93A}"/>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94D12BD4-1B53-4906-B296-8E49E53C541B}"/>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ER-to-relational mapping</a:t>
            </a:r>
          </a:p>
        </p:txBody>
      </p:sp>
      <p:sp>
        <p:nvSpPr>
          <p:cNvPr id="3" name="">
            <a:extLst xmlns:a="http://schemas.openxmlformats.org/drawingml/2006/main">
              <a:ext uri="{FF2B5EF4-FFF2-40B4-BE49-F238E27FC236}">
                <a16:creationId xmlns:a16="http://schemas.microsoft.com/office/drawing/2014/main" id="{34188790-C485-4305-B3BA-FFD8B51BCF2E}"/>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D10BB475-C75B-4C79-AA00-00BFCE25BC44}"/>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95E4A03B-F3CD-41AE-8281-C79CEC0FA322}"/>
              </a:ext>
            </a:extLst>
          </p:cNvPr>
          <p:cNvGraphicFramePr/>
          <p:nvPr/>
        </p:nvGraphicFramePr>
        <p:xfrm>
          <a:off xmlns:a="http://schemas.openxmlformats.org/drawingml/2006/main" x="609600" y="1743075"/>
          <a:ext xmlns:a="http://schemas.openxmlformats.org/drawingml/2006/main" cx="10972800" cy="4010025"/>
        </p:xfrm>
        <a:graphic xmlns:a="http://schemas.openxmlformats.org/drawingml/2006/main">
          <a:graphicData uri="http://schemas.openxmlformats.org/drawingml/2006/table">
            <a:tbl>
              <a:tblPr/>
              <a:tblGrid>
                <a:gridCol w="2143125"/>
                <a:gridCol w="3952875"/>
                <a:gridCol w="4876800"/>
              </a:tblGrid>
              <a:tr h="668338">
                <a:tc>
                  <a:txBody>
                    <a:bodyPr lIns="95250" tIns="95250" rIns="95250" bIns="95250"/>
                    <a:lstStyle/>
                    <a:p>
                      <a:r>
                        <a:rPr sz="1650" b="1">
                          <a:solidFill>
                            <a:srgbClr val="FFFFFF"/>
                          </a:solidFill>
                          <a:latin typeface="Arial"/>
                          <a:ea typeface="Arial"/>
                          <a:cs typeface="Arial"/>
                        </a:rPr>
                        <a:t>Relationship</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Mapping rule</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Project example</a:t>
                      </a:r>
                    </a:p>
                  </a:txBody>
                  <a:tcPr marL="91440" marR="91440" marT="45720" marB="45720" anchor="ctr">
                    <a:solidFill>
                      <a:srgbClr val="10213A"/>
                    </a:solidFill>
                  </a:tcPr>
                </a:tc>
              </a:tr>
              <a:tr h="668338">
                <a:tc>
                  <a:txBody>
                    <a:bodyPr lIns="95250" tIns="95250" rIns="95250" bIns="95250"/>
                    <a:lstStyle/>
                    <a:p>
                      <a:r>
                        <a:rPr sz="1650" b="0">
                          <a:solidFill>
                            <a:srgbClr val="15283F"/>
                          </a:solidFill>
                          <a:latin typeface="Arial"/>
                          <a:ea typeface="Arial"/>
                          <a:cs typeface="Arial"/>
                        </a:rPr>
                        <a:t>Entity</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Create table with a primary key</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users.id</a:t>
                      </a:r>
                    </a:p>
                  </a:txBody>
                  <a:tcPr marL="91440" marR="91440" marT="45720" marB="45720" anchor="ctr">
                    <a:solidFill>
                      <a:srgbClr val="FFFFFF"/>
                    </a:solidFill>
                  </a:tcPr>
                </a:tc>
              </a:tr>
              <a:tr h="668338">
                <a:tc>
                  <a:txBody>
                    <a:bodyPr lIns="95250" tIns="95250" rIns="95250" bIns="95250"/>
                    <a:lstStyle/>
                    <a:p>
                      <a:r>
                        <a:rPr sz="1650" b="0">
                          <a:solidFill>
                            <a:srgbClr val="15283F"/>
                          </a:solidFill>
                          <a:latin typeface="Arial"/>
                          <a:ea typeface="Arial"/>
                          <a:cs typeface="Arial"/>
                        </a:rPr>
                        <a:t>1 : 0..1</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Unique FK in the profile table</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developer_profiles.user_id</a:t>
                      </a:r>
                    </a:p>
                  </a:txBody>
                  <a:tcPr marL="91440" marR="91440" marT="45720" marB="45720" anchor="ctr">
                    <a:solidFill>
                      <a:srgbClr val="EDF1F6"/>
                    </a:solidFill>
                  </a:tcPr>
                </a:tc>
              </a:tr>
              <a:tr h="668338">
                <a:tc>
                  <a:txBody>
                    <a:bodyPr lIns="95250" tIns="95250" rIns="95250" bIns="95250"/>
                    <a:lstStyle/>
                    <a:p>
                      <a:r>
                        <a:rPr sz="1650" b="0">
                          <a:solidFill>
                            <a:srgbClr val="15283F"/>
                          </a:solidFill>
                          <a:latin typeface="Arial"/>
                          <a:ea typeface="Arial"/>
                          <a:cs typeface="Arial"/>
                        </a:rPr>
                        <a:t>1 : N</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FK in the child table</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jobs.recruiter_id</a:t>
                      </a:r>
                    </a:p>
                  </a:txBody>
                  <a:tcPr marL="91440" marR="91440" marT="45720" marB="45720" anchor="ctr">
                    <a:solidFill>
                      <a:srgbClr val="FFFFFF"/>
                    </a:solidFill>
                  </a:tcPr>
                </a:tc>
              </a:tr>
              <a:tr h="668338">
                <a:tc>
                  <a:txBody>
                    <a:bodyPr lIns="95250" tIns="95250" rIns="95250" bIns="95250"/>
                    <a:lstStyle/>
                    <a:p>
                      <a:r>
                        <a:rPr sz="1650" b="0">
                          <a:solidFill>
                            <a:srgbClr val="15283F"/>
                          </a:solidFill>
                          <a:latin typeface="Arial"/>
                          <a:ea typeface="Arial"/>
                          <a:cs typeface="Arial"/>
                        </a:rPr>
                        <a:t>M : N</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Bridge table with both FKs</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applications</a:t>
                      </a:r>
                    </a:p>
                  </a:txBody>
                  <a:tcPr marL="91440" marR="91440" marT="45720" marB="45720" anchor="ctr">
                    <a:solidFill>
                      <a:srgbClr val="EDF1F6"/>
                    </a:solidFill>
                  </a:tcPr>
                </a:tc>
              </a:tr>
              <a:tr h="668338">
                <a:tc>
                  <a:txBody>
                    <a:bodyPr lIns="95250" tIns="95250" rIns="95250" bIns="95250"/>
                    <a:lstStyle/>
                    <a:p>
                      <a:r>
                        <a:rPr sz="1650" b="0">
                          <a:solidFill>
                            <a:srgbClr val="15283F"/>
                          </a:solidFill>
                          <a:latin typeface="Arial"/>
                          <a:ea typeface="Arial"/>
                          <a:cs typeface="Arial"/>
                        </a:rPr>
                        <a:t>Repeated value</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Separate child records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job_skills, project_technologies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4BEE392-B6AA-4C47-9A60-1C9D8C40D866}"/>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15BDF"/>
                </a:solidFill>
                <a:latin typeface="Arial"/>
                <a:ea typeface="Arial"/>
                <a:cs typeface="Arial"/>
              </a:defRPr>
            </a:defPPr>
          </a:lstStyle>
          <a:p xmlns:a="http://schemas.openxmlformats.org/drawingml/2006/main">
            <a:pPr>
              <a:defRPr sz="1875" b="1">
                <a:solidFill>
                  <a:srgbClr val="315BDF"/>
                </a:solidFill>
                <a:latin typeface="Arial"/>
                <a:ea typeface="Arial"/>
                <a:cs typeface="Arial"/>
              </a:defRPr>
            </a:pPr>
            <a:r>
              <a:rPr sz="1875" b="1">
                <a:solidFill>
                  <a:srgbClr val="315BDF"/>
                </a:solidFill>
                <a:latin typeface="Arial"/>
                <a:ea typeface="Arial"/>
                <a:cs typeface="Arial"/>
              </a:rPr>
              <a:t>UNIQUE (developer_id, job_id) allows one application per developer per job</a:t>
            </a:r>
          </a:p>
        </p:txBody>
      </p:sp>
    </p:spTree>
    <p:extLst>
      <p:ext uri="{BB962C8B-B14F-4D97-AF65-F5344CB8AC3E}">
        <p14:creationId xmlns:p14="http://schemas.microsoft.com/office/powerpoint/2010/main" val="1517863856"/>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4F4B0A-5D7E-422C-A10D-E2A65533093C}"/>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
            <a:extLst xmlns:a="http://schemas.openxmlformats.org/drawingml/2006/main">
              <a:ext uri="{FF2B5EF4-FFF2-40B4-BE49-F238E27FC236}">
                <a16:creationId xmlns:a16="http://schemas.microsoft.com/office/drawing/2014/main" id="{966306D2-5776-477A-AC1C-0521661EB53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Normalization of the relations</a:t>
            </a:r>
          </a:p>
        </p:txBody>
      </p:sp>
      <p:sp>
        <p:nvSpPr>
          <p:cNvPr id="3" name="">
            <a:extLst xmlns:a="http://schemas.openxmlformats.org/drawingml/2006/main">
              <a:ext uri="{FF2B5EF4-FFF2-40B4-BE49-F238E27FC236}">
                <a16:creationId xmlns:a16="http://schemas.microsoft.com/office/drawing/2014/main" id="{7EEF9313-27AC-474A-A906-F699C6173A4F}"/>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CC7DCC82-1C43-483C-B94A-2B744FD4141B}"/>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D57F393C-1664-4EE7-9302-AE8CABAC9F46}"/>
              </a:ext>
            </a:extLst>
          </p:cNvPr>
          <p:cNvSpPr>
            <a:spLocks xmlns:a="http://schemas.openxmlformats.org/drawingml/2006/main" noGrp="1"/>
          </p:cNvSpPr>
          <p:nvPr/>
        </p:nvSpPr>
        <p:spPr>
          <a:xfrm xmlns:a="http://schemas.openxmlformats.org/drawingml/2006/main">
            <a:off x="609600"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1NF: one skill or technology per child row</a:t>
            </a:r>
          </a:p>
        </p:txBody>
      </p:sp>
      <p:sp>
        <p:nvSpPr>
          <p:cNvPr id="6" name="">
            <a:extLst xmlns:a="http://schemas.openxmlformats.org/drawingml/2006/main">
              <a:ext uri="{FF2B5EF4-FFF2-40B4-BE49-F238E27FC236}">
                <a16:creationId xmlns:a16="http://schemas.microsoft.com/office/drawing/2014/main" id="{B6D45827-5B7D-45B6-BA5C-C5A991349BE7}"/>
              </a:ext>
            </a:extLst>
          </p:cNvPr>
          <p:cNvSpPr>
            <a:spLocks xmlns:a="http://schemas.openxmlformats.org/drawingml/2006/main" noGrp="1"/>
          </p:cNvSpPr>
          <p:nvPr/>
        </p:nvSpPr>
        <p:spPr>
          <a:xfrm xmlns:a="http://schemas.openxmlformats.org/drawingml/2006/main">
            <a:off x="609600" y="2143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job_skills and project_technologies replace comma-separated operational lists.</a:t>
            </a:r>
          </a:p>
        </p:txBody>
      </p:sp>
      <p:sp>
        <p:nvSpPr>
          <p:cNvPr id="7" name="">
            <a:extLst xmlns:a="http://schemas.openxmlformats.org/drawingml/2006/main">
              <a:ext uri="{FF2B5EF4-FFF2-40B4-BE49-F238E27FC236}">
                <a16:creationId xmlns:a16="http://schemas.microsoft.com/office/drawing/2014/main" id="{01E7EC70-4E4D-4DAE-B907-ED3D7551F042}"/>
              </a:ext>
            </a:extLst>
          </p:cNvPr>
          <p:cNvSpPr>
            <a:spLocks xmlns:a="http://schemas.openxmlformats.org/drawingml/2006/main" noGrp="1"/>
          </p:cNvSpPr>
          <p:nvPr/>
        </p:nvSpPr>
        <p:spPr>
          <a:xfrm xmlns:a="http://schemas.openxmlformats.org/drawingml/2006/main">
            <a:off x="609600" y="3209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2NF: facts depend on the complete key</a:t>
            </a:r>
          </a:p>
        </p:txBody>
      </p:sp>
      <p:sp>
        <p:nvSpPr>
          <p:cNvPr id="8" name="">
            <a:extLst xmlns:a="http://schemas.openxmlformats.org/drawingml/2006/main">
              <a:ext uri="{FF2B5EF4-FFF2-40B4-BE49-F238E27FC236}">
                <a16:creationId xmlns:a16="http://schemas.microsoft.com/office/drawing/2014/main" id="{9FA9AF03-1263-4B4E-AE4C-624ADB44BA30}"/>
              </a:ext>
            </a:extLst>
          </p:cNvPr>
          <p:cNvSpPr>
            <a:spLocks xmlns:a="http://schemas.openxmlformats.org/drawingml/2006/main" noGrp="1"/>
          </p:cNvSpPr>
          <p:nvPr/>
        </p:nvSpPr>
        <p:spPr>
          <a:xfrm xmlns:a="http://schemas.openxmlformats.org/drawingml/2006/main">
            <a:off x="609600" y="3667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Skill level and years describe a developer-skill pair. Application status describes a developer-job application.</a:t>
            </a:r>
          </a:p>
        </p:txBody>
      </p:sp>
      <p:sp>
        <p:nvSpPr>
          <p:cNvPr id="9" name="">
            <a:extLst xmlns:a="http://schemas.openxmlformats.org/drawingml/2006/main">
              <a:ext uri="{FF2B5EF4-FFF2-40B4-BE49-F238E27FC236}">
                <a16:creationId xmlns:a16="http://schemas.microsoft.com/office/drawing/2014/main" id="{4A55C041-676E-444D-93CD-884F9485BE06}"/>
              </a:ext>
            </a:extLst>
          </p:cNvPr>
          <p:cNvSpPr>
            <a:spLocks xmlns:a="http://schemas.openxmlformats.org/drawingml/2006/main" noGrp="1"/>
          </p:cNvSpPr>
          <p:nvPr/>
        </p:nvSpPr>
        <p:spPr>
          <a:xfrm xmlns:a="http://schemas.openxmlformats.org/drawingml/2006/main">
            <a:off x="609600" y="4733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3NF: separate facts about separate entities</a:t>
            </a:r>
          </a:p>
        </p:txBody>
      </p:sp>
      <p:sp>
        <p:nvSpPr>
          <p:cNvPr id="10" name="">
            <a:extLst xmlns:a="http://schemas.openxmlformats.org/drawingml/2006/main">
              <a:ext uri="{FF2B5EF4-FFF2-40B4-BE49-F238E27FC236}">
                <a16:creationId xmlns:a16="http://schemas.microsoft.com/office/drawing/2014/main" id="{BF067861-25D8-43CC-A8BC-80EB8959DF12}"/>
              </a:ext>
            </a:extLst>
          </p:cNvPr>
          <p:cNvSpPr>
            <a:spLocks xmlns:a="http://schemas.openxmlformats.org/drawingml/2006/main" noGrp="1"/>
          </p:cNvSpPr>
          <p:nvPr/>
        </p:nvSpPr>
        <p:spPr>
          <a:xfrm xmlns:a="http://schemas.openxmlformats.org/drawingml/2006/main">
            <a:off x="609600" y="5191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User credentials, company details and job details stay in their own tables. Applications reference developers and jobs through foreign keys.</a:t>
            </a:r>
          </a:p>
        </p:txBody>
      </p:sp>
    </p:spTree>
    <p:extLst>
      <p:ext uri="{BB962C8B-B14F-4D97-AF65-F5344CB8AC3E}">
        <p14:creationId xmlns:p14="http://schemas.microsoft.com/office/powerpoint/2010/main" val="2076859423"/>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0DEFBA-23D9-444E-B074-A9F2DA3D34B9}"/>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04 / DBMS EVIDENCE</a:t>
            </a:r>
          </a:p>
        </p:txBody>
      </p:sp>
      <p:sp>
        <p:nvSpPr>
          <p:cNvPr id="2" name="">
            <a:extLst xmlns:a="http://schemas.openxmlformats.org/drawingml/2006/main">
              <a:ext uri="{FF2B5EF4-FFF2-40B4-BE49-F238E27FC236}">
                <a16:creationId xmlns:a16="http://schemas.microsoft.com/office/drawing/2014/main" id="{E70EBB51-D516-44AF-A135-7877E7C19AB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Table and record requirements</a:t>
            </a:r>
          </a:p>
        </p:txBody>
      </p:sp>
      <p:sp>
        <p:nvSpPr>
          <p:cNvPr id="3" name="">
            <a:extLst xmlns:a="http://schemas.openxmlformats.org/drawingml/2006/main">
              <a:ext uri="{FF2B5EF4-FFF2-40B4-BE49-F238E27FC236}">
                <a16:creationId xmlns:a16="http://schemas.microsoft.com/office/drawing/2014/main" id="{4B08D6B1-F980-4AC3-8248-D1D286FF13F8}"/>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FE682D13-79D8-4161-A9AF-2198E59FB48A}"/>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99798BEB-606A-4F28-AA7A-B8BC984241BA}"/>
              </a:ext>
            </a:extLst>
          </p:cNvPr>
          <p:cNvGraphicFramePr/>
          <p:nvPr/>
        </p:nvGraphicFramePr>
        <p:xfrm>
          <a:off xmlns:a="http://schemas.openxmlformats.org/drawingml/2006/main" x="609600" y="1638300"/>
          <a:ext xmlns:a="http://schemas.openxmlformats.org/drawingml/2006/main" cx="10972800" cy="3981450"/>
        </p:xfrm>
        <a:graphic xmlns:a="http://schemas.openxmlformats.org/drawingml/2006/main">
          <a:graphicData uri="http://schemas.openxmlformats.org/drawingml/2006/table">
            <a:tbl>
              <a:tblPr/>
              <a:tblGrid>
                <a:gridCol w="5905500"/>
                <a:gridCol w="2000250"/>
                <a:gridCol w="3067050"/>
              </a:tblGrid>
              <a:tr h="497681">
                <a:tc>
                  <a:txBody>
                    <a:bodyPr lIns="95250" tIns="95250" rIns="95250" bIns="95250"/>
                    <a:lstStyle/>
                    <a:p>
                      <a:r>
                        <a:rPr sz="1650" b="1">
                          <a:solidFill>
                            <a:srgbClr val="FFFFFF"/>
                          </a:solidFill>
                          <a:latin typeface="Arial"/>
                          <a:ea typeface="Arial"/>
                          <a:cs typeface="Arial"/>
                        </a:rPr>
                        <a:t>Table</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Attributes</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Fresh demo seed rows</a:t>
                      </a:r>
                    </a:p>
                  </a:txBody>
                  <a:tcPr marL="91440" marR="91440" marT="45720" marB="45720" anchor="ctr">
                    <a:solidFill>
                      <a:srgbClr val="10213A"/>
                    </a:solidFill>
                  </a:tcPr>
                </a:tc>
              </a:tr>
              <a:tr h="497681">
                <a:tc>
                  <a:txBody>
                    <a:bodyPr lIns="95250" tIns="95250" rIns="95250" bIns="95250"/>
                    <a:lstStyle/>
                    <a:p>
                      <a:r>
                        <a:rPr sz="1650" b="0">
                          <a:solidFill>
                            <a:srgbClr val="15283F"/>
                          </a:solidFill>
                          <a:latin typeface="Arial"/>
                          <a:ea typeface="Arial"/>
                          <a:cs typeface="Arial"/>
                        </a:rPr>
                        <a:t>users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6</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10</a:t>
                      </a:r>
                    </a:p>
                  </a:txBody>
                  <a:tcPr marL="91440" marR="91440" marT="45720" marB="45720" anchor="ctr">
                    <a:solidFill>
                      <a:srgbClr val="FFFFFF"/>
                    </a:solidFill>
                  </a:tcPr>
                </a:tc>
              </a:tr>
              <a:tr h="497681">
                <a:tc>
                  <a:txBody>
                    <a:bodyPr lIns="95250" tIns="95250" rIns="95250" bIns="95250"/>
                    <a:lstStyle/>
                    <a:p>
                      <a:r>
                        <a:rPr sz="1650" b="0">
                          <a:solidFill>
                            <a:srgbClr val="15283F"/>
                          </a:solidFill>
                          <a:latin typeface="Arial"/>
                          <a:ea typeface="Arial"/>
                          <a:cs typeface="Arial"/>
                        </a:rPr>
                        <a:t>developer_profiles / recruiter_profiles</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10 / 6</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5 each</a:t>
                      </a:r>
                    </a:p>
                  </a:txBody>
                  <a:tcPr marL="91440" marR="91440" marT="45720" marB="45720" anchor="ctr">
                    <a:solidFill>
                      <a:srgbClr val="EDF1F6"/>
                    </a:solidFill>
                  </a:tcPr>
                </a:tc>
              </a:tr>
              <a:tr h="497681">
                <a:tc>
                  <a:txBody>
                    <a:bodyPr lIns="95250" tIns="95250" rIns="95250" bIns="95250"/>
                    <a:lstStyle/>
                    <a:p>
                      <a:r>
                        <a:rPr sz="1650" b="0">
                          <a:solidFill>
                            <a:srgbClr val="15283F"/>
                          </a:solidFill>
                          <a:latin typeface="Arial"/>
                          <a:ea typeface="Arial"/>
                          <a:cs typeface="Arial"/>
                        </a:rPr>
                        <a:t>skills / projects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5 / 6</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15 / 5</a:t>
                      </a:r>
                    </a:p>
                  </a:txBody>
                  <a:tcPr marL="91440" marR="91440" marT="45720" marB="45720" anchor="ctr">
                    <a:solidFill>
                      <a:srgbClr val="FFFFFF"/>
                    </a:solidFill>
                  </a:tcPr>
                </a:tc>
              </a:tr>
              <a:tr h="497681">
                <a:tc>
                  <a:txBody>
                    <a:bodyPr lIns="95250" tIns="95250" rIns="95250" bIns="95250"/>
                    <a:lstStyle/>
                    <a:p>
                      <a:r>
                        <a:rPr sz="1650" b="0">
                          <a:solidFill>
                            <a:srgbClr val="15283F"/>
                          </a:solidFill>
                          <a:latin typeface="Arial"/>
                          <a:ea typeface="Arial"/>
                          <a:cs typeface="Arial"/>
                        </a:rPr>
                        <a:t>project_technologies</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6</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10</a:t>
                      </a:r>
                    </a:p>
                  </a:txBody>
                  <a:tcPr marL="91440" marR="91440" marT="45720" marB="45720" anchor="ctr">
                    <a:solidFill>
                      <a:srgbClr val="EDF1F6"/>
                    </a:solidFill>
                  </a:tcPr>
                </a:tc>
              </a:tr>
              <a:tr h="497681">
                <a:tc>
                  <a:txBody>
                    <a:bodyPr lIns="95250" tIns="95250" rIns="95250" bIns="95250"/>
                    <a:lstStyle/>
                    <a:p>
                      <a:r>
                        <a:rPr sz="1650" b="0">
                          <a:solidFill>
                            <a:srgbClr val="15283F"/>
                          </a:solidFill>
                          <a:latin typeface="Arial"/>
                          <a:ea typeface="Arial"/>
                          <a:cs typeface="Arial"/>
                        </a:rPr>
                        <a:t>jobs / job_skills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10 / 6</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5 / 15</a:t>
                      </a:r>
                    </a:p>
                  </a:txBody>
                  <a:tcPr marL="91440" marR="91440" marT="45720" marB="45720" anchor="ctr">
                    <a:solidFill>
                      <a:srgbClr val="FFFFFF"/>
                    </a:solidFill>
                  </a:tcPr>
                </a:tc>
              </a:tr>
              <a:tr h="497681">
                <a:tc>
                  <a:txBody>
                    <a:bodyPr lIns="95250" tIns="95250" rIns="95250" bIns="95250"/>
                    <a:lstStyle/>
                    <a:p>
                      <a:r>
                        <a:rPr sz="1650" b="0">
                          <a:solidFill>
                            <a:srgbClr val="15283F"/>
                          </a:solidFill>
                          <a:latin typeface="Arial"/>
                          <a:ea typeface="Arial"/>
                          <a:cs typeface="Arial"/>
                        </a:rPr>
                        <a:t>applications / resume_analysis</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5 / 7</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5 each</a:t>
                      </a:r>
                    </a:p>
                  </a:txBody>
                  <a:tcPr marL="91440" marR="91440" marT="45720" marB="45720" anchor="ctr">
                    <a:solidFill>
                      <a:srgbClr val="EDF1F6"/>
                    </a:solidFill>
                  </a:tcPr>
                </a:tc>
              </a:tr>
              <a:tr h="497681">
                <a:tc>
                  <a:txBody>
                    <a:bodyPr lIns="95250" tIns="95250" rIns="95250" bIns="95250"/>
                    <a:lstStyle/>
                    <a:p>
                      <a:r>
                        <a:rPr sz="1650" b="0">
                          <a:solidFill>
                            <a:srgbClr val="15283F"/>
                          </a:solidFill>
                          <a:latin typeface="Arial"/>
                          <a:ea typeface="Arial"/>
                          <a:cs typeface="Arial"/>
                        </a:rPr>
                        <a:t>application_status_history*</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5</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At least 5 after SQL backfill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88DDAD7-2F40-4109-A853-CFA0D5A22F3C}"/>
              </a:ext>
            </a:extLst>
          </p:cNvPr>
          <p:cNvSpPr>
            <a:spLocks xmlns:a="http://schemas.openxmlformats.org/drawingml/2006/main" noGrp="1"/>
          </p:cNvSpPr>
          <p:nvPr/>
        </p:nvSpPr>
        <p:spPr>
          <a:xfrm xmlns:a="http://schemas.openxmlformats.org/drawingml/2006/main">
            <a:off x="609600" y="5838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315BDF"/>
                </a:solidFill>
                <a:latin typeface="Arial"/>
                <a:ea typeface="Arial"/>
                <a:cs typeface="Arial"/>
              </a:defRPr>
            </a:defPPr>
          </a:lstStyle>
          <a:p xmlns:a="http://schemas.openxmlformats.org/drawingml/2006/main">
            <a:pPr>
              <a:defRPr sz="1800" b="1">
                <a:solidFill>
                  <a:srgbClr val="315BDF"/>
                </a:solidFill>
                <a:latin typeface="Arial"/>
                <a:ea typeface="Arial"/>
                <a:cs typeface="Arial"/>
              </a:defRPr>
            </a:pPr>
            <a:r>
              <a:rPr sz="1800" b="1">
                <a:solidFill>
                  <a:srgbClr val="315BDF"/>
                </a:solidFill>
                <a:latin typeface="Arial"/>
                <a:ea typeface="Arial"/>
                <a:cs typeface="Arial"/>
              </a:rPr>
              <a:t>10 application tables + 1 audit table. *Audit extension requires mysql_demo.sql.</a:t>
            </a:r>
          </a:p>
        </p:txBody>
      </p:sp>
    </p:spTree>
    <p:extLst>
      <p:ext uri="{BB962C8B-B14F-4D97-AF65-F5344CB8AC3E}">
        <p14:creationId xmlns:p14="http://schemas.microsoft.com/office/powerpoint/2010/main" val="334199908"/>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AB021C-EDD8-48FA-AC5E-770930B087FE}"/>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04 / DBMS EVIDENCE</a:t>
            </a:r>
          </a:p>
        </p:txBody>
      </p:sp>
      <p:sp>
        <p:nvSpPr>
          <p:cNvPr id="2" name="">
            <a:extLst xmlns:a="http://schemas.openxmlformats.org/drawingml/2006/main">
              <a:ext uri="{FF2B5EF4-FFF2-40B4-BE49-F238E27FC236}">
                <a16:creationId xmlns:a16="http://schemas.microsoft.com/office/drawing/2014/main" id="{3357E030-18DF-49C8-86B6-E3953208A5F3}"/>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Sample data: five related job records</a:t>
            </a:r>
          </a:p>
        </p:txBody>
      </p:sp>
      <p:sp>
        <p:nvSpPr>
          <p:cNvPr id="3" name="">
            <a:extLst xmlns:a="http://schemas.openxmlformats.org/drawingml/2006/main">
              <a:ext uri="{FF2B5EF4-FFF2-40B4-BE49-F238E27FC236}">
                <a16:creationId xmlns:a16="http://schemas.microsoft.com/office/drawing/2014/main" id="{72FEEA20-141A-4854-817D-2ED6B6D722DD}"/>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AC820D26-3D36-4722-A25C-BFACA625F197}"/>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4599AECC-8DCB-4AFE-9B7E-C5F0753297FE}"/>
              </a:ext>
            </a:extLst>
          </p:cNvPr>
          <p:cNvGraphicFramePr/>
          <p:nvPr/>
        </p:nvGraphicFramePr>
        <p:xfrm>
          <a:off xmlns:a="http://schemas.openxmlformats.org/drawingml/2006/main" x="609600" y="1819275"/>
          <a:ext xmlns:a="http://schemas.openxmlformats.org/drawingml/2006/main" cx="10972800" cy="3524250"/>
        </p:xfrm>
        <a:graphic xmlns:a="http://schemas.openxmlformats.org/drawingml/2006/main">
          <a:graphicData uri="http://schemas.openxmlformats.org/drawingml/2006/table">
            <a:tbl>
              <a:tblPr/>
              <a:tblGrid>
                <a:gridCol w="3619500"/>
                <a:gridCol w="2667000"/>
                <a:gridCol w="4686300"/>
              </a:tblGrid>
              <a:tr h="587375">
                <a:tc>
                  <a:txBody>
                    <a:bodyPr lIns="95250" tIns="95250" rIns="95250" bIns="95250"/>
                    <a:lstStyle/>
                    <a:p>
                      <a:r>
                        <a:rPr sz="1650" b="1">
                          <a:solidFill>
                            <a:srgbClr val="FFFFFF"/>
                          </a:solidFill>
                          <a:latin typeface="Arial"/>
                          <a:ea typeface="Arial"/>
                          <a:cs typeface="Arial"/>
                        </a:rPr>
                        <a:t>Job title</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Recruiter company</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Required skills</a:t>
                      </a:r>
                    </a:p>
                  </a:txBody>
                  <a:tcPr marL="91440" marR="91440" marT="45720" marB="45720" anchor="ctr">
                    <a:solidFill>
                      <a:srgbClr val="10213A"/>
                    </a:solidFill>
                  </a:tcPr>
                </a:tc>
              </a:tr>
              <a:tr h="587375">
                <a:tc>
                  <a:txBody>
                    <a:bodyPr lIns="95250" tIns="95250" rIns="95250" bIns="95250"/>
                    <a:lstStyle/>
                    <a:p>
                      <a:r>
                        <a:rPr sz="1650" b="0">
                          <a:solidFill>
                            <a:srgbClr val="15283F"/>
                          </a:solidFill>
                          <a:latin typeface="Arial"/>
                          <a:ea typeface="Arial"/>
                          <a:cs typeface="Arial"/>
                        </a:rPr>
                        <a:t>Python Backend Engineer</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Northstar Labs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Python, Flask, MySQL</a:t>
                      </a:r>
                    </a:p>
                  </a:txBody>
                  <a:tcPr marL="91440" marR="91440" marT="45720" marB="45720" anchor="ctr">
                    <a:solidFill>
                      <a:srgbClr val="FFFFFF"/>
                    </a:solidFill>
                  </a:tcPr>
                </a:tc>
              </a:tr>
              <a:tr h="587375">
                <a:tc>
                  <a:txBody>
                    <a:bodyPr lIns="95250" tIns="95250" rIns="95250" bIns="95250"/>
                    <a:lstStyle/>
                    <a:p>
                      <a:r>
                        <a:rPr sz="1650" b="0">
                          <a:solidFill>
                            <a:srgbClr val="15283F"/>
                          </a:solidFill>
                          <a:latin typeface="Arial"/>
                          <a:ea typeface="Arial"/>
                          <a:cs typeface="Arial"/>
                        </a:rPr>
                        <a:t>Frontend Developer</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Pixel Forge</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JavaScript, React, Git</a:t>
                      </a:r>
                    </a:p>
                  </a:txBody>
                  <a:tcPr marL="91440" marR="91440" marT="45720" marB="45720" anchor="ctr">
                    <a:solidFill>
                      <a:srgbClr val="EDF1F6"/>
                    </a:solidFill>
                  </a:tcPr>
                </a:tc>
              </a:tr>
              <a:tr h="587375">
                <a:tc>
                  <a:txBody>
                    <a:bodyPr lIns="95250" tIns="95250" rIns="95250" bIns="95250"/>
                    <a:lstStyle/>
                    <a:p>
                      <a:r>
                        <a:rPr sz="1650" b="0">
                          <a:solidFill>
                            <a:srgbClr val="15283F"/>
                          </a:solidFill>
                          <a:latin typeface="Arial"/>
                          <a:ea typeface="Arial"/>
                          <a:cs typeface="Arial"/>
                        </a:rPr>
                        <a:t>ML Engineer Intern</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Cloudline</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Python, Machine Learning, Pandas</a:t>
                      </a:r>
                    </a:p>
                  </a:txBody>
                  <a:tcPr marL="91440" marR="91440" marT="45720" marB="45720" anchor="ctr">
                    <a:solidFill>
                      <a:srgbClr val="FFFFFF"/>
                    </a:solidFill>
                  </a:tcPr>
                </a:tc>
              </a:tr>
              <a:tr h="587375">
                <a:tc>
                  <a:txBody>
                    <a:bodyPr lIns="95250" tIns="95250" rIns="95250" bIns="95250"/>
                    <a:lstStyle/>
                    <a:p>
                      <a:r>
                        <a:rPr sz="1650" b="0">
                          <a:solidFill>
                            <a:srgbClr val="15283F"/>
                          </a:solidFill>
                          <a:latin typeface="Arial"/>
                          <a:ea typeface="Arial"/>
                          <a:cs typeface="Arial"/>
                        </a:rPr>
                        <a:t>Java API Developer</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Vertex Systems</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Java, SQL, Docker</a:t>
                      </a:r>
                    </a:p>
                  </a:txBody>
                  <a:tcPr marL="91440" marR="91440" marT="45720" marB="45720" anchor="ctr">
                    <a:solidFill>
                      <a:srgbClr val="EDF1F6"/>
                    </a:solidFill>
                  </a:tcPr>
                </a:tc>
              </a:tr>
              <a:tr h="587375">
                <a:tc>
                  <a:txBody>
                    <a:bodyPr lIns="95250" tIns="95250" rIns="95250" bIns="95250"/>
                    <a:lstStyle/>
                    <a:p>
                      <a:r>
                        <a:rPr sz="1650" b="0">
                          <a:solidFill>
                            <a:srgbClr val="15283F"/>
                          </a:solidFill>
                          <a:latin typeface="Arial"/>
                          <a:ea typeface="Arial"/>
                          <a:cs typeface="Arial"/>
                        </a:rPr>
                        <a:t>Cloud Software Engineer</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Bright Data</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Python, AWS, JavaScript</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512BC22-D549-4ED7-97DF-3D7F306E8399}"/>
              </a:ext>
            </a:extLst>
          </p:cNvPr>
          <p:cNvSpPr>
            <a:spLocks xmlns:a="http://schemas.openxmlformats.org/drawingml/2006/main" noGrp="1"/>
          </p:cNvSpPr>
          <p:nvPr/>
        </p:nvSpPr>
        <p:spPr>
          <a:xfrm xmlns:a="http://schemas.openxmlformats.org/drawingml/2006/main">
            <a:off x="609600" y="5772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BDF"/>
                </a:solidFill>
                <a:latin typeface="Arial"/>
                <a:ea typeface="Arial"/>
                <a:cs typeface="Arial"/>
              </a:defRPr>
            </a:defPPr>
          </a:lstStyle>
          <a:p xmlns:a="http://schemas.openxmlformats.org/drawingml/2006/main">
            <a:pPr>
              <a:defRPr sz="1950" b="1">
                <a:solidFill>
                  <a:srgbClr val="315BDF"/>
                </a:solidFill>
                <a:latin typeface="Arial"/>
                <a:ea typeface="Arial"/>
                <a:cs typeface="Arial"/>
              </a:defRPr>
            </a:pPr>
            <a:r>
              <a:rPr sz="1950" b="1">
                <a:solidFill>
                  <a:srgbClr val="315BDF"/>
                </a:solidFill>
                <a:latin typeface="Arial"/>
                <a:ea typeface="Arial"/>
                <a:cs typeface="Arial"/>
              </a:rPr>
              <a:t>Each job references a recruiter. Each listed skill is a separate job_skills row.</a:t>
            </a:r>
          </a:p>
        </p:txBody>
      </p:sp>
    </p:spTree>
    <p:extLst>
      <p:ext uri="{BB962C8B-B14F-4D97-AF65-F5344CB8AC3E}">
        <p14:creationId xmlns:p14="http://schemas.microsoft.com/office/powerpoint/2010/main" val="1656683796"/>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2F5395-0BD3-4946-9947-D15A908510D6}"/>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04 / DBMS EVIDENCE</a:t>
            </a:r>
          </a:p>
        </p:txBody>
      </p:sp>
      <p:sp>
        <p:nvSpPr>
          <p:cNvPr id="2" name="">
            <a:extLst xmlns:a="http://schemas.openxmlformats.org/drawingml/2006/main">
              <a:ext uri="{FF2B5EF4-FFF2-40B4-BE49-F238E27FC236}">
                <a16:creationId xmlns:a16="http://schemas.microsoft.com/office/drawing/2014/main" id="{5A3A3E01-EC45-4237-810A-535084AFC4F9}"/>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Keys and integrity constraints</a:t>
            </a:r>
          </a:p>
        </p:txBody>
      </p:sp>
      <p:sp>
        <p:nvSpPr>
          <p:cNvPr id="3" name="">
            <a:extLst xmlns:a="http://schemas.openxmlformats.org/drawingml/2006/main">
              <a:ext uri="{FF2B5EF4-FFF2-40B4-BE49-F238E27FC236}">
                <a16:creationId xmlns:a16="http://schemas.microsoft.com/office/drawing/2014/main" id="{33E28E7C-E24F-4FD3-89B9-9FAA79A1597F}"/>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8D8C4273-B9D8-47BD-8F63-235922E351D1}"/>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535DB7D6-A296-4D70-9664-9D7B6E151055}"/>
              </a:ext>
            </a:extLst>
          </p:cNvPr>
          <p:cNvGraphicFramePr/>
          <p:nvPr/>
        </p:nvGraphicFramePr>
        <p:xfrm>
          <a:off xmlns:a="http://schemas.openxmlformats.org/drawingml/2006/main" x="609600" y="1743075"/>
          <a:ext xmlns:a="http://schemas.openxmlformats.org/drawingml/2006/main" cx="10972800" cy="3857625"/>
        </p:xfrm>
        <a:graphic xmlns:a="http://schemas.openxmlformats.org/drawingml/2006/main">
          <a:graphicData uri="http://schemas.openxmlformats.org/drawingml/2006/table">
            <a:tbl>
              <a:tblPr/>
              <a:tblGrid>
                <a:gridCol w="5334000"/>
                <a:gridCol w="5638800"/>
              </a:tblGrid>
              <a:tr h="642938">
                <a:tc>
                  <a:txBody>
                    <a:bodyPr lIns="95250" tIns="95250" rIns="95250" bIns="95250"/>
                    <a:lstStyle/>
                    <a:p>
                      <a:r>
                        <a:rPr sz="1650" b="1">
                          <a:solidFill>
                            <a:srgbClr val="FFFFFF"/>
                          </a:solidFill>
                          <a:latin typeface="Arial"/>
                          <a:ea typeface="Arial"/>
                          <a:cs typeface="Arial"/>
                        </a:rPr>
                        <a:t>Constraint</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Purpose</a:t>
                      </a:r>
                    </a:p>
                  </a:txBody>
                  <a:tcPr marL="91440" marR="91440" marT="45720" marB="45720" anchor="ctr">
                    <a:solidFill>
                      <a:srgbClr val="10213A"/>
                    </a:solidFill>
                  </a:tcPr>
                </a:tc>
              </a:tr>
              <a:tr h="642938">
                <a:tc>
                  <a:txBody>
                    <a:bodyPr lIns="95250" tIns="95250" rIns="95250" bIns="95250"/>
                    <a:lstStyle/>
                    <a:p>
                      <a:r>
                        <a:rPr sz="1650" b="0">
                          <a:solidFill>
                            <a:srgbClr val="15283F"/>
                          </a:solidFill>
                          <a:latin typeface="Arial"/>
                          <a:ea typeface="Arial"/>
                          <a:cs typeface="Arial"/>
                        </a:rPr>
                        <a:t>Primary key id on every table</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Identify each record uniquely</a:t>
                      </a:r>
                    </a:p>
                  </a:txBody>
                  <a:tcPr marL="91440" marR="91440" marT="45720" marB="45720" anchor="ctr">
                    <a:solidFill>
                      <a:srgbClr val="FFFFFF"/>
                    </a:solidFill>
                  </a:tcPr>
                </a:tc>
              </a:tr>
              <a:tr h="642938">
                <a:tc>
                  <a:txBody>
                    <a:bodyPr lIns="95250" tIns="95250" rIns="95250" bIns="95250"/>
                    <a:lstStyle/>
                    <a:p>
                      <a:r>
                        <a:rPr sz="1650" b="0">
                          <a:solidFill>
                            <a:srgbClr val="15283F"/>
                          </a:solidFill>
                          <a:latin typeface="Arial"/>
                          <a:ea typeface="Arial"/>
                          <a:cs typeface="Arial"/>
                        </a:rPr>
                        <a:t>Foreign keys between related tables</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Keep references tied to their parent entity</a:t>
                      </a:r>
                    </a:p>
                  </a:txBody>
                  <a:tcPr marL="91440" marR="91440" marT="45720" marB="45720" anchor="ctr">
                    <a:solidFill>
                      <a:srgbClr val="EDF1F6"/>
                    </a:solidFill>
                  </a:tcPr>
                </a:tc>
              </a:tr>
              <a:tr h="642938">
                <a:tc>
                  <a:txBody>
                    <a:bodyPr lIns="95250" tIns="95250" rIns="95250" bIns="95250"/>
                    <a:lstStyle/>
                    <a:p>
                      <a:r>
                        <a:rPr sz="1650" b="0">
                          <a:solidFill>
                            <a:srgbClr val="15283F"/>
                          </a:solidFill>
                          <a:latin typeface="Arial"/>
                          <a:ea typeface="Arial"/>
                          <a:cs typeface="Arial"/>
                        </a:rPr>
                        <a:t>Unique email and profile user_id</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Prevent duplicate accounts and same-role profiles</a:t>
                      </a:r>
                    </a:p>
                  </a:txBody>
                  <a:tcPr marL="91440" marR="91440" marT="45720" marB="45720" anchor="ctr">
                    <a:solidFill>
                      <a:srgbClr val="FFFFFF"/>
                    </a:solidFill>
                  </a:tcPr>
                </a:tc>
              </a:tr>
              <a:tr h="642938">
                <a:tc>
                  <a:txBody>
                    <a:bodyPr lIns="95250" tIns="95250" rIns="95250" bIns="95250"/>
                    <a:lstStyle/>
                    <a:p>
                      <a:r>
                        <a:rPr sz="1650" b="0">
                          <a:solidFill>
                            <a:srgbClr val="15283F"/>
                          </a:solidFill>
                          <a:latin typeface="Arial"/>
                          <a:ea typeface="Arial"/>
                          <a:cs typeface="Arial"/>
                        </a:rPr>
                        <a:t>Unique developer_id + job_id</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Prevent repeat applications to the same job</a:t>
                      </a:r>
                    </a:p>
                  </a:txBody>
                  <a:tcPr marL="91440" marR="91440" marT="45720" marB="45720" anchor="ctr">
                    <a:solidFill>
                      <a:srgbClr val="EDF1F6"/>
                    </a:solidFill>
                  </a:tcPr>
                </a:tc>
              </a:tr>
              <a:tr h="642938">
                <a:tc>
                  <a:txBody>
                    <a:bodyPr lIns="95250" tIns="95250" rIns="95250" bIns="95250"/>
                    <a:lstStyle/>
                    <a:p>
                      <a:r>
                        <a:rPr sz="1650" b="0">
                          <a:solidFill>
                            <a:srgbClr val="15283F"/>
                          </a:solidFill>
                          <a:latin typeface="Arial"/>
                          <a:ea typeface="Arial"/>
                          <a:cs typeface="Arial"/>
                        </a:rPr>
                        <a:t>Unique parent_id + skill/technology name</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Prevent duplicate values within a parent</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1A118FA-0A8A-43F4-907B-ECAB610B4379}"/>
              </a:ext>
            </a:extLst>
          </p:cNvPr>
          <p:cNvSpPr>
            <a:spLocks xmlns:a="http://schemas.openxmlformats.org/drawingml/2006/main" noGrp="1"/>
          </p:cNvSpPr>
          <p:nvPr/>
        </p:nvSpPr>
        <p:spPr>
          <a:xfrm xmlns:a="http://schemas.openxmlformats.org/drawingml/2006/main">
            <a:off x="609600" y="58959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76980"/>
                </a:solidFill>
                <a:latin typeface="Arial"/>
                <a:ea typeface="Arial"/>
                <a:cs typeface="Arial"/>
              </a:defRPr>
            </a:defPPr>
          </a:lstStyle>
          <a:p xmlns:a="http://schemas.openxmlformats.org/drawingml/2006/main">
            <a:pPr>
              <a:defRPr sz="1875" b="0">
                <a:solidFill>
                  <a:srgbClr val="576980"/>
                </a:solidFill>
                <a:latin typeface="Arial"/>
                <a:ea typeface="Arial"/>
                <a:cs typeface="Arial"/>
              </a:defRPr>
            </a:pPr>
            <a:r>
              <a:rPr sz="1875" b="0">
                <a:solidFill>
                  <a:srgbClr val="576980"/>
                </a:solidFill>
                <a:latin typeface="Arial"/>
                <a:ea typeface="Arial"/>
                <a:cs typeface="Arial"/>
              </a:rPr>
              <a:t>Application controls also check user roles, ownership and form submissions.</a:t>
            </a:r>
          </a:p>
        </p:txBody>
      </p:sp>
    </p:spTree>
    <p:extLst>
      <p:ext uri="{BB962C8B-B14F-4D97-AF65-F5344CB8AC3E}">
        <p14:creationId xmlns:p14="http://schemas.microsoft.com/office/powerpoint/2010/main" val="98241769"/>
      </p:ext>
    </p:extLst>
  </p:cSld>
</p:sld>
</file>

<file path=ppt/slides/slide1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5305B3-04F7-46E6-83F2-79E8782CB03F}"/>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05 / SQL COMMANDS</a:t>
            </a:r>
          </a:p>
        </p:txBody>
      </p:sp>
      <p:sp>
        <p:nvSpPr>
          <p:cNvPr id="2" name="">
            <a:extLst xmlns:a="http://schemas.openxmlformats.org/drawingml/2006/main">
              <a:ext uri="{FF2B5EF4-FFF2-40B4-BE49-F238E27FC236}">
                <a16:creationId xmlns:a16="http://schemas.microsoft.com/office/drawing/2014/main" id="{D0D1E5E6-AA0C-42A8-959E-E2659B2647F9}"/>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MySQL CRUD demonstration</a:t>
            </a:r>
          </a:p>
        </p:txBody>
      </p:sp>
      <p:sp>
        <p:nvSpPr>
          <p:cNvPr id="3" name="">
            <a:extLst xmlns:a="http://schemas.openxmlformats.org/drawingml/2006/main">
              <a:ext uri="{FF2B5EF4-FFF2-40B4-BE49-F238E27FC236}">
                <a16:creationId xmlns:a16="http://schemas.microsoft.com/office/drawing/2014/main" id="{3DBD2AA5-5A09-4602-9BB8-E1C6E38A0026}"/>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D0AAEC41-AEB8-4270-B6D8-8EF5E0D7CE07}"/>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D7DD6D67-47E6-4318-9835-839D7E116BE9}"/>
              </a:ext>
            </a:extLst>
          </p:cNvPr>
          <p:cNvSpPr>
            <a:spLocks xmlns:a="http://schemas.openxmlformats.org/drawingml/2006/main" noGrp="1"/>
          </p:cNvSpPr>
          <p:nvPr/>
        </p:nvSpPr>
        <p:spPr>
          <a:xfrm xmlns:a="http://schemas.openxmlformats.org/drawingml/2006/main">
            <a:off x="609600" y="1724025"/>
            <a:ext cx="109728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INSERT INTO jobs (recruiter_id, title, description, location)</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VALUES ((SELECT id FROM recruiter_profiles ORDER BY id LIMIT 1),</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        'Final Demo Job', 'DBMS demonstration', 'Bengaluru');</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SET @demo_job_id = LAST_INSERT_ID();</a:t>
            </a:r>
          </a:p>
          <a:p xmlns:a="http://schemas.openxmlformats.org/drawingml/2006/main">
            <a:r>
              <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SELECT id, title, location FROM jobs WHERE id = @demo_job_id;</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UPDATE jobs SET location = 'Hyderabad' WHERE id = @demo_job_id;</a:t>
            </a:r>
          </a:p>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DELETE FROM jobs WHERE id = @demo_job_id;</a:t>
            </a:r>
          </a:p>
        </p:txBody>
      </p:sp>
      <p:sp>
        <p:nvSpPr>
          <p:cNvPr id="6" name="">
            <a:extLst xmlns:a="http://schemas.openxmlformats.org/drawingml/2006/main">
              <a:ext uri="{FF2B5EF4-FFF2-40B4-BE49-F238E27FC236}">
                <a16:creationId xmlns:a16="http://schemas.microsoft.com/office/drawing/2014/main" id="{F622F985-B596-42A8-82F8-8BE4453BEB46}"/>
              </a:ext>
            </a:extLst>
          </p:cNvPr>
          <p:cNvSpPr>
            <a:spLocks xmlns:a="http://schemas.openxmlformats.org/drawingml/2006/main" noGrp="1"/>
          </p:cNvSpPr>
          <p:nvPr/>
        </p:nvSpPr>
        <p:spPr>
          <a:xfrm xmlns:a="http://schemas.openxmlformats.org/drawingml/2006/main">
            <a:off x="609600" y="56483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315BDF"/>
                </a:solidFill>
                <a:latin typeface="Arial"/>
                <a:ea typeface="Arial"/>
                <a:cs typeface="Arial"/>
              </a:defRPr>
            </a:defPPr>
          </a:lstStyle>
          <a:p xmlns:a="http://schemas.openxmlformats.org/drawingml/2006/main">
            <a:pPr>
              <a:defRPr sz="2025" b="1">
                <a:solidFill>
                  <a:srgbClr val="315BDF"/>
                </a:solidFill>
                <a:latin typeface="Arial"/>
                <a:ea typeface="Arial"/>
                <a:cs typeface="Arial"/>
              </a:defRPr>
            </a:pPr>
            <a:r>
              <a:rPr sz="2025" b="1">
                <a:solidFill>
                  <a:srgbClr val="315BDF"/>
                </a:solidFill>
                <a:latin typeface="Arial"/>
                <a:ea typeface="Arial"/>
                <a:cs typeface="Arial"/>
              </a:rPr>
              <a:t>Refresh /dbms-demo after each committed change to show insert, update and delete.</a:t>
            </a:r>
          </a:p>
        </p:txBody>
      </p:sp>
    </p:spTree>
    <p:extLst>
      <p:ext uri="{BB962C8B-B14F-4D97-AF65-F5344CB8AC3E}">
        <p14:creationId xmlns:p14="http://schemas.microsoft.com/office/powerpoint/2010/main" val="1327656015"/>
      </p:ext>
    </p:extLst>
  </p:cSld>
</p:sld>
</file>

<file path=ppt/slides/slide1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D4292A-934F-44ED-98F3-7955C1927461}"/>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05 / SQL COMMANDS</a:t>
            </a:r>
          </a:p>
        </p:txBody>
      </p:sp>
      <p:sp>
        <p:nvSpPr>
          <p:cNvPr id="2" name="">
            <a:extLst xmlns:a="http://schemas.openxmlformats.org/drawingml/2006/main">
              <a:ext uri="{FF2B5EF4-FFF2-40B4-BE49-F238E27FC236}">
                <a16:creationId xmlns:a16="http://schemas.microsoft.com/office/drawing/2014/main" id="{E888F512-B273-40CF-A75E-208DBDE05769}"/>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SELECT, JOIN, LIKE and aggregation</a:t>
            </a:r>
          </a:p>
        </p:txBody>
      </p:sp>
      <p:sp>
        <p:nvSpPr>
          <p:cNvPr id="3" name="">
            <a:extLst xmlns:a="http://schemas.openxmlformats.org/drawingml/2006/main">
              <a:ext uri="{FF2B5EF4-FFF2-40B4-BE49-F238E27FC236}">
                <a16:creationId xmlns:a16="http://schemas.microsoft.com/office/drawing/2014/main" id="{905C7BAC-0B8D-47B7-B15E-877B291EB40D}"/>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D66028A0-65FB-4727-B733-1F6004217BCC}"/>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5FAC5ADD-828E-4EED-8F91-7E996C5BED62}"/>
              </a:ext>
            </a:extLst>
          </p:cNvPr>
          <p:cNvSpPr>
            <a:spLocks xmlns:a="http://schemas.openxmlformats.org/drawingml/2006/main" noGrp="1"/>
          </p:cNvSpPr>
          <p:nvPr/>
        </p:nvSpPr>
        <p:spPr>
          <a:xfrm xmlns:a="http://schemas.openxmlformats.org/drawingml/2006/main">
            <a:off x="609600" y="1695450"/>
            <a:ext cx="109728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83F"/>
                </a:solidFill>
                <a:latin typeface="Arial"/>
                <a:ea typeface="Arial"/>
                <a:cs typeface="Arial"/>
              </a:defRPr>
            </a:defPPr>
          </a:lstStyle>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SELECT u.name, s.name AS skill, s.level</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FROM users u</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JOIN developer_profiles d ON d.user_id = u.id</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JOIN skills s ON s.developer_id = d.id</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WHERE s.name LIKE '%Python%'</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ORDER BY u.name;</a:t>
            </a:r>
          </a:p>
          <a:p xmlns:a="http://schemas.openxmlformats.org/drawingml/2006/main">
            <a:r>
              <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SELECT status, COUNT(*) AS total</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FROM applications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GROUP BY status ORDER BY total DESC;</a:t>
            </a:r>
          </a:p>
        </p:txBody>
      </p:sp>
      <p:sp>
        <p:nvSpPr>
          <p:cNvPr id="6" name="">
            <a:extLst xmlns:a="http://schemas.openxmlformats.org/drawingml/2006/main">
              <a:ext uri="{FF2B5EF4-FFF2-40B4-BE49-F238E27FC236}">
                <a16:creationId xmlns:a16="http://schemas.microsoft.com/office/drawing/2014/main" id="{A7B5256A-DEDA-4B37-B370-FA93397AE06E}"/>
              </a:ext>
            </a:extLst>
          </p:cNvPr>
          <p:cNvSpPr>
            <a:spLocks xmlns:a="http://schemas.openxmlformats.org/drawingml/2006/main" noGrp="1"/>
          </p:cNvSpPr>
          <p:nvPr/>
        </p:nvSpPr>
        <p:spPr>
          <a:xfrm xmlns:a="http://schemas.openxmlformats.org/drawingml/2006/main">
            <a:off x="609600" y="58293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BDF"/>
                </a:solidFill>
                <a:latin typeface="Arial"/>
                <a:ea typeface="Arial"/>
                <a:cs typeface="Arial"/>
              </a:defRPr>
            </a:defPPr>
          </a:lstStyle>
          <a:p xmlns:a="http://schemas.openxmlformats.org/drawingml/2006/main">
            <a:pPr>
              <a:defRPr sz="1950" b="1">
                <a:solidFill>
                  <a:srgbClr val="315BDF"/>
                </a:solidFill>
                <a:latin typeface="Arial"/>
                <a:ea typeface="Arial"/>
                <a:cs typeface="Arial"/>
              </a:defRPr>
            </a:pPr>
            <a:r>
              <a:rPr sz="1950" b="1">
                <a:solidFill>
                  <a:srgbClr val="315BDF"/>
                </a:solidFill>
                <a:latin typeface="Arial"/>
                <a:ea typeface="Arial"/>
                <a:cs typeface="Arial"/>
              </a:rPr>
              <a:t>Search candidate skills and summarize application decisions with relational queries.</a:t>
            </a:r>
          </a:p>
        </p:txBody>
      </p:sp>
    </p:spTree>
    <p:extLst>
      <p:ext uri="{BB962C8B-B14F-4D97-AF65-F5344CB8AC3E}">
        <p14:creationId xmlns:p14="http://schemas.microsoft.com/office/powerpoint/2010/main" val="560547542"/>
      </p:ext>
    </p:extLst>
  </p:cSld>
</p:sld>
</file>

<file path=ppt/slides/slide1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1BB4AD-0C9A-4E8C-9B1B-142CCAB36A7F}"/>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05 / SQL COMMANDS</a:t>
            </a:r>
          </a:p>
        </p:txBody>
      </p:sp>
      <p:sp>
        <p:nvSpPr>
          <p:cNvPr id="2" name="">
            <a:extLst xmlns:a="http://schemas.openxmlformats.org/drawingml/2006/main">
              <a:ext uri="{FF2B5EF4-FFF2-40B4-BE49-F238E27FC236}">
                <a16:creationId xmlns:a16="http://schemas.microsoft.com/office/drawing/2014/main" id="{07A43E75-F862-4694-A7FB-843A454D159C}"/>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ALTER, MODIFY and VIEW</a:t>
            </a:r>
          </a:p>
        </p:txBody>
      </p:sp>
      <p:sp>
        <p:nvSpPr>
          <p:cNvPr id="3" name="">
            <a:extLst xmlns:a="http://schemas.openxmlformats.org/drawingml/2006/main">
              <a:ext uri="{FF2B5EF4-FFF2-40B4-BE49-F238E27FC236}">
                <a16:creationId xmlns:a16="http://schemas.microsoft.com/office/drawing/2014/main" id="{0FBC2C1F-909B-4E3F-8ACF-C292C5DAA139}"/>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DF79FFC2-8AD4-40BD-96E4-D0A87C58E9E3}"/>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5C88E92D-C271-4AB7-A927-39A254B2151D}"/>
              </a:ext>
            </a:extLst>
          </p:cNvPr>
          <p:cNvSpPr>
            <a:spLocks xmlns:a="http://schemas.openxmlformats.org/drawingml/2006/main" noGrp="1"/>
          </p:cNvSpPr>
          <p:nvPr/>
        </p:nvSpPr>
        <p:spPr>
          <a:xfrm xmlns:a="http://schemas.openxmlformats.org/drawingml/2006/main">
            <a:off x="609600" y="1695450"/>
            <a:ext cx="10972800" cy="422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83F"/>
                </a:solidFill>
                <a:latin typeface="Arial"/>
                <a:ea typeface="Arial"/>
                <a:cs typeface="Arial"/>
              </a:defRPr>
            </a:defPPr>
          </a:lstStyle>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ALTER TABLE jobs</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MODIFY COLUMN salary VARCHAR(150) NULL DEFAULT 'Not disclosed';</a:t>
            </a:r>
          </a:p>
          <a:p xmlns:a="http://schemas.openxmlformats.org/drawingml/2006/main">
            <a:r>
              <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CREATE OR REPLACE VIEW job_application_summary AS</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SELECT j.id AS job_id, j.title, r.company_name,</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       COUNT(a.id) AS applicant_count</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FROM jobs j</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JOIN recruiter_profiles r ON r.id = j.recruiter_id</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LEFT JOIN applications a ON a.job_id = j.id</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GROUP BY j.id, j.title, r.company_name;</a:t>
            </a:r>
          </a:p>
          <a:p xmlns:a="http://schemas.openxmlformats.org/drawingml/2006/main">
            <a:r>
              <a:t/>
            </a:r>
          </a:p>
          <a:p xmlns:a="http://schemas.openxmlformats.org/drawingml/2006/main">
            <a:pPr>
              <a:defRPr sz="1875" b="0">
                <a:solidFill>
                  <a:srgbClr val="15283F"/>
                </a:solidFill>
                <a:latin typeface="Arial"/>
                <a:ea typeface="Arial"/>
                <a:cs typeface="Arial"/>
              </a:defRPr>
            </a:pPr>
            <a:r>
              <a:rPr sz="1875" b="0">
                <a:solidFill>
                  <a:srgbClr val="15283F"/>
                </a:solidFill>
                <a:latin typeface="Arial"/>
                <a:ea typeface="Arial"/>
                <a:cs typeface="Arial"/>
              </a:rPr>
              <a:t>SELECT * FROM job_application_summary;</a:t>
            </a:r>
          </a:p>
        </p:txBody>
      </p:sp>
    </p:spTree>
    <p:extLst>
      <p:ext uri="{BB962C8B-B14F-4D97-AF65-F5344CB8AC3E}">
        <p14:creationId xmlns:p14="http://schemas.microsoft.com/office/powerpoint/2010/main" val="1305697718"/>
      </p:ext>
    </p:extLst>
  </p:cSld>
</p:sld>
</file>

<file path=ppt/slides/slide1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56CF15-1718-44F8-BCB6-47407BC089C8}"/>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05 / SQL COMMANDS</a:t>
            </a:r>
          </a:p>
        </p:txBody>
      </p:sp>
      <p:sp>
        <p:nvSpPr>
          <p:cNvPr id="2" name="">
            <a:extLst xmlns:a="http://schemas.openxmlformats.org/drawingml/2006/main">
              <a:ext uri="{FF2B5EF4-FFF2-40B4-BE49-F238E27FC236}">
                <a16:creationId xmlns:a16="http://schemas.microsoft.com/office/drawing/2014/main" id="{FA7B1E70-6777-4DB2-A019-A557DDC9FC6D}"/>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TRIGGER for application status history</a:t>
            </a:r>
          </a:p>
        </p:txBody>
      </p:sp>
      <p:sp>
        <p:nvSpPr>
          <p:cNvPr id="3" name="">
            <a:extLst xmlns:a="http://schemas.openxmlformats.org/drawingml/2006/main">
              <a:ext uri="{FF2B5EF4-FFF2-40B4-BE49-F238E27FC236}">
                <a16:creationId xmlns:a16="http://schemas.microsoft.com/office/drawing/2014/main" id="{8F4854A6-6DBB-4317-892E-76BF6662595D}"/>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F7F7311D-0813-4F77-A9A6-371B53873D53}"/>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3BF6906E-EE7C-4B00-8CF3-11C23F04BBA2}"/>
              </a:ext>
            </a:extLst>
          </p:cNvPr>
          <p:cNvSpPr>
            <a:spLocks xmlns:a="http://schemas.openxmlformats.org/drawingml/2006/main" noGrp="1"/>
          </p:cNvSpPr>
          <p:nvPr/>
        </p:nvSpPr>
        <p:spPr>
          <a:xfrm xmlns:a="http://schemas.openxmlformats.org/drawingml/2006/main">
            <a:off x="609600" y="1676400"/>
            <a:ext cx="10972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83F"/>
                </a:solidFill>
                <a:latin typeface="Arial"/>
                <a:ea typeface="Arial"/>
                <a:cs typeface="Arial"/>
              </a:defRPr>
            </a:defPPr>
          </a:lstStyle>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DELIMITER $$</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CREATE TRIGGER log_application_status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AFTER UPDATE ON applications FOR EACH ROW</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BEGIN</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IF OLD.status &lt;&gt; NEW.status THEN</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INSERT INTO application_status_history</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(application_id, old_status, new_status)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VALUES (NEW.id, OLD.status, NEW.status);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  END IF;</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END$$</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DELIMITER ;</a:t>
            </a:r>
          </a:p>
        </p:txBody>
      </p:sp>
      <p:sp>
        <p:nvSpPr>
          <p:cNvPr id="6" name="">
            <a:extLst xmlns:a="http://schemas.openxmlformats.org/drawingml/2006/main">
              <a:ext uri="{FF2B5EF4-FFF2-40B4-BE49-F238E27FC236}">
                <a16:creationId xmlns:a16="http://schemas.microsoft.com/office/drawing/2014/main" id="{26CFBC69-C5F6-4601-A0A2-BB961E498282}"/>
              </a:ext>
            </a:extLst>
          </p:cNvPr>
          <p:cNvSpPr>
            <a:spLocks xmlns:a="http://schemas.openxmlformats.org/drawingml/2006/main" noGrp="1"/>
          </p:cNvSpPr>
          <p:nvPr/>
        </p:nvSpPr>
        <p:spPr>
          <a:xfrm xmlns:a="http://schemas.openxmlformats.org/drawingml/2006/main">
            <a:off x="609600" y="57816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BDF"/>
                </a:solidFill>
                <a:latin typeface="Arial"/>
                <a:ea typeface="Arial"/>
                <a:cs typeface="Arial"/>
              </a:defRPr>
            </a:defPPr>
          </a:lstStyle>
          <a:p xmlns:a="http://schemas.openxmlformats.org/drawingml/2006/main">
            <a:pPr>
              <a:defRPr sz="1950" b="1">
                <a:solidFill>
                  <a:srgbClr val="315BDF"/>
                </a:solidFill>
                <a:latin typeface="Arial"/>
                <a:ea typeface="Arial"/>
                <a:cs typeface="Arial"/>
              </a:defRPr>
            </a:pPr>
            <a:r>
              <a:rPr sz="1950" b="1">
                <a:solidFill>
                  <a:srgbClr val="315BDF"/>
                </a:solidFill>
                <a:latin typeface="Arial"/>
                <a:ea typeface="Arial"/>
                <a:cs typeface="Arial"/>
              </a:rPr>
              <a:t>A saved status change creates an audit row with the old status, new status and time.</a:t>
            </a:r>
          </a:p>
        </p:txBody>
      </p:sp>
    </p:spTree>
    <p:extLst>
      <p:ext uri="{BB962C8B-B14F-4D97-AF65-F5344CB8AC3E}">
        <p14:creationId xmlns:p14="http://schemas.microsoft.com/office/powerpoint/2010/main" val="543218810"/>
      </p:ext>
    </p:extLst>
  </p:cSld>
</p:sld>
</file>

<file path=ppt/slides/slide1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35DC2E-4505-4E6C-B985-81193BE71538}"/>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06 / APPLICATION RESULTS</a:t>
            </a:r>
          </a:p>
        </p:txBody>
      </p:sp>
      <p:sp>
        <p:nvSpPr>
          <p:cNvPr id="2" name="">
            <a:extLst xmlns:a="http://schemas.openxmlformats.org/drawingml/2006/main">
              <a:ext uri="{FF2B5EF4-FFF2-40B4-BE49-F238E27FC236}">
                <a16:creationId xmlns:a16="http://schemas.microsoft.com/office/drawing/2014/main" id="{688EE2F6-A739-4716-A780-BBCA728DBA68}"/>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Developer dashboard</a:t>
            </a:r>
          </a:p>
        </p:txBody>
      </p:sp>
      <p:sp>
        <p:nvSpPr>
          <p:cNvPr id="3" name="">
            <a:extLst xmlns:a="http://schemas.openxmlformats.org/drawingml/2006/main">
              <a:ext uri="{FF2B5EF4-FFF2-40B4-BE49-F238E27FC236}">
                <a16:creationId xmlns:a16="http://schemas.microsoft.com/office/drawing/2014/main" id="{82C37EBB-6C65-457A-8D14-3042BB33DDDC}"/>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DB7FD300-AE6D-40D9-A8AC-74AC69BF18E1}"/>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18</a:t>
            </a:r>
          </a:p>
        </p:txBody>
      </p:sp>
      <p:pic>
        <p:nvPicPr>
          <p:cNvPr id="5" name="">
            <a:extLst xmlns:a="http://schemas.openxmlformats.org/drawingml/2006/main">
              <a:ext uri="{FF2B5EF4-FFF2-40B4-BE49-F238E27FC236}">
                <a16:creationId xmlns:a16="http://schemas.microsoft.com/office/drawing/2014/main" id="{80871E8E-F07A-4F43-8670-1D68C11C18DD}"/>
              </a:ext>
            </a:extLst>
          </p:cNvPr>
          <p:cNvPicPr>
            <a:picLocks xmlns:a="http://schemas.openxmlformats.org/drawingml/2006/main" noChangeAspect="1"/>
          </p:cNvPicPr>
          <p:nvPr/>
        </p:nvPicPr>
        <p:blipFill>
          <a:blip xmlns:r="http://schemas.openxmlformats.org/officeDocument/2006/relationships" xmlns:a="http://schemas.openxmlformats.org/drawingml/2006/main" r:embed="R32630d7345924673"/>
          <a:stretch xmlns:a="http://schemas.openxmlformats.org/drawingml/2006/main"/>
        </p:blipFill>
        <p:spPr>
          <a:xfrm xmlns:a="http://schemas.openxmlformats.org/drawingml/2006/main">
            <a:off x="1722783" y="1628775"/>
            <a:ext cx="8746435"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0BB184A-F4B7-42B3-81CD-ECEB6E62E7B5}"/>
              </a:ext>
            </a:extLst>
          </p:cNvPr>
          <p:cNvSpPr>
            <a:spLocks xmlns:a="http://schemas.openxmlformats.org/drawingml/2006/main" noGrp="1"/>
          </p:cNvSpPr>
          <p:nvPr/>
        </p:nvSpPr>
        <p:spPr>
          <a:xfrm xmlns:a="http://schemas.openxmlformats.org/drawingml/2006/main">
            <a:off x="609600" y="5915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BDF"/>
                </a:solidFill>
                <a:latin typeface="Arial"/>
                <a:ea typeface="Arial"/>
                <a:cs typeface="Arial"/>
              </a:defRPr>
            </a:defPPr>
          </a:lstStyle>
          <a:p xmlns:a="http://schemas.openxmlformats.org/drawingml/2006/main">
            <a:pPr>
              <a:defRPr sz="1950" b="1">
                <a:solidFill>
                  <a:srgbClr val="315BDF"/>
                </a:solidFill>
                <a:latin typeface="Arial"/>
                <a:ea typeface="Arial"/>
                <a:cs typeface="Arial"/>
              </a:defRPr>
            </a:pPr>
            <a:r>
              <a:rPr sz="1950" b="1">
                <a:solidFill>
                  <a:srgbClr val="315BDF"/>
                </a:solidFill>
                <a:latin typeface="Arial"/>
                <a:ea typeface="Arial"/>
                <a:cs typeface="Arial"/>
              </a:rPr>
              <a:t>Profile skills and application status come from related MySQL records.</a:t>
            </a:r>
          </a:p>
        </p:txBody>
      </p:sp>
    </p:spTree>
    <p:extLst>
      <p:ext uri="{BB962C8B-B14F-4D97-AF65-F5344CB8AC3E}">
        <p14:creationId xmlns:p14="http://schemas.microsoft.com/office/powerpoint/2010/main" val="1842069248"/>
      </p:ext>
    </p:extLst>
  </p:cSld>
</p:sld>
</file>

<file path=ppt/slides/slide1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C322EC-23B5-4656-A90E-70D4FC421AC8}"/>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06 / APPLICATION RESULTS</a:t>
            </a:r>
          </a:p>
        </p:txBody>
      </p:sp>
      <p:sp>
        <p:nvSpPr>
          <p:cNvPr id="2" name="">
            <a:extLst xmlns:a="http://schemas.openxmlformats.org/drawingml/2006/main">
              <a:ext uri="{FF2B5EF4-FFF2-40B4-BE49-F238E27FC236}">
                <a16:creationId xmlns:a16="http://schemas.microsoft.com/office/drawing/2014/main" id="{72C635A7-5FC8-4329-BE49-8FE80E38906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Job search and skill matching</a:t>
            </a:r>
          </a:p>
        </p:txBody>
      </p:sp>
      <p:sp>
        <p:nvSpPr>
          <p:cNvPr id="3" name="">
            <a:extLst xmlns:a="http://schemas.openxmlformats.org/drawingml/2006/main">
              <a:ext uri="{FF2B5EF4-FFF2-40B4-BE49-F238E27FC236}">
                <a16:creationId xmlns:a16="http://schemas.microsoft.com/office/drawing/2014/main" id="{A4938087-FB4D-413B-A937-93F9AA4669B8}"/>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89B470BE-4421-4327-92B3-243BE03C7CB2}"/>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19</a:t>
            </a:r>
          </a:p>
        </p:txBody>
      </p:sp>
      <p:pic>
        <p:nvPicPr>
          <p:cNvPr id="5" name="">
            <a:extLst xmlns:a="http://schemas.openxmlformats.org/drawingml/2006/main">
              <a:ext uri="{FF2B5EF4-FFF2-40B4-BE49-F238E27FC236}">
                <a16:creationId xmlns:a16="http://schemas.microsoft.com/office/drawing/2014/main" id="{7A4169BB-9CCE-4672-A837-6032F2BEB2B2}"/>
              </a:ext>
            </a:extLst>
          </p:cNvPr>
          <p:cNvPicPr>
            <a:picLocks xmlns:a="http://schemas.openxmlformats.org/drawingml/2006/main" noChangeAspect="1"/>
          </p:cNvPicPr>
          <p:nvPr/>
        </p:nvPicPr>
        <p:blipFill>
          <a:blip xmlns:r="http://schemas.openxmlformats.org/officeDocument/2006/relationships" xmlns:a="http://schemas.openxmlformats.org/drawingml/2006/main" r:embed="R8c0d1ae980e04cbc"/>
          <a:srcRect xmlns:a="http://schemas.openxmlformats.org/drawingml/2006/main" l="10000" t="46000" r="9000" b="2000"/>
          <a:stretch xmlns:a="http://schemas.openxmlformats.org/drawingml/2006/main"/>
        </p:blipFill>
        <p:spPr>
          <a:xfrm xmlns:a="http://schemas.openxmlformats.org/drawingml/2006/main">
            <a:off x="4095750" y="1571625"/>
            <a:ext cx="7486650"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A7AA0A-49AB-4187-8AF3-5DCE5749169F}"/>
              </a:ext>
            </a:extLst>
          </p:cNvPr>
          <p:cNvSpPr>
            <a:spLocks xmlns:a="http://schemas.openxmlformats.org/drawingml/2006/main" noGrp="1"/>
          </p:cNvSpPr>
          <p:nvPr/>
        </p:nvSpPr>
        <p:spPr>
          <a:xfrm xmlns:a="http://schemas.openxmlformats.org/drawingml/2006/main">
            <a:off x="609600" y="205740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15BDF"/>
                </a:solidFill>
                <a:latin typeface="Arial"/>
                <a:ea typeface="Arial"/>
                <a:cs typeface="Arial"/>
              </a:defRPr>
            </a:defPPr>
          </a:lstStyle>
          <a:p xmlns:a="http://schemas.openxmlformats.org/drawingml/2006/main">
            <a:pPr>
              <a:defRPr sz="2175" b="1">
                <a:solidFill>
                  <a:srgbClr val="315BDF"/>
                </a:solidFill>
                <a:latin typeface="Arial"/>
                <a:ea typeface="Arial"/>
                <a:cs typeface="Arial"/>
              </a:defRPr>
            </a:pPr>
            <a:r>
              <a:rPr sz="2175" b="1">
                <a:solidFill>
                  <a:srgbClr val="315BDF"/>
                </a:solidFill>
                <a:latin typeface="Arial"/>
                <a:ea typeface="Arial"/>
                <a:cs typeface="Arial"/>
              </a:rPr>
              <a:t>Search vacancies</a:t>
            </a:r>
          </a:p>
          <a:p xmlns:a="http://schemas.openxmlformats.org/drawingml/2006/main">
            <a:pPr>
              <a:defRPr sz="2175" b="1">
                <a:solidFill>
                  <a:srgbClr val="315BDF"/>
                </a:solidFill>
                <a:latin typeface="Arial"/>
                <a:ea typeface="Arial"/>
                <a:cs typeface="Arial"/>
              </a:defRPr>
            </a:pPr>
            <a:r>
              <a:rPr sz="2175" b="1">
                <a:solidFill>
                  <a:srgbClr val="315BDF"/>
                </a:solidFill>
                <a:latin typeface="Arial"/>
                <a:ea typeface="Arial"/>
                <a:cs typeface="Arial"/>
              </a:rPr>
              <a:t>by role, skill or location</a:t>
            </a:r>
          </a:p>
        </p:txBody>
      </p:sp>
      <p:sp>
        <p:nvSpPr>
          <p:cNvPr id="7" name="">
            <a:extLst xmlns:a="http://schemas.openxmlformats.org/drawingml/2006/main">
              <a:ext uri="{FF2B5EF4-FFF2-40B4-BE49-F238E27FC236}">
                <a16:creationId xmlns:a16="http://schemas.microsoft.com/office/drawing/2014/main" id="{BD896B03-9D0D-4A78-B38D-1EFE69A24212}"/>
              </a:ext>
            </a:extLst>
          </p:cNvPr>
          <p:cNvSpPr>
            <a:spLocks xmlns:a="http://schemas.openxmlformats.org/drawingml/2006/main" noGrp="1"/>
          </p:cNvSpPr>
          <p:nvPr/>
        </p:nvSpPr>
        <p:spPr>
          <a:xfrm xmlns:a="http://schemas.openxmlformats.org/drawingml/2006/main">
            <a:off x="609600" y="371475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83F"/>
                </a:solidFill>
                <a:latin typeface="Arial"/>
                <a:ea typeface="Arial"/>
                <a:cs typeface="Arial"/>
              </a:defRPr>
            </a:defPPr>
          </a:lstStyle>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Compare required skills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with profile and resume</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C5EF0698-5E18-4222-8DEC-D40391F9E2D8}"/>
              </a:ext>
            </a:extLst>
          </p:cNvPr>
          <p:cNvSpPr>
            <a:spLocks xmlns:a="http://schemas.openxmlformats.org/drawingml/2006/main" noGrp="1"/>
          </p:cNvSpPr>
          <p:nvPr/>
        </p:nvSpPr>
        <p:spPr>
          <a:xfrm xmlns:a="http://schemas.openxmlformats.org/drawingml/2006/main">
            <a:off x="4095750" y="6115050"/>
            <a:ext cx="742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980"/>
                </a:solidFill>
                <a:latin typeface="Arial"/>
                <a:ea typeface="Arial"/>
                <a:cs typeface="Arial"/>
              </a:defRPr>
            </a:defPPr>
          </a:lstStyle>
          <a:p xmlns:a="http://schemas.openxmlformats.org/drawingml/2006/main">
            <a:pPr>
              <a:defRPr sz="1350" b="0">
                <a:solidFill>
                  <a:srgbClr val="576980"/>
                </a:solidFill>
                <a:latin typeface="Arial"/>
                <a:ea typeface="Arial"/>
                <a:cs typeface="Arial"/>
              </a:defRPr>
            </a:pPr>
            <a:r>
              <a:rPr sz="1350" b="0">
                <a:solidFill>
                  <a:srgbClr val="576980"/>
                </a:solidFill>
                <a:latin typeface="Arial"/>
                <a:ea typeface="Arial"/>
                <a:cs typeface="Arial"/>
              </a:rPr>
              <a:t>Captured demo data</a:t>
            </a:r>
          </a:p>
        </p:txBody>
      </p:sp>
    </p:spTree>
    <p:extLst>
      <p:ext uri="{BB962C8B-B14F-4D97-AF65-F5344CB8AC3E}">
        <p14:creationId xmlns:p14="http://schemas.microsoft.com/office/powerpoint/2010/main" val="1652524638"/>
      </p:ext>
    </p:extLst>
  </p:cSld>
</p:sld>
</file>

<file path=ppt/slides/slide2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8EB3EC-ABCF-4347-B105-E35220051B91}"/>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06 / APPLICATION RESULTS</a:t>
            </a:r>
          </a:p>
        </p:txBody>
      </p:sp>
      <p:sp>
        <p:nvSpPr>
          <p:cNvPr id="2" name="">
            <a:extLst xmlns:a="http://schemas.openxmlformats.org/drawingml/2006/main">
              <a:ext uri="{FF2B5EF4-FFF2-40B4-BE49-F238E27FC236}">
                <a16:creationId xmlns:a16="http://schemas.microsoft.com/office/drawing/2014/main" id="{949C4005-6A17-48FC-BAA5-479987E0D9D4}"/>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Recruiter applicant review</a:t>
            </a:r>
          </a:p>
        </p:txBody>
      </p:sp>
      <p:sp>
        <p:nvSpPr>
          <p:cNvPr id="3" name="">
            <a:extLst xmlns:a="http://schemas.openxmlformats.org/drawingml/2006/main">
              <a:ext uri="{FF2B5EF4-FFF2-40B4-BE49-F238E27FC236}">
                <a16:creationId xmlns:a16="http://schemas.microsoft.com/office/drawing/2014/main" id="{14261FD6-89F1-4E2E-B19F-0F50876C7B5D}"/>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30515291-49CA-43E2-8D1B-351C3FF5A465}"/>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20</a:t>
            </a:r>
          </a:p>
        </p:txBody>
      </p:sp>
      <p:pic>
        <p:nvPicPr>
          <p:cNvPr id="5" name="">
            <a:extLst xmlns:a="http://schemas.openxmlformats.org/drawingml/2006/main">
              <a:ext uri="{FF2B5EF4-FFF2-40B4-BE49-F238E27FC236}">
                <a16:creationId xmlns:a16="http://schemas.microsoft.com/office/drawing/2014/main" id="{8B624519-A270-4736-BE3A-50AE13390251}"/>
              </a:ext>
            </a:extLst>
          </p:cNvPr>
          <p:cNvPicPr>
            <a:picLocks xmlns:a="http://schemas.openxmlformats.org/drawingml/2006/main" noChangeAspect="1"/>
          </p:cNvPicPr>
          <p:nvPr/>
        </p:nvPicPr>
        <p:blipFill>
          <a:blip xmlns:r="http://schemas.openxmlformats.org/officeDocument/2006/relationships" xmlns:a="http://schemas.openxmlformats.org/drawingml/2006/main" r:embed="R3fee3ae569824cfc"/>
          <a:srcRect xmlns:a="http://schemas.openxmlformats.org/drawingml/2006/main" l="10000" t="32000" r="38000" b="30000"/>
          <a:stretch xmlns:a="http://schemas.openxmlformats.org/drawingml/2006/main"/>
        </p:blipFill>
        <p:spPr>
          <a:xfrm xmlns:a="http://schemas.openxmlformats.org/drawingml/2006/main">
            <a:off x="4095750" y="1581150"/>
            <a:ext cx="7486650"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0B427BD-973C-4649-B813-06A6D87B1E27}"/>
              </a:ext>
            </a:extLst>
          </p:cNvPr>
          <p:cNvSpPr>
            <a:spLocks xmlns:a="http://schemas.openxmlformats.org/drawingml/2006/main" noGrp="1"/>
          </p:cNvSpPr>
          <p:nvPr/>
        </p:nvSpPr>
        <p:spPr>
          <a:xfrm xmlns:a="http://schemas.openxmlformats.org/drawingml/2006/main">
            <a:off x="609600" y="20383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315BDF"/>
                </a:solidFill>
                <a:latin typeface="Arial"/>
                <a:ea typeface="Arial"/>
                <a:cs typeface="Arial"/>
              </a:defRPr>
            </a:defPPr>
          </a:lstStyle>
          <a:p xmlns:a="http://schemas.openxmlformats.org/drawingml/2006/main">
            <a:pPr>
              <a:defRPr sz="2250" b="1">
                <a:solidFill>
                  <a:srgbClr val="315BDF"/>
                </a:solidFill>
                <a:latin typeface="Arial"/>
                <a:ea typeface="Arial"/>
                <a:cs typeface="Arial"/>
              </a:defRPr>
            </a:pPr>
            <a:r>
              <a:rPr sz="2250" b="1">
                <a:solidFill>
                  <a:srgbClr val="315BDF"/>
                </a:solidFill>
                <a:latin typeface="Arial"/>
                <a:ea typeface="Arial"/>
                <a:cs typeface="Arial"/>
              </a:rPr>
              <a:t>Review skill evidence</a:t>
            </a:r>
          </a:p>
        </p:txBody>
      </p:sp>
      <p:sp>
        <p:nvSpPr>
          <p:cNvPr id="7" name="">
            <a:extLst xmlns:a="http://schemas.openxmlformats.org/drawingml/2006/main">
              <a:ext uri="{FF2B5EF4-FFF2-40B4-BE49-F238E27FC236}">
                <a16:creationId xmlns:a16="http://schemas.microsoft.com/office/drawing/2014/main" id="{E282D022-E6EF-4349-AB88-7AFE4A976779}"/>
              </a:ext>
            </a:extLst>
          </p:cNvPr>
          <p:cNvSpPr>
            <a:spLocks xmlns:a="http://schemas.openxmlformats.org/drawingml/2006/main" noGrp="1"/>
          </p:cNvSpPr>
          <p:nvPr/>
        </p:nvSpPr>
        <p:spPr>
          <a:xfrm xmlns:a="http://schemas.openxmlformats.org/drawingml/2006/main">
            <a:off x="609600" y="3152775"/>
            <a:ext cx="3143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83F"/>
                </a:solidFill>
                <a:latin typeface="Arial"/>
                <a:ea typeface="Arial"/>
                <a:cs typeface="Arial"/>
              </a:defRPr>
            </a:defPPr>
          </a:lstStyle>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Inspect portfolios</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and resumes</a:t>
            </a:r>
          </a:p>
          <a:p xmlns:a="http://schemas.openxmlformats.org/drawingml/2006/main">
            <a:r>
              <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Update the application</a:t>
            </a:r>
          </a:p>
          <a:p xmlns:a="http://schemas.openxmlformats.org/drawingml/2006/main">
            <a:pPr>
              <a:defRPr sz="2025" b="0">
                <a:solidFill>
                  <a:srgbClr val="15283F"/>
                </a:solidFill>
                <a:latin typeface="Arial"/>
                <a:ea typeface="Arial"/>
                <a:cs typeface="Arial"/>
              </a:defRPr>
            </a:pPr>
            <a:r>
              <a:rPr sz="2025" b="0">
                <a:solidFill>
                  <a:srgbClr val="15283F"/>
                </a:solidFill>
                <a:latin typeface="Arial"/>
                <a:ea typeface="Arial"/>
                <a:cs typeface="Arial"/>
              </a:rPr>
              <a:t>status after review</a:t>
            </a:r>
          </a:p>
        </p:txBody>
      </p:sp>
      <p:sp>
        <p:nvSpPr>
          <p:cNvPr id="8" name="">
            <a:extLst xmlns:a="http://schemas.openxmlformats.org/drawingml/2006/main">
              <a:ext uri="{FF2B5EF4-FFF2-40B4-BE49-F238E27FC236}">
                <a16:creationId xmlns:a16="http://schemas.microsoft.com/office/drawing/2014/main" id="{1D1B72B2-46DA-4B6A-8426-7C628906E120}"/>
              </a:ext>
            </a:extLst>
          </p:cNvPr>
          <p:cNvSpPr>
            <a:spLocks xmlns:a="http://schemas.openxmlformats.org/drawingml/2006/main" noGrp="1"/>
          </p:cNvSpPr>
          <p:nvPr/>
        </p:nvSpPr>
        <p:spPr>
          <a:xfrm xmlns:a="http://schemas.openxmlformats.org/drawingml/2006/main">
            <a:off x="4095750" y="6124575"/>
            <a:ext cx="742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980"/>
                </a:solidFill>
                <a:latin typeface="Arial"/>
                <a:ea typeface="Arial"/>
                <a:cs typeface="Arial"/>
              </a:defRPr>
            </a:defPPr>
          </a:lstStyle>
          <a:p xmlns:a="http://schemas.openxmlformats.org/drawingml/2006/main">
            <a:pPr>
              <a:defRPr sz="1350" b="0">
                <a:solidFill>
                  <a:srgbClr val="576980"/>
                </a:solidFill>
                <a:latin typeface="Arial"/>
                <a:ea typeface="Arial"/>
                <a:cs typeface="Arial"/>
              </a:defRPr>
            </a:pPr>
            <a:r>
              <a:rPr sz="1350" b="0">
                <a:solidFill>
                  <a:srgbClr val="576980"/>
                </a:solidFill>
                <a:latin typeface="Arial"/>
                <a:ea typeface="Arial"/>
                <a:cs typeface="Arial"/>
              </a:rPr>
              <a:t>Captured demo data</a:t>
            </a:r>
          </a:p>
        </p:txBody>
      </p:sp>
    </p:spTree>
    <p:extLst>
      <p:ext uri="{BB962C8B-B14F-4D97-AF65-F5344CB8AC3E}">
        <p14:creationId xmlns:p14="http://schemas.microsoft.com/office/powerpoint/2010/main" val="1689936597"/>
      </p:ext>
    </p:extLst>
  </p:cSld>
</p:sld>
</file>

<file path=ppt/slides/slide2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58299B-416B-4DA8-AFC4-3BD85E8613EC}"/>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06 / APPLICATION RESULTS</a:t>
            </a:r>
          </a:p>
        </p:txBody>
      </p:sp>
      <p:sp>
        <p:nvSpPr>
          <p:cNvPr id="2" name="">
            <a:extLst xmlns:a="http://schemas.openxmlformats.org/drawingml/2006/main">
              <a:ext uri="{FF2B5EF4-FFF2-40B4-BE49-F238E27FC236}">
                <a16:creationId xmlns:a16="http://schemas.microsoft.com/office/drawing/2014/main" id="{11B35497-3E21-4EAB-8C42-5B04292DBBAF}"/>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Skill match calculation</a:t>
            </a:r>
          </a:p>
        </p:txBody>
      </p:sp>
      <p:sp>
        <p:nvSpPr>
          <p:cNvPr id="3" name="">
            <a:extLst xmlns:a="http://schemas.openxmlformats.org/drawingml/2006/main">
              <a:ext uri="{FF2B5EF4-FFF2-40B4-BE49-F238E27FC236}">
                <a16:creationId xmlns:a16="http://schemas.microsoft.com/office/drawing/2014/main" id="{DE4E0B98-5D26-478D-B20C-6B6B4D98463C}"/>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EB6E7F1A-F6FB-460A-A427-953DD03F6F75}"/>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05DC1FF4-4963-4818-955C-D6732BC97E9E}"/>
              </a:ext>
            </a:extLst>
          </p:cNvPr>
          <p:cNvSpPr>
            <a:spLocks xmlns:a="http://schemas.openxmlformats.org/drawingml/2006/main" noGrp="1"/>
          </p:cNvSpPr>
          <p:nvPr/>
        </p:nvSpPr>
        <p:spPr>
          <a:xfrm xmlns:a="http://schemas.openxmlformats.org/drawingml/2006/main">
            <a:off x="609600" y="18288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15BDF"/>
                </a:solidFill>
                <a:latin typeface="Arial"/>
                <a:ea typeface="Arial"/>
                <a:cs typeface="Arial"/>
              </a:defRPr>
            </a:defPPr>
          </a:lstStyle>
          <a:p xmlns:a="http://schemas.openxmlformats.org/drawingml/2006/main">
            <a:pPr>
              <a:defRPr sz="2625" b="1">
                <a:solidFill>
                  <a:srgbClr val="315BDF"/>
                </a:solidFill>
                <a:latin typeface="Arial"/>
                <a:ea typeface="Arial"/>
                <a:cs typeface="Arial"/>
              </a:defRPr>
            </a:pPr>
            <a:r>
              <a:rPr sz="2625" b="1">
                <a:solidFill>
                  <a:srgbClr val="315BDF"/>
                </a:solidFill>
                <a:latin typeface="Arial"/>
                <a:ea typeface="Arial"/>
                <a:cs typeface="Arial"/>
              </a:rPr>
              <a:t>Match (%) = matched required skills ÷ total required skills × 100</a:t>
            </a:r>
          </a:p>
        </p:txBody>
      </p:sp>
      <p:graphicFrame>
        <p:nvGraphicFramePr>
          <p:cNvPr id="6" name="">
            <a:extLst xmlns:a="http://schemas.openxmlformats.org/drawingml/2006/main">
              <a:ext uri="{FF2B5EF4-FFF2-40B4-BE49-F238E27FC236}">
                <a16:creationId xmlns:a16="http://schemas.microsoft.com/office/drawing/2014/main" id="{47206040-D8ED-4C8C-96FE-D48E02522170}"/>
              </a:ext>
            </a:extLst>
          </p:cNvPr>
          <p:cNvGraphicFramePr/>
          <p:nvPr/>
        </p:nvGraphicFramePr>
        <p:xfrm>
          <a:off xmlns:a="http://schemas.openxmlformats.org/drawingml/2006/main" x="609600" y="2981325"/>
          <a:ext xmlns:a="http://schemas.openxmlformats.org/drawingml/2006/main" cx="10972800" cy="2552700"/>
        </p:xfrm>
        <a:graphic xmlns:a="http://schemas.openxmlformats.org/drawingml/2006/main">
          <a:graphicData uri="http://schemas.openxmlformats.org/drawingml/2006/table">
            <a:tbl>
              <a:tblPr/>
              <a:tblGrid>
                <a:gridCol w="4429125"/>
                <a:gridCol w="6543675"/>
              </a:tblGrid>
              <a:tr h="510540">
                <a:tc>
                  <a:txBody>
                    <a:bodyPr lIns="95250" tIns="95250" rIns="95250" bIns="95250"/>
                    <a:lstStyle/>
                    <a:p>
                      <a:r>
                        <a:rPr sz="1650" b="1">
                          <a:solidFill>
                            <a:srgbClr val="FFFFFF"/>
                          </a:solidFill>
                          <a:latin typeface="Arial"/>
                          <a:ea typeface="Arial"/>
                          <a:cs typeface="Arial"/>
                        </a:rPr>
                        <a:t>Illustrative example</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Value</a:t>
                      </a:r>
                    </a:p>
                  </a:txBody>
                  <a:tcPr marL="91440" marR="91440" marT="45720" marB="45720" anchor="ctr">
                    <a:solidFill>
                      <a:srgbClr val="10213A"/>
                    </a:solidFill>
                  </a:tcPr>
                </a:tc>
              </a:tr>
              <a:tr h="510540">
                <a:tc>
                  <a:txBody>
                    <a:bodyPr lIns="95250" tIns="95250" rIns="95250" bIns="95250"/>
                    <a:lstStyle/>
                    <a:p>
                      <a:r>
                        <a:rPr sz="1650" b="0">
                          <a:solidFill>
                            <a:srgbClr val="15283F"/>
                          </a:solidFill>
                          <a:latin typeface="Arial"/>
                          <a:ea typeface="Arial"/>
                          <a:cs typeface="Arial"/>
                        </a:rPr>
                        <a:t>Job requirements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Python, Flask, MySQL</a:t>
                      </a:r>
                    </a:p>
                  </a:txBody>
                  <a:tcPr marL="91440" marR="91440" marT="45720" marB="45720" anchor="ctr">
                    <a:solidFill>
                      <a:srgbClr val="FFFFFF"/>
                    </a:solidFill>
                  </a:tcPr>
                </a:tc>
              </a:tr>
              <a:tr h="510540">
                <a:tc>
                  <a:txBody>
                    <a:bodyPr lIns="95250" tIns="95250" rIns="95250" bIns="95250"/>
                    <a:lstStyle/>
                    <a:p>
                      <a:r>
                        <a:rPr sz="1650" b="0">
                          <a:solidFill>
                            <a:srgbClr val="15283F"/>
                          </a:solidFill>
                          <a:latin typeface="Arial"/>
                          <a:ea typeface="Arial"/>
                          <a:cs typeface="Arial"/>
                        </a:rPr>
                        <a:t>Candidate evidence</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Python, Flask</a:t>
                      </a:r>
                    </a:p>
                  </a:txBody>
                  <a:tcPr marL="91440" marR="91440" marT="45720" marB="45720" anchor="ctr">
                    <a:solidFill>
                      <a:srgbClr val="EDF1F6"/>
                    </a:solidFill>
                  </a:tcPr>
                </a:tc>
              </a:tr>
              <a:tr h="510540">
                <a:tc>
                  <a:txBody>
                    <a:bodyPr lIns="95250" tIns="95250" rIns="95250" bIns="95250"/>
                    <a:lstStyle/>
                    <a:p>
                      <a:r>
                        <a:rPr sz="1650" b="0">
                          <a:solidFill>
                            <a:srgbClr val="15283F"/>
                          </a:solidFill>
                          <a:latin typeface="Arial"/>
                          <a:ea typeface="Arial"/>
                          <a:cs typeface="Arial"/>
                        </a:rPr>
                        <a:t>Result</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2 ÷ 3 × 100 = 66.7%</a:t>
                      </a:r>
                    </a:p>
                  </a:txBody>
                  <a:tcPr marL="91440" marR="91440" marT="45720" marB="45720" anchor="ctr">
                    <a:solidFill>
                      <a:srgbClr val="FFFFFF"/>
                    </a:solidFill>
                  </a:tcPr>
                </a:tc>
              </a:tr>
              <a:tr h="510540">
                <a:tc>
                  <a:txBody>
                    <a:bodyPr lIns="95250" tIns="95250" rIns="95250" bIns="95250"/>
                    <a:lstStyle/>
                    <a:p>
                      <a:r>
                        <a:rPr sz="1650" b="0">
                          <a:solidFill>
                            <a:srgbClr val="15283F"/>
                          </a:solidFill>
                          <a:latin typeface="Arial"/>
                          <a:ea typeface="Arial"/>
                          <a:cs typeface="Arial"/>
                        </a:rPr>
                        <a:t>Initial status for this example</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Rejected, because the score is at or below 70%</a:t>
                      </a:r>
                    </a:p>
                  </a:txBody>
                  <a:tcPr marL="91440" marR="91440" marT="45720" marB="45720" anchor="ctr">
                    <a:solidFill>
                      <a:srgbClr val="EDF1F6"/>
                    </a:solidFill>
                  </a:tcPr>
                </a:tc>
              </a:tr>
            </a:tbl>
          </a:graphicData>
        </a:graphic>
      </p:graphicFrame>
      <p:sp>
        <p:nvSpPr>
          <p:cNvPr id="7" name="">
            <a:extLst xmlns:a="http://schemas.openxmlformats.org/drawingml/2006/main">
              <a:ext uri="{FF2B5EF4-FFF2-40B4-BE49-F238E27FC236}">
                <a16:creationId xmlns:a16="http://schemas.microsoft.com/office/drawing/2014/main" id="{2B3CA08A-C6F0-4432-88C2-9B21036A28FD}"/>
              </a:ext>
            </a:extLst>
          </p:cNvPr>
          <p:cNvSpPr>
            <a:spLocks xmlns:a="http://schemas.openxmlformats.org/drawingml/2006/main" noGrp="1"/>
          </p:cNvSpPr>
          <p:nvPr/>
        </p:nvSpPr>
        <p:spPr>
          <a:xfrm xmlns:a="http://schemas.openxmlformats.org/drawingml/2006/main">
            <a:off x="609600" y="58388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76980"/>
                </a:solidFill>
                <a:latin typeface="Arial"/>
                <a:ea typeface="Arial"/>
                <a:cs typeface="Arial"/>
              </a:defRPr>
            </a:defPPr>
          </a:lstStyle>
          <a:p xmlns:a="http://schemas.openxmlformats.org/drawingml/2006/main">
            <a:pPr>
              <a:defRPr sz="1875" b="0">
                <a:solidFill>
                  <a:srgbClr val="576980"/>
                </a:solidFill>
                <a:latin typeface="Arial"/>
                <a:ea typeface="Arial"/>
                <a:cs typeface="Arial"/>
              </a:defRPr>
            </a:pPr>
            <a:r>
              <a:rPr sz="1875" b="0">
                <a:solidFill>
                  <a:srgbClr val="576980"/>
                </a:solidFill>
                <a:latin typeface="Arial"/>
                <a:ea typeface="Arial"/>
                <a:cs typeface="Arial"/>
              </a:rPr>
              <a:t>Above 70%: Shortlisted. Recruiters can change the initial status after review.</a:t>
            </a:r>
          </a:p>
        </p:txBody>
      </p:sp>
    </p:spTree>
    <p:extLst>
      <p:ext uri="{BB962C8B-B14F-4D97-AF65-F5344CB8AC3E}">
        <p14:creationId xmlns:p14="http://schemas.microsoft.com/office/powerpoint/2010/main" val="1341679761"/>
      </p:ext>
    </p:extLst>
  </p:cSld>
</p:sld>
</file>

<file path=ppt/slides/slide2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C497F8-30E0-442E-9306-E6D707B831AF}"/>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07 / LIVE DEMONSTRATION</a:t>
            </a:r>
          </a:p>
        </p:txBody>
      </p:sp>
      <p:sp>
        <p:nvSpPr>
          <p:cNvPr id="2" name="">
            <a:extLst xmlns:a="http://schemas.openxmlformats.org/drawingml/2006/main">
              <a:ext uri="{FF2B5EF4-FFF2-40B4-BE49-F238E27FC236}">
                <a16:creationId xmlns:a16="http://schemas.microsoft.com/office/drawing/2014/main" id="{18DEE8A6-D319-48CB-837A-C42E756939B6}"/>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Two-way website and MySQL demonstration</a:t>
            </a:r>
          </a:p>
        </p:txBody>
      </p:sp>
      <p:sp>
        <p:nvSpPr>
          <p:cNvPr id="3" name="">
            <a:extLst xmlns:a="http://schemas.openxmlformats.org/drawingml/2006/main">
              <a:ext uri="{FF2B5EF4-FFF2-40B4-BE49-F238E27FC236}">
                <a16:creationId xmlns:a16="http://schemas.microsoft.com/office/drawing/2014/main" id="{7909A24A-E778-4BAC-BCC7-C43E1744FAFE}"/>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C5923EB7-F430-47B0-94F2-3F68E8486A01}"/>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FB61D442-F882-4691-8B31-5663E8997383}"/>
              </a:ext>
            </a:extLst>
          </p:cNvPr>
          <p:cNvSpPr>
            <a:spLocks xmlns:a="http://schemas.openxmlformats.org/drawingml/2006/main" noGrp="1"/>
          </p:cNvSpPr>
          <p:nvPr/>
        </p:nvSpPr>
        <p:spPr>
          <a:xfrm xmlns:a="http://schemas.openxmlformats.org/drawingml/2006/main">
            <a:off x="609600"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1. Website changes appear in MySQL</a:t>
            </a:r>
          </a:p>
        </p:txBody>
      </p:sp>
      <p:sp>
        <p:nvSpPr>
          <p:cNvPr id="6" name="">
            <a:extLst xmlns:a="http://schemas.openxmlformats.org/drawingml/2006/main">
              <a:ext uri="{FF2B5EF4-FFF2-40B4-BE49-F238E27FC236}">
                <a16:creationId xmlns:a16="http://schemas.microsoft.com/office/drawing/2014/main" id="{FD97F18F-FF89-4638-845A-115FB4EA8EA8}"/>
              </a:ext>
            </a:extLst>
          </p:cNvPr>
          <p:cNvSpPr>
            <a:spLocks xmlns:a="http://schemas.openxmlformats.org/drawingml/2006/main" noGrp="1"/>
          </p:cNvSpPr>
          <p:nvPr/>
        </p:nvSpPr>
        <p:spPr>
          <a:xfrm xmlns:a="http://schemas.openxmlformats.org/drawingml/2006/main">
            <a:off x="609600" y="21431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Publish a dedicated test job. Use SELECT in MySQL to locate its title. Edit or delete it in the website and repeat SELECT.</a:t>
            </a:r>
          </a:p>
        </p:txBody>
      </p:sp>
      <p:sp>
        <p:nvSpPr>
          <p:cNvPr id="7" name="">
            <a:extLst xmlns:a="http://schemas.openxmlformats.org/drawingml/2006/main">
              <a:ext uri="{FF2B5EF4-FFF2-40B4-BE49-F238E27FC236}">
                <a16:creationId xmlns:a16="http://schemas.microsoft.com/office/drawing/2014/main" id="{5505AD17-431F-4DAF-A1A7-BC4080486CBE}"/>
              </a:ext>
            </a:extLst>
          </p:cNvPr>
          <p:cNvSpPr>
            <a:spLocks xmlns:a="http://schemas.openxmlformats.org/drawingml/2006/main" noGrp="1"/>
          </p:cNvSpPr>
          <p:nvPr/>
        </p:nvSpPr>
        <p:spPr>
          <a:xfrm xmlns:a="http://schemas.openxmlformats.org/drawingml/2006/main">
            <a:off x="609600" y="3333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2. MySQL changes appear in the website</a:t>
            </a:r>
          </a:p>
        </p:txBody>
      </p:sp>
      <p:sp>
        <p:nvSpPr>
          <p:cNvPr id="8" name="">
            <a:extLst xmlns:a="http://schemas.openxmlformats.org/drawingml/2006/main">
              <a:ext uri="{FF2B5EF4-FFF2-40B4-BE49-F238E27FC236}">
                <a16:creationId xmlns:a16="http://schemas.microsoft.com/office/drawing/2014/main" id="{AF38BDDF-C7EE-4517-893E-8997E039378C}"/>
              </a:ext>
            </a:extLst>
          </p:cNvPr>
          <p:cNvSpPr>
            <a:spLocks xmlns:a="http://schemas.openxmlformats.org/drawingml/2006/main" noGrp="1"/>
          </p:cNvSpPr>
          <p:nvPr/>
        </p:nvSpPr>
        <p:spPr>
          <a:xfrm xmlns:a="http://schemas.openxmlformats.org/drawingml/2006/main">
            <a:off x="609600" y="37909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Run the INSERT, UPDATE and DELETE examples on slide 14. Refresh /dbms-demo after each change.</a:t>
            </a:r>
          </a:p>
        </p:txBody>
      </p:sp>
      <p:sp>
        <p:nvSpPr>
          <p:cNvPr id="9" name="">
            <a:extLst xmlns:a="http://schemas.openxmlformats.org/drawingml/2006/main">
              <a:ext uri="{FF2B5EF4-FFF2-40B4-BE49-F238E27FC236}">
                <a16:creationId xmlns:a16="http://schemas.microsoft.com/office/drawing/2014/main" id="{1D740C08-DE84-42FA-9381-33C9E16FC5EF}"/>
              </a:ext>
            </a:extLst>
          </p:cNvPr>
          <p:cNvSpPr>
            <a:spLocks xmlns:a="http://schemas.openxmlformats.org/drawingml/2006/main" noGrp="1"/>
          </p:cNvSpPr>
          <p:nvPr/>
        </p:nvSpPr>
        <p:spPr>
          <a:xfrm xmlns:a="http://schemas.openxmlformats.org/drawingml/2006/main">
            <a:off x="609600" y="50196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15BDF"/>
                </a:solidFill>
                <a:latin typeface="Arial"/>
                <a:ea typeface="Arial"/>
                <a:cs typeface="Arial"/>
              </a:defRPr>
            </a:defPPr>
          </a:lstStyle>
          <a:p xmlns:a="http://schemas.openxmlformats.org/drawingml/2006/main">
            <a:pPr>
              <a:defRPr sz="2175" b="1">
                <a:solidFill>
                  <a:srgbClr val="315BDF"/>
                </a:solidFill>
                <a:latin typeface="Arial"/>
                <a:ea typeface="Arial"/>
                <a:cs typeface="Arial"/>
              </a:defRPr>
            </a:pPr>
            <a:r>
              <a:rPr sz="2175" b="1">
                <a:solidFill>
                  <a:srgbClr val="315BDF"/>
                </a:solidFill>
                <a:latin typeface="Arial"/>
                <a:ea typeface="Arial"/>
                <a:cs typeface="Arial"/>
              </a:rPr>
              <a:t>SELECT id, title, location FROM jobs</a:t>
            </a:r>
          </a:p>
          <a:p xmlns:a="http://schemas.openxmlformats.org/drawingml/2006/main">
            <a:pPr>
              <a:defRPr sz="2175" b="1">
                <a:solidFill>
                  <a:srgbClr val="315BDF"/>
                </a:solidFill>
                <a:latin typeface="Arial"/>
                <a:ea typeface="Arial"/>
                <a:cs typeface="Arial"/>
              </a:defRPr>
            </a:pPr>
            <a:r>
              <a:rPr sz="2175" b="1">
                <a:solidFill>
                  <a:srgbClr val="315BDF"/>
                </a:solidFill>
                <a:latin typeface="Arial"/>
                <a:ea typeface="Arial"/>
                <a:cs typeface="Arial"/>
              </a:rPr>
              <a:t>WHERE title = 'Final Demo Job';</a:t>
            </a:r>
          </a:p>
        </p:txBody>
      </p:sp>
    </p:spTree>
    <p:extLst>
      <p:ext uri="{BB962C8B-B14F-4D97-AF65-F5344CB8AC3E}">
        <p14:creationId xmlns:p14="http://schemas.microsoft.com/office/powerpoint/2010/main" val="504175722"/>
      </p:ext>
    </p:extLst>
  </p:cSld>
</p:sld>
</file>

<file path=ppt/slides/slide2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5AAEB4-D819-4969-BF25-FDDD3F836B60}"/>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07 / LIVE DEMONSTRATION</a:t>
            </a:r>
          </a:p>
        </p:txBody>
      </p:sp>
      <p:sp>
        <p:nvSpPr>
          <p:cNvPr id="2" name="">
            <a:extLst xmlns:a="http://schemas.openxmlformats.org/drawingml/2006/main">
              <a:ext uri="{FF2B5EF4-FFF2-40B4-BE49-F238E27FC236}">
                <a16:creationId xmlns:a16="http://schemas.microsoft.com/office/drawing/2014/main" id="{D14CA490-6D30-41C9-B165-3B03C1EBCEA8}"/>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Final review checklist</a:t>
            </a:r>
          </a:p>
        </p:txBody>
      </p:sp>
      <p:sp>
        <p:nvSpPr>
          <p:cNvPr id="3" name="">
            <a:extLst xmlns:a="http://schemas.openxmlformats.org/drawingml/2006/main">
              <a:ext uri="{FF2B5EF4-FFF2-40B4-BE49-F238E27FC236}">
                <a16:creationId xmlns:a16="http://schemas.microsoft.com/office/drawing/2014/main" id="{5BD82896-AC83-419C-B2BE-8D40E83C01C3}"/>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271751C7-49A9-4643-8AA6-85F1F1453EC6}"/>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1EB02E44-8F36-4B48-895D-C5EA9F571AAE}"/>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5095875"/>
                <a:gridCol w="5876925"/>
              </a:tblGrid>
              <a:tr h="571500">
                <a:tc>
                  <a:txBody>
                    <a:bodyPr lIns="95250" tIns="95250" rIns="95250" bIns="95250"/>
                    <a:lstStyle/>
                    <a:p>
                      <a:r>
                        <a:rPr sz="1650" b="1">
                          <a:solidFill>
                            <a:srgbClr val="FFFFFF"/>
                          </a:solidFill>
                          <a:latin typeface="Arial"/>
                          <a:ea typeface="Arial"/>
                          <a:cs typeface="Arial"/>
                        </a:rPr>
                        <a:t>Guideline requirement</a:t>
                      </a:r>
                    </a:p>
                  </a:txBody>
                  <a:tcPr marL="91440" marR="91440" marT="45720" marB="45720" anchor="ctr">
                    <a:solidFill>
                      <a:srgbClr val="10213A"/>
                    </a:solidFill>
                  </a:tcPr>
                </a:tc>
                <a:tc>
                  <a:txBody>
                    <a:bodyPr lIns="95250" tIns="95250" rIns="95250" bIns="95250"/>
                    <a:lstStyle/>
                    <a:p>
                      <a:r>
                        <a:rPr sz="1650" b="1">
                          <a:solidFill>
                            <a:srgbClr val="FFFFFF"/>
                          </a:solidFill>
                          <a:latin typeface="Arial"/>
                          <a:ea typeface="Arial"/>
                          <a:cs typeface="Arial"/>
                        </a:rPr>
                        <a:t>Evidence to show</a:t>
                      </a:r>
                    </a:p>
                  </a:txBody>
                  <a:tcPr marL="91440" marR="91440" marT="45720" marB="45720" anchor="ctr">
                    <a:solidFill>
                      <a:srgbClr val="10213A"/>
                    </a:solidFill>
                  </a:tcPr>
                </a:tc>
              </a:tr>
              <a:tr h="571500">
                <a:tc>
                  <a:txBody>
                    <a:bodyPr lIns="95250" tIns="95250" rIns="95250" bIns="95250"/>
                    <a:lstStyle/>
                    <a:p>
                      <a:r>
                        <a:rPr sz="1650" b="0">
                          <a:solidFill>
                            <a:srgbClr val="15283F"/>
                          </a:solidFill>
                          <a:latin typeface="Arial"/>
                          <a:ea typeface="Arial"/>
                          <a:cs typeface="Arial"/>
                        </a:rPr>
                        <a:t>At least 5 related entities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10 application tables with PK/FK links</a:t>
                      </a:r>
                    </a:p>
                  </a:txBody>
                  <a:tcPr marL="91440" marR="91440" marT="45720" marB="45720" anchor="ctr">
                    <a:solidFill>
                      <a:srgbClr val="FFFFFF"/>
                    </a:solidFill>
                  </a:tcPr>
                </a:tc>
              </a:tr>
              <a:tr h="571500">
                <a:tc>
                  <a:txBody>
                    <a:bodyPr lIns="95250" tIns="95250" rIns="95250" bIns="95250"/>
                    <a:lstStyle/>
                    <a:p>
                      <a:r>
                        <a:rPr sz="1650" b="0">
                          <a:solidFill>
                            <a:srgbClr val="15283F"/>
                          </a:solidFill>
                          <a:latin typeface="Arial"/>
                          <a:ea typeface="Arial"/>
                          <a:cs typeface="Arial"/>
                        </a:rPr>
                        <a:t>At least 5 attributes and rows per table</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Schema and fresh-seed inventory, then verify-dbms</a:t>
                      </a:r>
                    </a:p>
                  </a:txBody>
                  <a:tcPr marL="91440" marR="91440" marT="45720" marB="45720" anchor="ctr">
                    <a:solidFill>
                      <a:srgbClr val="EDF1F6"/>
                    </a:solidFill>
                  </a:tcPr>
                </a:tc>
              </a:tr>
              <a:tr h="571500">
                <a:tc>
                  <a:txBody>
                    <a:bodyPr lIns="95250" tIns="95250" rIns="95250" bIns="95250"/>
                    <a:lstStyle/>
                    <a:p>
                      <a:r>
                        <a:rPr sz="1650" b="0">
                          <a:solidFill>
                            <a:srgbClr val="15283F"/>
                          </a:solidFill>
                          <a:latin typeface="Arial"/>
                          <a:ea typeface="Arial"/>
                          <a:cs typeface="Arial"/>
                        </a:rPr>
                        <a:t>Schema, ER mapping and normalization</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Design slides 6–10</a:t>
                      </a:r>
                    </a:p>
                  </a:txBody>
                  <a:tcPr marL="91440" marR="91440" marT="45720" marB="45720" anchor="ctr">
                    <a:solidFill>
                      <a:srgbClr val="FFFFFF"/>
                    </a:solidFill>
                  </a:tcPr>
                </a:tc>
              </a:tr>
              <a:tr h="571500">
                <a:tc>
                  <a:txBody>
                    <a:bodyPr lIns="95250" tIns="95250" rIns="95250" bIns="95250"/>
                    <a:lstStyle/>
                    <a:p>
                      <a:r>
                        <a:rPr sz="1650" b="0">
                          <a:solidFill>
                            <a:srgbClr val="15283F"/>
                          </a:solidFill>
                          <a:latin typeface="Arial"/>
                          <a:ea typeface="Arial"/>
                          <a:cs typeface="Arial"/>
                        </a:rPr>
                        <a:t>INSERT, UPDATE, DELETE, ALTER/MODIFY, VIEW, TRIGGER</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SQL demonstrations on slides 14–17</a:t>
                      </a:r>
                    </a:p>
                  </a:txBody>
                  <a:tcPr marL="91440" marR="91440" marT="45720" marB="45720" anchor="ctr">
                    <a:solidFill>
                      <a:srgbClr val="EDF1F6"/>
                    </a:solidFill>
                  </a:tcPr>
                </a:tc>
              </a:tr>
              <a:tr h="571500">
                <a:tc>
                  <a:txBody>
                    <a:bodyPr lIns="95250" tIns="95250" rIns="95250" bIns="95250"/>
                    <a:lstStyle/>
                    <a:p>
                      <a:r>
                        <a:rPr sz="1650" b="0">
                          <a:solidFill>
                            <a:srgbClr val="15283F"/>
                          </a:solidFill>
                          <a:latin typeface="Arial"/>
                          <a:ea typeface="Arial"/>
                          <a:cs typeface="Arial"/>
                        </a:rPr>
                        <a:t>Changes visible in both directions</a:t>
                      </a:r>
                    </a:p>
                  </a:txBody>
                  <a:tcPr marL="91440" marR="91440" marT="45720" marB="45720" anchor="ctr">
                    <a:solidFill>
                      <a:srgbClr val="FFFFFF"/>
                    </a:solidFill>
                  </a:tcPr>
                </a:tc>
                <a:tc>
                  <a:txBody>
                    <a:bodyPr lIns="95250" tIns="95250" rIns="95250" bIns="95250"/>
                    <a:lstStyle/>
                    <a:p>
                      <a:r>
                        <a:rPr sz="1650" b="0">
                          <a:solidFill>
                            <a:srgbClr val="15283F"/>
                          </a:solidFill>
                          <a:latin typeface="Arial"/>
                          <a:ea typeface="Arial"/>
                          <a:cs typeface="Arial"/>
                        </a:rPr>
                        <a:t>Website + MySQL demonstration on slide 22</a:t>
                      </a:r>
                    </a:p>
                  </a:txBody>
                  <a:tcPr marL="91440" marR="91440" marT="45720" marB="45720" anchor="ctr">
                    <a:solidFill>
                      <a:srgbClr val="FFFFFF"/>
                    </a:solidFill>
                  </a:tcPr>
                </a:tc>
              </a:tr>
              <a:tr h="571500">
                <a:tc>
                  <a:txBody>
                    <a:bodyPr lIns="95250" tIns="95250" rIns="95250" bIns="95250"/>
                    <a:lstStyle/>
                    <a:p>
                      <a:r>
                        <a:rPr sz="1650" b="0">
                          <a:solidFill>
                            <a:srgbClr val="15283F"/>
                          </a:solidFill>
                          <a:latin typeface="Arial"/>
                          <a:ea typeface="Arial"/>
                          <a:cs typeface="Arial"/>
                        </a:rPr>
                        <a:t>Desktop or laptop application</a:t>
                      </a:r>
                    </a:p>
                  </a:txBody>
                  <a:tcPr marL="91440" marR="91440" marT="45720" marB="45720" anchor="ctr">
                    <a:solidFill>
                      <a:srgbClr val="EDF1F6"/>
                    </a:solidFill>
                  </a:tcPr>
                </a:tc>
                <a:tc>
                  <a:txBody>
                    <a:bodyPr lIns="95250" tIns="95250" rIns="95250" bIns="95250"/>
                    <a:lstStyle/>
                    <a:p>
                      <a:r>
                        <a:rPr sz="1650" b="0">
                          <a:solidFill>
                            <a:srgbClr val="15283F"/>
                          </a:solidFill>
                          <a:latin typeface="Arial"/>
                          <a:ea typeface="Arial"/>
                          <a:cs typeface="Arial"/>
                        </a:rPr>
                        <a:t>Run the web application in a computer browser</a:t>
                      </a:r>
                    </a:p>
                  </a:txBody>
                  <a:tcPr marL="91440" marR="91440" marT="45720" marB="45720" anchor="ctr">
                    <a:solidFill>
                      <a:srgbClr val="EDF1F6"/>
                    </a:solidFill>
                  </a:tcPr>
                </a:tc>
              </a:tr>
            </a:tbl>
          </a:graphicData>
        </a:graphic>
      </p:graphicFrame>
      <p:sp>
        <p:nvSpPr>
          <p:cNvPr id="6" name="">
            <a:extLst xmlns:a="http://schemas.openxmlformats.org/drawingml/2006/main">
              <a:ext uri="{FF2B5EF4-FFF2-40B4-BE49-F238E27FC236}">
                <a16:creationId xmlns:a16="http://schemas.microsoft.com/office/drawing/2014/main" id="{EC70C533-8069-4884-A94F-D5F1738D596C}"/>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15BDF"/>
                </a:solidFill>
                <a:latin typeface="Arial"/>
                <a:ea typeface="Arial"/>
                <a:cs typeface="Arial"/>
              </a:defRPr>
            </a:defPPr>
          </a:lstStyle>
          <a:p xmlns:a="http://schemas.openxmlformats.org/drawingml/2006/main">
            <a:pPr>
              <a:defRPr sz="1875" b="1">
                <a:solidFill>
                  <a:srgbClr val="315BDF"/>
                </a:solidFill>
                <a:latin typeface="Arial"/>
                <a:ea typeface="Arial"/>
                <a:cs typeface="Arial"/>
              </a:defRPr>
            </a:pPr>
            <a:r>
              <a:rPr sz="1875" b="1">
                <a:solidFill>
                  <a:srgbClr val="315BDF"/>
                </a:solidFill>
                <a:latin typeface="Arial"/>
                <a:ea typeface="Arial"/>
                <a:cs typeface="Arial"/>
              </a:rPr>
              <a:t>Before presenting: flask --app app verify-dbms</a:t>
            </a:r>
          </a:p>
        </p:txBody>
      </p:sp>
    </p:spTree>
    <p:extLst>
      <p:ext uri="{BB962C8B-B14F-4D97-AF65-F5344CB8AC3E}">
        <p14:creationId xmlns:p14="http://schemas.microsoft.com/office/powerpoint/2010/main" val="1388220933"/>
      </p:ext>
    </p:extLst>
  </p:cSld>
</p:sld>
</file>

<file path=ppt/slides/slide2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95E42C-1BC1-4E86-AD4E-A54FD8E92044}"/>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315BDF"/>
                </a:solidFill>
                <a:latin typeface="Arial"/>
                <a:ea typeface="Arial"/>
                <a:cs typeface="Arial"/>
              </a:defRPr>
            </a:defPPr>
          </a:lstStyle>
          <a:p xmlns:a="http://schemas.openxmlformats.org/drawingml/2006/main">
            <a:pPr>
              <a:defRPr sz="1200" b="1">
                <a:solidFill>
                  <a:srgbClr val="315BDF"/>
                </a:solidFill>
                <a:latin typeface="Arial"/>
                <a:ea typeface="Arial"/>
                <a:cs typeface="Arial"/>
              </a:defRPr>
            </a:pPr>
            <a:r>
              <a:rPr sz="1200" b="1">
                <a:solidFill>
                  <a:srgbClr val="315BDF"/>
                </a:solidFill>
                <a:latin typeface="Arial"/>
                <a:ea typeface="Arial"/>
                <a:cs typeface="Arial"/>
              </a:rPr>
              <a:t>08 / CONCLUSION</a:t>
            </a:r>
          </a:p>
        </p:txBody>
      </p:sp>
      <p:sp>
        <p:nvSpPr>
          <p:cNvPr id="2" name="">
            <a:extLst xmlns:a="http://schemas.openxmlformats.org/drawingml/2006/main">
              <a:ext uri="{FF2B5EF4-FFF2-40B4-BE49-F238E27FC236}">
                <a16:creationId xmlns:a16="http://schemas.microsoft.com/office/drawing/2014/main" id="{5F010440-FFF2-479B-8AB8-7E7C4614935D}"/>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283F"/>
                </a:solidFill>
                <a:latin typeface="Arial"/>
                <a:ea typeface="Arial"/>
                <a:cs typeface="Arial"/>
              </a:defRPr>
            </a:defPPr>
          </a:lstStyle>
          <a:p xmlns:a="http://schemas.openxmlformats.org/drawingml/2006/main">
            <a:pPr>
              <a:defRPr sz="3150" b="1">
                <a:solidFill>
                  <a:srgbClr val="15283F"/>
                </a:solidFill>
                <a:latin typeface="Arial"/>
                <a:ea typeface="Arial"/>
                <a:cs typeface="Arial"/>
              </a:defRPr>
            </a:pPr>
            <a:r>
              <a:rPr sz="3150" b="1">
                <a:solidFill>
                  <a:srgbClr val="15283F"/>
                </a:solidFill>
                <a:latin typeface="Arial"/>
                <a:ea typeface="Arial"/>
                <a:cs typeface="Arial"/>
              </a:rPr>
              <a:t>Conclusion and future scope</a:t>
            </a:r>
          </a:p>
        </p:txBody>
      </p:sp>
      <p:sp>
        <p:nvSpPr>
          <p:cNvPr id="3" name="">
            <a:extLst xmlns:a="http://schemas.openxmlformats.org/drawingml/2006/main">
              <a:ext uri="{FF2B5EF4-FFF2-40B4-BE49-F238E27FC236}">
                <a16:creationId xmlns:a16="http://schemas.microsoft.com/office/drawing/2014/main" id="{09E10C1D-FE04-4BB3-B576-59D670EF1A02}"/>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576980"/>
                </a:solidFill>
                <a:latin typeface="Arial"/>
                <a:ea typeface="Arial"/>
                <a:cs typeface="Arial"/>
              </a:defRPr>
            </a:defPPr>
          </a:lstStyle>
          <a:p xmlns:a="http://schemas.openxmlformats.org/drawingml/2006/main">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F7DD3A5B-F70F-4DEF-97C9-B0124B86F2CD}"/>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76980"/>
                </a:solidFill>
                <a:latin typeface="Arial"/>
                <a:ea typeface="Arial"/>
                <a:cs typeface="Arial"/>
              </a:defRPr>
            </a:defPPr>
          </a:lstStyle>
          <a:p xmlns:a="http://schemas.openxmlformats.org/drawingml/2006/main">
            <a:pPr>
              <a:defRPr sz="1200" b="0">
                <a:solidFill>
                  <a:srgbClr val="576980"/>
                </a:solidFill>
                <a:latin typeface="Arial"/>
                <a:ea typeface="Arial"/>
                <a:cs typeface="Arial"/>
              </a:defRPr>
            </a:pPr>
            <a:r>
              <a:rPr sz="1200" b="0">
                <a:solidFill>
                  <a:srgbClr val="576980"/>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47B865E9-387E-4128-89A9-304EBBBBA4CD}"/>
              </a:ext>
            </a:extLst>
          </p:cNvPr>
          <p:cNvSpPr>
            <a:spLocks xmlns:a="http://schemas.openxmlformats.org/drawingml/2006/main" noGrp="1"/>
          </p:cNvSpPr>
          <p:nvPr/>
        </p:nvSpPr>
        <p:spPr>
          <a:xfrm xmlns:a="http://schemas.openxmlformats.org/drawingml/2006/main">
            <a:off x="609600" y="1752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Project outcome</a:t>
            </a:r>
          </a:p>
        </p:txBody>
      </p:sp>
      <p:sp>
        <p:nvSpPr>
          <p:cNvPr id="6" name="">
            <a:extLst xmlns:a="http://schemas.openxmlformats.org/drawingml/2006/main">
              <a:ext uri="{FF2B5EF4-FFF2-40B4-BE49-F238E27FC236}">
                <a16:creationId xmlns:a16="http://schemas.microsoft.com/office/drawing/2014/main" id="{78D57DC4-B582-4220-8B9C-96FBA6E31709}"/>
              </a:ext>
            </a:extLst>
          </p:cNvPr>
          <p:cNvSpPr>
            <a:spLocks xmlns:a="http://schemas.openxmlformats.org/drawingml/2006/main" noGrp="1"/>
          </p:cNvSpPr>
          <p:nvPr/>
        </p:nvSpPr>
        <p:spPr>
          <a:xfrm xmlns:a="http://schemas.openxmlformats.org/drawingml/2006/main">
            <a:off x="609600" y="22098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DevMatch AI connects developer portfolios, vacancies and application records through a relational MySQL design.</a:t>
            </a:r>
          </a:p>
        </p:txBody>
      </p:sp>
      <p:sp>
        <p:nvSpPr>
          <p:cNvPr id="7" name="">
            <a:extLst xmlns:a="http://schemas.openxmlformats.org/drawingml/2006/main">
              <a:ext uri="{FF2B5EF4-FFF2-40B4-BE49-F238E27FC236}">
                <a16:creationId xmlns:a16="http://schemas.microsoft.com/office/drawing/2014/main" id="{F870C458-D6D0-42BF-A9A9-51C22B11DAEA}"/>
              </a:ext>
            </a:extLst>
          </p:cNvPr>
          <p:cNvSpPr>
            <a:spLocks xmlns:a="http://schemas.openxmlformats.org/drawingml/2006/main" noGrp="1"/>
          </p:cNvSpPr>
          <p:nvPr/>
        </p:nvSpPr>
        <p:spPr>
          <a:xfrm xmlns:a="http://schemas.openxmlformats.org/drawingml/2006/main">
            <a:off x="609600" y="32670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DBMS learning</a:t>
            </a:r>
          </a:p>
        </p:txBody>
      </p:sp>
      <p:sp>
        <p:nvSpPr>
          <p:cNvPr id="8" name="">
            <a:extLst xmlns:a="http://schemas.openxmlformats.org/drawingml/2006/main">
              <a:ext uri="{FF2B5EF4-FFF2-40B4-BE49-F238E27FC236}">
                <a16:creationId xmlns:a16="http://schemas.microsoft.com/office/drawing/2014/main" id="{DB9ECC1A-518D-4BBF-85DC-5D42B4225F42}"/>
              </a:ext>
            </a:extLst>
          </p:cNvPr>
          <p:cNvSpPr>
            <a:spLocks xmlns:a="http://schemas.openxmlformats.org/drawingml/2006/main" noGrp="1"/>
          </p:cNvSpPr>
          <p:nvPr/>
        </p:nvSpPr>
        <p:spPr>
          <a:xfrm xmlns:a="http://schemas.openxmlformats.org/drawingml/2006/main">
            <a:off x="609600" y="372427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Keys, normalization and related queries support consistent data. Views and a status trigger extend the SQL demonstration.</a:t>
            </a:r>
          </a:p>
        </p:txBody>
      </p:sp>
      <p:sp>
        <p:nvSpPr>
          <p:cNvPr id="9" name="">
            <a:extLst xmlns:a="http://schemas.openxmlformats.org/drawingml/2006/main">
              <a:ext uri="{FF2B5EF4-FFF2-40B4-BE49-F238E27FC236}">
                <a16:creationId xmlns:a16="http://schemas.microsoft.com/office/drawing/2014/main" id="{130166DA-37E8-4066-AA64-47143CE9EEDF}"/>
              </a:ext>
            </a:extLst>
          </p:cNvPr>
          <p:cNvSpPr>
            <a:spLocks xmlns:a="http://schemas.openxmlformats.org/drawingml/2006/main" noGrp="1"/>
          </p:cNvSpPr>
          <p:nvPr/>
        </p:nvSpPr>
        <p:spPr>
          <a:xfrm xmlns:a="http://schemas.openxmlformats.org/drawingml/2006/main">
            <a:off x="609600"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BDF"/>
                </a:solidFill>
                <a:latin typeface="Arial"/>
                <a:ea typeface="Arial"/>
                <a:cs typeface="Arial"/>
              </a:defRPr>
            </a:defPPr>
          </a:lstStyle>
          <a:p xmlns:a="http://schemas.openxmlformats.org/drawingml/2006/main">
            <a:pPr>
              <a:defRPr sz="2100" b="1">
                <a:solidFill>
                  <a:srgbClr val="315BDF"/>
                </a:solidFill>
                <a:latin typeface="Arial"/>
                <a:ea typeface="Arial"/>
                <a:cs typeface="Arial"/>
              </a:defRPr>
            </a:pPr>
            <a:r>
              <a:rPr sz="2100" b="1">
                <a:solidFill>
                  <a:srgbClr val="315BDF"/>
                </a:solidFill>
                <a:latin typeface="Arial"/>
                <a:ea typeface="Arial"/>
                <a:cs typeface="Arial"/>
              </a:rPr>
              <a:t>Future improvements</a:t>
            </a:r>
          </a:p>
        </p:txBody>
      </p:sp>
      <p:sp>
        <p:nvSpPr>
          <p:cNvPr id="10" name="">
            <a:extLst xmlns:a="http://schemas.openxmlformats.org/drawingml/2006/main">
              <a:ext uri="{FF2B5EF4-FFF2-40B4-BE49-F238E27FC236}">
                <a16:creationId xmlns:a16="http://schemas.microsoft.com/office/drawing/2014/main" id="{8E9BDB5A-6AE8-4EA2-928D-5CA39BF073CF}"/>
              </a:ext>
            </a:extLst>
          </p:cNvPr>
          <p:cNvSpPr>
            <a:spLocks xmlns:a="http://schemas.openxmlformats.org/drawingml/2006/main" noGrp="1"/>
          </p:cNvSpPr>
          <p:nvPr/>
        </p:nvSpPr>
        <p:spPr>
          <a:xfrm xmlns:a="http://schemas.openxmlformats.org/drawingml/2006/main">
            <a:off x="609600" y="52387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5283F"/>
                </a:solidFill>
                <a:latin typeface="Arial"/>
                <a:ea typeface="Arial"/>
                <a:cs typeface="Arial"/>
              </a:defRPr>
            </a:defPPr>
          </a:lstStyle>
          <a:p xmlns:a="http://schemas.openxmlformats.org/drawingml/2006/main">
            <a:pPr>
              <a:defRPr sz="1950" b="0">
                <a:solidFill>
                  <a:srgbClr val="15283F"/>
                </a:solidFill>
                <a:latin typeface="Arial"/>
                <a:ea typeface="Arial"/>
                <a:cs typeface="Arial"/>
              </a:defRPr>
            </a:pPr>
            <a:r>
              <a:rPr sz="1950" b="0">
                <a:solidFill>
                  <a:srgbClr val="15283F"/>
                </a:solidFill>
                <a:latin typeface="Arial"/>
                <a:ea typeface="Arial"/>
                <a:cs typeface="Arial"/>
              </a:rPr>
              <a:t>Add richer skill evidence, interview scheduling and resume scanning. Extend audit coverage and reporting.</a:t>
            </a:r>
          </a:p>
        </p:txBody>
      </p:sp>
    </p:spTree>
    <p:extLst>
      <p:ext uri="{BB962C8B-B14F-4D97-AF65-F5344CB8AC3E}">
        <p14:creationId xmlns:p14="http://schemas.microsoft.com/office/powerpoint/2010/main" val="495845282"/>
      </p:ext>
    </p:extLst>
  </p:cSld>
</p:sld>
</file>

<file path=ppt/slides/slide25.xml><?xml version="1.0" encoding="utf-8"?>
<p:sld xmlns:p="http://schemas.openxmlformats.org/presentationml/2006/main">
  <p:cSld>
    <p:bg>
      <p:bgPr>
        <a:solidFill xmlns:a="http://schemas.openxmlformats.org/drawingml/2006/main">
          <a:srgbClr val="1021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D21DD5-38B8-437C-97DD-9FE165E062E8}"/>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C8F36A"/>
                </a:solidFill>
                <a:latin typeface="Arial"/>
                <a:ea typeface="Arial"/>
                <a:cs typeface="Arial"/>
              </a:defRPr>
            </a:defPPr>
          </a:lstStyle>
          <a:p xmlns:a="http://schemas.openxmlformats.org/drawingml/2006/main">
            <a:pPr>
              <a:defRPr sz="1200" b="1">
                <a:solidFill>
                  <a:srgbClr val="C8F36A"/>
                </a:solidFill>
                <a:latin typeface="Arial"/>
                <a:ea typeface="Arial"/>
                <a:cs typeface="Arial"/>
              </a:defRPr>
            </a:pPr>
            <a:r>
              <a:rPr sz="1200" b="1">
                <a:solidFill>
                  <a:srgbClr val="C8F36A"/>
                </a:solidFill>
                <a:latin typeface="Arial"/>
                <a:ea typeface="Arial"/>
                <a:cs typeface="Arial"/>
              </a:rPr>
              <a:t>QUESTIONS &amp; LIVE DEMONSTRATION</a:t>
            </a:r>
          </a:p>
        </p:txBody>
      </p:sp>
      <p:sp>
        <p:nvSpPr>
          <p:cNvPr id="2" name="">
            <a:extLst xmlns:a="http://schemas.openxmlformats.org/drawingml/2006/main">
              <a:ext uri="{FF2B5EF4-FFF2-40B4-BE49-F238E27FC236}">
                <a16:creationId xmlns:a16="http://schemas.microsoft.com/office/drawing/2014/main" id="{077E993F-135D-478A-8500-9E540988CB81}"/>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7018035E-67E7-4B42-911F-91F51E623AAC}"/>
              </a:ext>
            </a:extLst>
          </p:cNvPr>
          <p:cNvSpPr>
            <a:spLocks xmlns:a="http://schemas.openxmlformats.org/drawingml/2006/main" noGrp="1"/>
          </p:cNvSpPr>
          <p:nvPr/>
        </p:nvSpPr>
        <p:spPr>
          <a:xfrm xmlns:a="http://schemas.openxmlformats.org/drawingml/2006/main">
            <a:off x="609600" y="64865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9BDD6"/>
                </a:solidFill>
                <a:latin typeface="Arial"/>
                <a:ea typeface="Arial"/>
                <a:cs typeface="Arial"/>
              </a:defRPr>
            </a:defPPr>
          </a:lstStyle>
          <a:p xmlns:a="http://schemas.openxmlformats.org/drawingml/2006/main">
            <a:pPr>
              <a:defRPr sz="1050" b="0">
                <a:solidFill>
                  <a:srgbClr val="A9BDD6"/>
                </a:solidFill>
                <a:latin typeface="Arial"/>
                <a:ea typeface="Arial"/>
                <a:cs typeface="Arial"/>
              </a:defRPr>
            </a:pPr>
            <a:r>
              <a:rPr sz="1050" b="0">
                <a:solidFill>
                  <a:srgbClr val="A9BDD6"/>
                </a:solidFill>
                <a:latin typeface="Arial"/>
                <a:ea typeface="Arial"/>
                <a:cs typeface="Arial"/>
              </a:rPr>
              <a:t>DevMatch AI</a:t>
            </a:r>
          </a:p>
        </p:txBody>
      </p:sp>
      <p:sp>
        <p:nvSpPr>
          <p:cNvPr id="4" name="">
            <a:extLst xmlns:a="http://schemas.openxmlformats.org/drawingml/2006/main">
              <a:ext uri="{FF2B5EF4-FFF2-40B4-BE49-F238E27FC236}">
                <a16:creationId xmlns:a16="http://schemas.microsoft.com/office/drawing/2014/main" id="{E9157565-9DA1-4479-A9CF-A7B48A8882EF}"/>
              </a:ext>
            </a:extLst>
          </p:cNvPr>
          <p:cNvSpPr>
            <a:spLocks xmlns:a="http://schemas.openxmlformats.org/drawingml/2006/main" noGrp="1"/>
          </p:cNvSpPr>
          <p:nvPr/>
        </p:nvSpPr>
        <p:spPr>
          <a:xfrm xmlns:a="http://schemas.openxmlformats.org/drawingml/2006/main">
            <a:off x="10953750" y="64579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C8F36A"/>
                </a:solidFill>
                <a:latin typeface="Arial"/>
                <a:ea typeface="Arial"/>
                <a:cs typeface="Arial"/>
              </a:defRPr>
            </a:defPPr>
          </a:lstStyle>
          <a:p xmlns:a="http://schemas.openxmlformats.org/drawingml/2006/main">
            <a:pPr>
              <a:defRPr sz="1200" b="0">
                <a:solidFill>
                  <a:srgbClr val="C8F36A"/>
                </a:solidFill>
                <a:latin typeface="Arial"/>
                <a:ea typeface="Arial"/>
                <a:cs typeface="Arial"/>
              </a:defRPr>
            </a:pPr>
            <a:r>
              <a:rPr sz="1200" b="0">
                <a:solidFill>
                  <a:srgbClr val="C8F36A"/>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79F6CFEA-56E4-4C47-970C-375C868FB2E7}"/>
              </a:ext>
            </a:extLst>
          </p:cNvPr>
          <p:cNvSpPr>
            <a:spLocks xmlns:a="http://schemas.openxmlformats.org/drawingml/2006/main" noGrp="1"/>
          </p:cNvSpPr>
          <p:nvPr/>
        </p:nvSpPr>
        <p:spPr>
          <a:xfrm xmlns:a="http://schemas.openxmlformats.org/drawingml/2006/main">
            <a:off x="609600" y="25622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650" b="1">
                <a:solidFill>
                  <a:srgbClr val="C8F36A"/>
                </a:solidFill>
                <a:latin typeface="Arial"/>
                <a:ea typeface="Arial"/>
                <a:cs typeface="Arial"/>
              </a:defRPr>
            </a:defPPr>
          </a:lstStyle>
          <a:p xmlns:a="http://schemas.openxmlformats.org/drawingml/2006/main">
            <a:pPr>
              <a:defRPr sz="4650" b="1">
                <a:solidFill>
                  <a:srgbClr val="C8F36A"/>
                </a:solidFill>
                <a:latin typeface="Arial"/>
                <a:ea typeface="Arial"/>
                <a:cs typeface="Arial"/>
              </a:defRPr>
            </a:pPr>
            <a:r>
              <a:rPr sz="4650" b="1">
                <a:solidFill>
                  <a:srgbClr val="C8F36A"/>
                </a:solidFill>
                <a:latin typeface="Arial"/>
                <a:ea typeface="Arial"/>
                <a:cs typeface="Arial"/>
              </a:rPr>
              <a:t>DevMatch AI</a:t>
            </a:r>
          </a:p>
        </p:txBody>
      </p:sp>
      <p:sp>
        <p:nvSpPr>
          <p:cNvPr id="6" name="">
            <a:extLst xmlns:a="http://schemas.openxmlformats.org/drawingml/2006/main">
              <a:ext uri="{FF2B5EF4-FFF2-40B4-BE49-F238E27FC236}">
                <a16:creationId xmlns:a16="http://schemas.microsoft.com/office/drawing/2014/main" id="{00522E3C-C080-444E-81AC-136CCFFE0345}"/>
              </a:ext>
            </a:extLst>
          </p:cNvPr>
          <p:cNvSpPr>
            <a:spLocks xmlns:a="http://schemas.openxmlformats.org/drawingml/2006/main" noGrp="1"/>
          </p:cNvSpPr>
          <p:nvPr/>
        </p:nvSpPr>
        <p:spPr>
          <a:xfrm xmlns:a="http://schemas.openxmlformats.org/drawingml/2006/main">
            <a:off x="609600" y="36385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Developer Portfolio &amp; Hiring Platform</a:t>
            </a:r>
          </a:p>
        </p:txBody>
      </p:sp>
      <p:sp>
        <p:nvSpPr>
          <p:cNvPr id="7" name="">
            <a:extLst xmlns:a="http://schemas.openxmlformats.org/drawingml/2006/main">
              <a:ext uri="{FF2B5EF4-FFF2-40B4-BE49-F238E27FC236}">
                <a16:creationId xmlns:a16="http://schemas.microsoft.com/office/drawing/2014/main" id="{E45C635E-EF98-4DD9-BDF0-5126128353EF}"/>
              </a:ext>
            </a:extLst>
          </p:cNvPr>
          <p:cNvSpPr>
            <a:spLocks xmlns:a="http://schemas.openxmlformats.org/drawingml/2006/main" noGrp="1"/>
          </p:cNvSpPr>
          <p:nvPr/>
        </p:nvSpPr>
        <p:spPr>
          <a:xfrm xmlns:a="http://schemas.openxmlformats.org/drawingml/2006/main">
            <a:off x="609600" y="46767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A9BDD6"/>
                </a:solidFill>
                <a:latin typeface="Arial"/>
                <a:ea typeface="Arial"/>
                <a:cs typeface="Arial"/>
              </a:defRPr>
            </a:defPPr>
          </a:lstStyle>
          <a:p xmlns:a="http://schemas.openxmlformats.org/drawingml/2006/main">
            <a:pPr>
              <a:defRPr sz="2025" b="0">
                <a:solidFill>
                  <a:srgbClr val="A9BDD6"/>
                </a:solidFill>
                <a:latin typeface="Arial"/>
                <a:ea typeface="Arial"/>
                <a:cs typeface="Arial"/>
              </a:defRPr>
            </a:pPr>
            <a:r>
              <a:rPr sz="2025" b="0">
                <a:solidFill>
                  <a:srgbClr val="A9BDD6"/>
                </a:solidFill>
                <a:latin typeface="Arial"/>
                <a:ea typeface="Arial"/>
                <a:cs typeface="Arial"/>
              </a:rPr>
              <a:t>Ready to demonstrate the website and MySQL database</a:t>
            </a:r>
          </a:p>
        </p:txBody>
      </p:sp>
    </p:spTree>
    <p:extLst>
      <p:ext uri="{BB962C8B-B14F-4D97-AF65-F5344CB8AC3E}">
        <p14:creationId xmlns:p14="http://schemas.microsoft.com/office/powerpoint/2010/main" val="7634049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2026-10-11T13:05:27.8320000Z</dcterms:created>
  <dcterms:modified xsi:type="dcterms:W3CDTF">2026-10-11T13:05:27.8320000Z</dcterms:modified>
</coreProperties>
</file>